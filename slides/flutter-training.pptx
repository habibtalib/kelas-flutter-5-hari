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Alu-alukan peserta. Tajuk penuh kursus: Latihan Secara Coaching Aplikasi Mobil Bagi Sistem Pendidikan Tinggi Luar Negara Menggunakan Flutter Berteraskan Amalan Pengekodan Moden Dengan Bantuan AI. Sepanjang 5 hari kita bina satu aplikasi mobil sebenar — eTT Mobile, companion latihan sistem e-Timur Tengah.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Perkenalkan diri dan latar belakang. Jemput peserta perkenalkan diri secara ringkas jika masa mengizinkan.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hasil konkrit — pada Hari 5 setiap peserta membina aplikasi berfungsi yang menggabungkan UI, borang, navigasi dan API, lalu didemo untuk mendapat sijil.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aturcara rasmi daripada Lampiran A surat KPT. Setiap hari membina di atas hari sebelumnya — kumulatif, jadi kehadiran penuh sangat penting.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Rentak sama setiap hari. Ingatkan peserta pastikan flutter doctor bersih sebelum Hari 1 supaya masa kelas tidak habis untuk isu pemasangan.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setState() ialah pengurusan state yang kita bina sepanjang minggu. Pakej provider muncul dalam kod aplikasi rujukan untuk kongsi data antara skrin — kita kenalkan bila peserta jumpa ia dalam kod.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Nilai utama untuk agensi kerajaan: satu pasukan, satu kod, dua platform. Hot Reload menjadikan sesi coaching ini praktikal — setiap perubahan terus kelihatan.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Tiada jawapan "salah" — tetapi untuk pasukan kecil yang mahu hasil pantas dua platform, Flutter sangat kompetitif. Nota penuh: nota/03-flutter-vs-lain.md.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Null safety ialah ciri paling penting Dart moden — jenis tanpa tanda soal dijamin tidak null oleh compiler. Peserta akan jumpa corak ?? dan ? sepanjang kursus, contohnya submittedAt yang boleh null dalam model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Dart sentiasa nyatakan jenis parameter dan pulangan. Esok kita guna function seperti ini untuk jumlahkan kuota 8 program eTT.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versi ringkas model sebenar projek (lib/models/programme.dart). Factory fromJson ialah jambatan JSON API → objek Dart — kemahiran teras Hari 4 (SESI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Jangan mendalam di sini — sekadar pendedahan bentuk sintaks supaya tidak asing bila tiba Hari 4. Analogi: pesan makanan, dapat nombor giliran (Future), sambung buat kerja lain sehingga makanan sampai (await).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 bina companion mobil untuk sistem sebenar ini — domain yang peserta BPM kenal. Portal sebenar: dohe.mohe.gov.my/timurtengah (Mesir) dan /morocco (Maghribi). Semakan kelayakan dibuat sekitar 7 hari bekerja selepas permohonan ditutup.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Al-Azhar (ditubuhkan ~970M) ialah destinasi utama dan satu-satunya destinasi pengajian Islam melalui eTT Mesir. Data awam Maghribi nipis — hanya Al Quaraouiyine disahkan; Mohammed V universiti sebenar tetapi pemadanan bidangnya dalam data kursus adalah ilustrasi.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peta perjalanan pengguna aplikasi. Setiap hari kursus menambah satu lapisan: Hari 1 asas, Hari 2 layout dan senarai, Hari 3 navigasi dan borang, Hari 4 API, Hari 5 gabung semua dalam projek mini.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utama kursus — satu tawaran pengajian universiti + bidang. Fail sebenar: lib/models/programme.dart, lengkap dengan fromJson/toJson, getter flagEmoji/countryLabel, dan label BM pada enum.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Kitaran status guna istilah sebenar eTT: LAYAK / TIDAK LAYAK. Dalam sistem sebenar ada peringkat muat naik dokumen sokongan + bayaran pemprosesan antara LAYAK dan surat tawaran — status diterima/ditolak di hujung ialah penyederhanaan model untuk latihan.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Peralihan terus ke bab Hari 1. Pastikan semua peserta ada projek Flutter yang boleh dijalankan — sesiapa yang bermasalah, bantu semasa rehat pertama.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Skop hari ini sempit tapi penting: asas Dart dan segelintir widget paling asas sahaja. Semua yang lain datang mengikut sesi rasmi.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Perkenalkan domain projek supaya semua contoh Dart hari ini terasa relevan — data yang sama akan mengalir dari latihan DartPad pagi ini hingga ke API Hari 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Persediaan sepatutnya siap sebelum kelas. Sesiapa yang bermasalah, bantu semasa rehat — jangan tahan seluruh kelas. DartPad ialah pelan B yang bagus.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Jalankan dalam DartPad secara langsung. Data daripada 8 program eTT kursus — kuota dan kos anggaran latihan, tetapi struktur domain sebenar. Farmasi Alexandria 5 tahun = anggaran RM180,000 keseluruhan.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Jangan hafal — tunjuk yang setiap kategori sudah muncul dalam contoh tadi. Sebut sekali lalu: soalan sintaks kecil macam ni memang sesuai ditanya terus pada AI dalam kerja harian. Rujukan rasmi: dart.dev/language/operators.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sebenar: kelayakan sijil SPM lwn STAM ialah keputusan pertama setiap pemohon eTT. Minta peserta tukar nilai sijilPemohon kepada stam dan lihat output berubah.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Selitkan fakta domain awal supaya bila borang dibina Hari 3, peraturan 1 negara + 1 bidang + 3 pilihan universiti sudah biasa didengari.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sebenar: memetakan universiti eTT ke label negara BM. Tunjuk fall-through — empat universiti Mesir berkongsi satu return. Cuba 'Universiti Kaherah' untuk lihat default.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tabiat semakan ringan, bukan upacara: tulis sendiri dulu, kemudian guna AI sebagai pasangan semak. Tunjuk secara langsung jika masa mengizinkan — tampal function tadi dan baca jawapan AI bersama kelas.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struktur List of Map — versi ringkas Dart tulen. Kita bina class Programme sebenar mulai Hari 2. Nama universiti benar; kuota anggaran kecuali Maghribi 15.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ada nama, parameter bertaip dan nilai pulangan. Loop for-in melelar setiap program tanpa urus indeks. Jumlah 340 tempat — angka latihan yang boleh peserta sahkan sendiri di DartPad. AI bagus untuk jana soalan latihan tambahan ikut tahap masing-masing.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Guna while bila bilangan lelaran tidak diketahui awal. Demokan infinite loop dalam DartPad sekali — pengalaman "tersangkut" lebih diingati daripada amaran lisan.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pratonton model sebenar yang kita guna penuh Hari 2. Bandingkan: switch statement untuk logik bercabang berbilang baris, switch expression untuk pulangkan satu nilai. Method accepts() menjawab: adakah sijil pemohon layak untuk program ini?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Latihan penutup pagi: format 23000.0 jadi RM23,000. Snippet penuh boleh dijalankan: hari-1/snippets/dart_asas.dart. Kos diselaras kasar dengan jadual USD rasmi 2021/22 — anggaran latihan.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Gantikan kandungan lib/main.dart dengan kod ini. Simpan = Hot Reload automatik. Scaffold/AppBar dibedah penuh esok — hari ini kita hanya perlukan rangka minimum untuk bereksperimen.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Tampal dalam body Scaffold dan Hot Reload. Cuba tukar fontSize dan lihat perubahan serta-merta — inilah keseronokan Hot Reload.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Minta peserta cari 2-3 ikon lain di katalog dan cuba. Navy/gold ialah palet pilihan reka bentuk bahan kursus ini — kita formalkan dalam KptTheme esok.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Projek tiada aset logo terbenam, jadi dua cara ini tak perlukan fail tempatan. Image.network perlukan internet pada emulator.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Sesi petang bermula di sini. Container ialah widget kotak paling serba boleh. BoxDecoration mengawal rupa; borderRadius memberi sudut bulat moden.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Konsep paling mengelirukan pemula. Guna analogi bingkai gambar: padding di dalam bingkai, margin di luar bingkai.</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SizedBox ialah cara paling efisien untuk jarak kosong tetap. Column dibedah penuh esok — hari ini cukup faham ia menyusun anak menegak.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Latihan utama petang: gabungkan Container, Padding, SizedBox dan Text jadi satu kad program — data ETT-001 (Al-Azhar, Perubatan). Esok kad ini jadi widget ProgrammeCard yang boleh guna semula untuk 8 program.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Beza paling asas dalam Flutter — peserta akan tulis kedua-duanya setiap hari sepanjang kursus. Analogi gambar bercetak vs papan LED biasanya melekat.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 butang berulang kali — angka naik tanpa run semula. Tegaskan: tanpa setState(), nilai berubah di belakang tabir tetapi UI TIDAK dikemas kini.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Pastikan flutter run setiap peserta masih berfungsi tanpa ralat sebelum bersurai. Galakkan commit git dari Hari 1 — tabiat baik.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sesi rasmi hari ini. Pagi fokus susun atur; petang fokus senarai data dan penggayaan konsisten. Semua contoh guna data 8 program eTT dari semalam.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Kekalkan momentum: hari ini kad statik semalam berkembang jadi senarai skrol 8 program dengan tema navy/gold konsisten.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skrin Flutter dibina dengan menyusun widget kecil jadi widget besar. Row dan Column ialah dua alat susun atur paling asas — hampir setiap skrin guna kedua-duanya.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Konsep dua paksi ialah kunci memahami Row/Column. Lukis di papan putih: Row paksi utama mendatar, Column paksi utama menegak — paksi silang sentiasa yang satu lagi.</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Corak biasa: Row untuk bahagian besar mendatar, Column bersarang di dalam untuk susun menegak universiti, bidang dan lokasi. crossAxisAlignment.start menjajarkan semua ke atas.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Demokan ralat ini secara sengaja — nama universiti Maghribi yang panjang sesuai untuk mencetuskannya. Peserta akan jumpa jalur kuning-hitam ini banyak kali; penting mereka kenal dan tahu puncanya.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Corak sama dalam ProgrammeCard sebenar: tanpa Expanded, Column maklumat program menolak lajur kos RM keluar dari skrin. Dengan Expanded, ia mengisi ruang yang tinggal sahaja.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 secara langsung jika sempat: taip prompt ini, baca kod yang dijana bersama kelas, dan bandingkan dengan widgets/programme_card.dart sebenar. Prompt spesifik — nama widget, medan model, rujukan tema — memberi hasil jauh lebih baik daripada "buatkan saya kad cantik".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Jangan berlarutan dengan teori — peraturan mudah di bawah slaid ini mencukupi untuk pemula.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Row/Column tidak membenarkan tindanan. Stack untuk kes widget di atas widget — cth. pill kategori kemasukan SPM/STAM di sudut banner.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Banner satu Programme: latar navy dengan bendera besar di tengah, universiti dan bidang dilabuhkan bawah kiri, pill SPM/STAM ditindan kanan atas. CategoryPill diguna semula daripada widgets/programme_card.dart — bukan tulis baharu.</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Perhatikan susunan prompt: konteks, model data, tugas khusus, kekangan — empat bahagian ini menjadikan output jauh lebih tepat. Lebih banyak contoh: nota/08-prompt-claude-code.md. Beri peserta masa menulis prompt sendiri dan menjana.</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biasanya pulangkan sesuatu yang berfungsi tetapi jarang sempurna — ia jarang fikirkan skrin sempit, jadi pengetahuan overflow pagi tadi terus terpakai. Minta peserta cari isu dalam kod janaan mereka sendiri sebelum tunjuk senarai ini.</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Perbezaan praktikal: "12px dari kanan atas" guna Positioned dalam Stack; "tengah-kanan" guna Align dalam mana-mana induk yang lebih besar daripada anaknya.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Hampir setiap skrin Material bermula dengan Scaffold. Semalam kita sudah guna secara minimum — hari ini kita faham anatominya penuh.</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pertama kuasa ThemeData: kita tidak pernah menetapkan warna AppBar di mana-mana skrin, tetapi semuanya navy. Ini pratonton — struktur penuh KptTheme di SESI 3.</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Petang ini kad statik semalam berkembang menjadi aplikasi bernavigasi dengan senarai skrol sebenar. Semua data daripada sample_programmes.dart.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HomeScreen mesti StatefulWidget kerana indeks tab berubah. onTap panggil setState supaya body ditukar kepada skrin tab baharu. setState diterangkan penuh Hari 3 — buat masa ini anggap ia "beritahu Flutter: lukis semula".</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tab mencerminkan perjalanan pengguna eTT: teliti program, jejak permohonan sendiri, urus profil. Ini navigasi peringkat aplikasi — Navigator antara skrin datang esok.</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Daripada screens/home_screen.dart. Scaffold automatik tambah ikon hamburger bila drawer disediakan. Corak collection-for menjana satu ListTile bagi setiap negara. value null bermaksud tiada tapisan. Kod sebenar juga guna provider untuk tapisan — itu mula Hari 3; hari ini cukup print sahaja dalam onSelect.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 10,000 item: ListView biasa bina semua serentak — lambat dan makan memori; builder bina ~10-15 yang kelihatan sahaja. Untuk 8 program bezanya tak ketara, tetapi tabiat .builder untuk senarai data patut bermula sekarang — selepas API Hari 4, senarai boleh berkembang.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Daripada screens/programme_list_screen.dart. Dalam kod sebenar, items datang daripada provider (ditapis carian/negara) dan onTap menavigasi — kedua-duanya Hari 3. Hari ini guna terus sampleProgrammes dan onTap kosong.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GridView.builder juga lazy seperti ListView.builder. crossAxisCount = bilangan lajur; childAspectRatio = nisbah lebar:tinggi petak. Cabaran nanti: tukar ke 3 lajur dan laraskan nisbah. Kuota anggaran latihan kecuali Maghribi 15.</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ListTile sudah kita guna dalam Drawer negara tadi. Bandingkan dengan bina Row+Column manual setiap kali — ListTile jimat banyak kod untuk corak baris standard.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tahap: ListTile untuk baris seragam pantas; widget tersuai penuh seperti ProgrammeCard bila reka bentuk lebih khusus diperlukan. Widget kecil berformula begini ialah kes ideal untuk AI jana — asalkan kita semak sebelum guna pakai.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Bina motivasi untuk slaid seterusnya: TextStyle inline bagus untuk kes tunggal, tetapi konsistensi seluruh aplikasi perlukan penyelesaian global — ThemeData.</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 sebenar lib/theme.dart (dipendekkan). ColorScheme.fromSeed menjana skema penuh dari satu warna benih; kita override primary/secondary supaya navy/gold. KptTheme._() = constructor private — kelas ini bekas pemalar, bukan untuk diinstankan.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Tegaskan konsep satu tempat untuk semua gaya. Draf tema gelap ialah latihan lanjutan yang bagus untuk peserta pantas — struktur light sudah jadi templat, AI cuma isi variannya, dan kita semak seperti biasa.</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Semak setiap peserta boleh skrol senarai 8 program dengan tema navy/gold sebelum bersurai. Cabaran ialah kerja rumah pilihan — galakkan cuba sekurang-kurangnya satu.</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Ikut aturcara rasmi Lampiran A. Pagi: navigasi dan pengenalan borang. Petang: controller, butang, logik validation, dan setState.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Imbas kembali: Hari 2 kita siapkan senarai tawaran pengajian Mesir/Maghribi dengan carian dan cip tapisan negara/kategori — tetapi menekan kad tidak membawa ke mana-mana. Hari ini kita sambungkannya.</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 setumpuk kad: hanya yang teratas kelihatan. Semua navigasi Flutter dibina atas konsep stack ini, diuruskan oleh widget Navigator.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Perkenalkan kedua-dua secara konsep dahulu. Nilai pulangan pop akan digunakan bila borang perlu memberitahu skrin sebelumnya bahawa permohonan berjaya dihantar.</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Corak paling asas dan paling kerap digunakan. AppBar skrin baharu automatik dapat butang kembali tanpa kod tambahan.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sebenar dari projek. Perhatikan objek Programme p dihantar terus ke constructor skrin butiran — itulah passing data cara paling ringkas, kita perhalusi sebentar lagi.</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kunci ialah nama laluan, nilainya fungsi WidgetBuilder. Berguna bila aplikasi membesar — banyak skrin, navigasi dari merata tempat, atau deep-linking kelak.</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Peta routes biasa tak boleh terima parameter. onGenerateRoute dipanggil dengan RouteSettings yang membawa nama laluan dan arguments sekali. Dalam skrin, arguments juga boleh dibaca melalui ModalRoute.of(context).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Jujur dengan peserta: projek kita guna push terus kerana hierarki navigasinya mudah dan linear. Named routes ialah alat yang mereka perlu kenal untuk aplikasi lebih besar.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Cara paling ringkas hantar data ke skrin baharu: required parameter pada constructor. Corak ini digunakan di seluruh eTT Mobile.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memulangkan Future yang selesai apabila skrin di-pop; generik push dengan Application memberitahu Dart jenis nilai yang dijangka pulang. Kesilapan biasa: terus guna hasil tanpa semak null, kemudian crash bila pengguna tekan back.</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Kotak carian ProgrammeListScreen ialah TextField yang sesuai — tiada pengesahan, hanya tapis semasa menaip. Untuk borang yang perlu disahkan sebelum hantar, TextFormField — selepas rehat.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Bahagian paling penting hari ini — ApplicationFormScreen. Peraturan satu negara satu bidang dengan sehingga tiga pilihan universiti ialah peraturan sebenar permohonan eTT, dan borang kita menguatkuasakannya.</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Kaitkan dengan Hari 1: StatelessWidget tak boleh ubah data selepas dibina. Borang sentiasa berubah, jadi mesti StatefulWidget.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Controller untuk teks; pembolehubah State biasa untuk pilihan. Perhatikan borang eTT tak perlukan No. Pasport — cukup No. Kad Pengenalan.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initState mengisi nilai awal daripada widget.programme. Fail sebenar turut mengisi nama dan No. KP daripada ProfileProvider jika pengguna sudah simpan profil.</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Punca memory leak paling biasa dalam Flutter. Tanam kebiasaan: bila taip TextEditingController(), terus tulis pasangan dispose() sekali.</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lapisan pertahanan yang selalu digunakan bersama. inputFormatters perlukan import package:flutter/services.dart. Bila _formKey.currentState.validate() dipanggil, setiap validator dalam Form dijalankan serentak.</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Momen sebenar untuk capai AI: kerja berulang dengan corak yang jelas. Tapi jangan terima buta-buta — slaid seterusnya tunjuk kenapa.</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pepijat sekali gus: menolak format bersengkang yang hint UI kita sendiri sarankan, dan menerima huruf. Uji senarai kes tepi secara manual — jangan sekadar baca kod dan rasa yakin.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Susunan penting: semak kosong, semak set aksara, buang sengkang, baru kira panjang. AI mempercepatkan draf pertama; memahami dan mengesahkan kod tetap tanggungjawab kita — lebih-lebih lagi logik yang menyentuh No. KP sebenar.</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memandu reka bentuk UI: sebab peraturannya satu negara satu bidang, dropdown mesti berperingkat. Status kelayakan disemak kemudian oleh KPT dengan keputusan LAYAK atau TIDAK LAYAK.</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mutasi berlaku dalam satu setState supaya UI rebuild sekali dengan keadaan konsisten. _onFieldChanged serupa — tetapkan bidang, kemudian _resetChoices.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Cara semak output AI untuk logik UI: jalankan tingkah lakunya, bukan sekadar baca kod. Kes gagal klasik ialah nilai dropdown lama kekal walaupun senarainya sudah bertukar.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Pilihan 1 wajib; Pilihan 2 dan 3 opsional dengan includeNone. ettDocumentChecklist ialah enam label dokumen sebenar eTT. Dalam sistem sebenar, muat naik dokumen berlaku selepas status LAYAK — di sini kita melatih corak CheckboxListTile.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validate() menjalankan semua validator serentak — jika ada yang gagal, mesej muncul bawah medan dan kita berhenti. Fail sebenar menyimpan melalui ApplicationProvider dan pop tanpa nilai; versi lab pulangkan objek terus dengan pop(application).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 3: FilledButton untuk aksi utama. Perhatikan onPressed: _submit tanpa kurungan — kita hantar rujukan fungsi, bukan panggil terus.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GestureDetector serba boleh tapi senyap secara visual. Untuk permukaan Material ada pilihan lebih baik — slaid seterusnya.</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Peraturan mudah: jika boleh nampak riak Material, guna InkWell supaya pengguna dapat maklum balas sentuhan jelas. GestureDetector bila perlukan lebih daripada tap biasa.</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langkah sahaja. Rebuild terhad kepada widget berkenaan — sebab itu Flutter kekal pantas walaupun setState dipanggil kerap.</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Simptom klasik: "saya dah tukar nilai tapi UI tak update". Hampir selalu jawapannya — mutasi berlaku di luar setState.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peringkat yang perlu dihafal. createState mencipta objek State; selepas itu initState sekali, build berulang-ulang setiap setState, dan dispose sekali di penghujung.</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perangkap yang setiap peserta akan jumpa cepat atau lambat. Baris pertama paling kerap muncul semasa menguji borang — slaid seterusnya tunjuk cara siasat.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 trace ialah input terbaik untuk AI — spesifik dan lengkap. Tabiat debugging ini akan digunakan sepenuhnya semasa projek mini Hari 5.</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bersurai: flutter analyze mesti bersih, dan borang boleh hantar serta pulangkan objek Application. Esok data hardcoded digantikan dengan data dari rangkaian.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Pagi: konsep REST, pakej http, async/await, dan praktikal fetch. Petang: JSON ke model Dart, POST permohonan, status code, dan pengendalian ralat penuh.</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Motivasi hari ini: dalam sistem eTT sebenar, BPPT perlu boleh kemas kini senarai tawaran Mesir/Maghribi tanpa mengeluarkan versi aplikasi baharu — itulah gunanya API.</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 BPPT tambah tawaran baharu atau tukar kuota, mereka tak boleh paksa semua pengguna muat turun app baharu — data mesti datang dari pelayan pusat.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 — Representational State Transfer. Kursus ini tidak membina backend; kita guna fail JSON mock yang dihos ringkas untuk simulasikan tingkah laku API sebenar.</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kata kerja standard yang sama untuk semua REST API di dunia. Kita laksanakan GET dan POST penuh; PUT dan DELETE cukup dikenali untuk projek mini Hari 5.</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Satu rekod tawaran daripada mock API kita — teks berstruktur yang mudah dibaca manusia dan mesin. Kos dan kuota dalam data ini anggaran latihan.</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Perkara penting yang menjelaskan kenapa fromJson bukan sekadar salin nilai — enum dan tarikh perlu ditukar daripada teks.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Pastikan setiap peserta jalankan flutter pub add http dan sahkan baris muncul dalam pubspec.yaml sebelum bergerak.</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perkara ini akan berulang sepanjang hari: statusCode, body, dan Uri.parse. Perhatikan juga async dan await — kita huraikan sebentar lagi.</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Perangkap klasik: semuanya berjalan semasa pembangunan, kemudian APK release tak boleh akses internet. Bezanya fail manifest main lawan debug/profile.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sebab async wujud. Kalau thread UI sibuk menunggu rangkaian, tiada apa lagi boleh berlaku pada skrin.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Imbas kembali nota Dart asas bahagian 8. Semasa await menunggu, Flutter bebas terus melukis frame dan mengendali sentuhan.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Minta peserta jalankan sendiri di dartpad.dev dan teka susunan print sebelum tekan Run. Ini konsep teras async untuk sepanjang hari.</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jsonDecode memberi struktur generik. Langkah seterusnya: tukar Map dynamic itu kepada objek Dart bertaip penuh melalui factory fromJson.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sebenar dari projek. Tiga butiran penting di slaid seterusnya: enum daripada String, nombor melalui num, dan ketiadaan DateTime.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Corak firstWhere dengan orElse lebih selamat daripada values.byName yang melontar ArgumentError untuk nilai tak dikenali. Tiga butiran ini juga senarai semakan bila menilai model janaan AI petang nanti.</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Gabungan map dan toList ialah resipi standard menukar array JSON kepada senarai objek Dart — akan dijumpai dalam hampir setiap app Flutter berangkaian.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Corak seni bina yang akan dipuji semasa sesi clean code Hari 5: pengasingan tanggungjawab. Constructor ProgrammeService menerima http.Client pilihan supaya ujian unit boleh suntik client palsu.</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 sebenar lib/services/programme_service.dart. Perhatikan timeout 8 saat dan dua laluan ke fallback: status bukan 200, dan sebarang exception.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Dalam app produksi, anda mungkin mahu mesej ralat lebih jelas. Untuk pembelajaran, fallback memastikan tiada seorang pun terhenti kerana isu rangkaian semasa demo.</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Cara sahkan kod rangkaian janaan AI: uji laluan gagal, bukan hanya laluan berjaya. Matikan WiFi ialah ujian paling mudah dan paling mendedahkan.</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Satu rekod contoh cukup untuk AI kenal struktur — tak perlu tampal keseluruhan fail. Hasilnya patut sangat rapat dengan lib/models/programme.dart sebenar.</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janaan yang kelihatan betul tidak semestinya betul. Lima semakan ini menangkap hampir semua masalah biasa model janaan AI.</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Ingat peraturan eTT: satu permohonan = satu negara + satu bidang, dengan universityChoiceIds membawa 1 hingga 3 id Programme — borang Hari 3 sudah menguatkuasakannya.</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bahagian POST: header content-type, body yang di-encode, dan semakan status. jsonEncode ialah pasangan songsang jsonDecode.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Peraturan emas: sentiasa semak statusCode sebelum percaya body. Kod bukan 200/201 mungkin masih ada body — jangan terus jsonDecode dan anggap ia data sah.</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paksi status yang selalu dikelirukan pelajar. Enum ApplicationStatus dalam model kita mengekalkan istilah sebenar eTT: eligible dan notEligible, dipaparkan sebagai Layak dan Tidak Layak.</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 AI yang tidak berhati-hati boleh terlontar ralat parsing baharu semasa cuba mengendalikan ralat asal — ironinya kod pengendali ralat sendiri crash. Ujilah dengan body bukan-JSON.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Corak yang sama digunakan oleh ProgrammeProvider dalam projek sebenar. Satu sumber kebenaran untuk keadaan skrin — mustahil loading dan error benar serentak.</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Aliran: set loading, await servis, set loaded atau error. try-catch di sini menukar sebarang kegagalan kepada keadaan terkawal — tanpanya, uncaught exception memaparkan skrin merah tanpa laluan cuba lagi.</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CircularProgressIndicator wajib semasa loading — tanpanya skrin kosong buat pengguna keliru sama ada app hang atau sedang memuat. Butang Cuba Lagi cuma panggil semula _load.</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Momen AI yang sesuai: widget boilerplate dengan spesifikasi jelas. Semakan const ialah perkara yang analyzer sendiri akan bantu tunjukkan.</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Tarik ke bawah dari atas senarai — RefreshIndicator uruskan animasi spinner sendiri. Sebab itu onRefresh mesti pulangkan Future, supaya ia tahu bila selesai.</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Pilih ikut situasi: GitHub raw paling mudah untuk kelas, json-server untuk demo ubah data secara langsung, mocki.io bila perlu URL awam tanpa repo.</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isu yang pasti timbul di kelas. 10.0.2.2 kerana emulator berjalan dalam mesin maya tersendiri; hot restart kerana pemalar const tidak dimuat semula oleh hot reload.</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Dalam projek sebenar, aliran yang sama persis dibungkus dalam ProgrammeProvider — notifyListeners menggantikan setState, tetapi logik try-catch, LoadState dan switch kekal sama. Faham versi setState, faham kedua-duanya.</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Semakan kefahaman sebelum bersurai: kenapa await tidak bekukan UI, kenapa servis fallback dan bukan throw, dan kenapa 201 Created tidak bermakna permohonan Layak. Esok semuanya digabungkan dalam projek mini.</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Tegaskan rentak hari Jumaat berbeza — pagi panjang untuk hackathon, petang lebih pendek untuk clean code, demo dan sijil.</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Sahkan bersama peserta bahawa keempat-empat blok ini sudah dikuasai — hari ini tiada topik baharu, hanya sintesis.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jangkaan: hackathon ialah latihan sintesis, bukan peperiksaan. Bantuan AI digalakkan sepenuhnya — sama seperti kerja sebenar.</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Bacakan brif seperti klien sebenar. Domain: pelajar lepasan SPM/STAM memohon ke universiti di Mesir dan Maghribi melalui eTT.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MVP = Minimum Viable Product. Empat skrin ini sahaja diukur dalam rubrik — ciri tambahan hanya selepas semuanya berfungsi.</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data contoh dan lapisan servis diberi supaya projek muat dalam ~3 jam. Simpan senarai permohonan sebagai medan dalam State skrin utama dan kemas kini melalui setState atau callback.</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mengikut istilah sebenar eTT — eligible/notEligible dipaparkan sebagai LAYAK/TIDAK LAYAK. Kos dalam data ialah anggaran.</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Borang anda mesti menguatkuasakan peraturan 1 negara + 1 bidang — ini bukan rekaan kursus, ia cara sistem eTT sebenar berfungsi.</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Pantau masa dengan tegas. Pasukan yang melekat pada satu bahagian melebihi slotnya patut minta bantuan — jurulatih atau AI.</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Lima minit pertama menentukan pagi anda — pastikan asas berjalan dahulu. Commit awal memberi titik selamat untuk kembali.</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Corak Hari 4: fetch dalam initState, setState bila data tiba, dan semak mounted sebelum setState dalam kod async.</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yang baik menyebut widget dan medan sebenar. Peserta mesti membaca dan memahami kod yang dijana — bukan tampal buta-buta.</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Corak passing data Hari 3 — objek Programme dihantar melalui constructor skrin destinasi.</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medan perlu validator yang menolak input kosong atau tidak sah — ini sebahagian rubrik.</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masa terbaik guna AI: logik berulang dengan format jelas. Tetapi ujian dengan input salah tetap tanggungjawab peserta.</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dikongsi melalui callback — teknik menghantar data Hari 3, digabung dengan setState SESI 5. Tiada pakej tambahan diperlukan.</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Butir terakhir sama penting dengan yang lain — semasa demo, jurulatih boleh tanya "terangkan baris ini" pada mana-mana bahagian.</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 debugging: ralat penuh + kod relevan + soalan punca. Tampal seluruh fail hanya mengaburkan masalah.</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Jadual ini akan menyelamatkan banyak masa pagi ini — kebanyakan pasukan akan bertemu sekurang-kurangnya tiga daripadanya.</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Senarai baki kerja bertulis memudahkan sambung selepas rehat. Stretch goals hanya untuk pasukan yang MVP-nya sudah lengkap.</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Motivasi clean code: bukan estetika, tetapi kos penyelenggaraan. Projek pagi tadi ialah bahan latihan yang sempurna.</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Komen "apa" cepat lapuk bila kod berubah; komen "kenapa" kekal berguna kerana ia merekod keputusan.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 projek rujukan dan tunjuk bagaimana widget kecil menjadikan setiap fail mudah dibaca sekali imbas.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 ialah kemenangan prestasi percuma. flutter_lints sudah didayakan lalai dalam projek Flutter baharu melalui analysis_options.yaml.</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Struktur ini bukan wajib dalam Flutter, tetapi ia konvensyen yang meluas — pasukan baharu terus faham di mana segala-galanya berada.</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arahan ini murah dan pantas — jadikan refleks. Ia juga cara terpantas menyemak kod yang dijana AI.</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Definisi refactoring: mengubah struktur tanpa mengubah kelakuan. Latihan petang ini: ambil satu widget besar yang dibina pagi tadi dan pecahkan.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ProgrammeCard dan StatusBadge dalam projek rujukan diekstrak sebagai kelas berasingan dan diguna semula merentasi beberapa skrin — itulah hasil akhir refactoring yang baik.</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Jawapan ringkas: prestasi (skop rebuild lebih kecil, boleh const) dan kebolehgunaan semula. Penjelasan penuh di penghujung fail snippet refactoring.</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Jaga masa demo dengan tegas supaya semua pasukan dapat giliran. Budaya maklum balas: satu penambahbaikan konkrit lebih bernilai daripada sepuluh kritikan umum.</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Imbas perjalanan penuh: setiap hari membina di atas hari sebelumnya, dan Hari 5 membuktikan peserta boleh mensintesis kesemuanya sendiri dalam eTT Mobile.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Rumuskan tabiat minggu ini: AI ialah pemecut, bukan pengganti pemahaman. Empat tabiat — review, analyze, faham, commit — kekal relevan dalam kerja sebenar.</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Lima prinsip daripada nota/08-prompt-claude-code.md. Prompt yang baik ialah spesifikasi mini — khusus, berkonteks, satu langkah, hasil jelas.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 ini berfungsi untuk mana-mana projek Flutter — bahagian konteks tetap, bahagian tugas berubah. Contoh penuh mengikut tujuan ada dalam nota/08.</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Aplikasi kursus sengaja ringkas. Urutan disyorkan: state dahulu (provider/Riverpod), kemudian navigasi, backend, ujian, dan akhirnya terbit ke Play Store.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Pesanan akhir: kemahiran Flutter kekal melalui pembinaan berterusan. Lima sumber ini mencukupi untuk berbulan-bulan pembelajaran kendiri.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B5C"/>
        </a:solidFill>
        <a:effectLst/>
      </p:bgPr>
    </p:bg>
    <p:spTree>
      <p:nvGrpSpPr>
        <p:cNvPr id="1" name=""/>
        <p:cNvGrpSpPr/>
        <p:nvPr/>
      </p:nvGrpSpPr>
      <p:grpSpPr/>
      <p:sp>
        <p:nvSpPr>
          <p:cNvPr id="2" name="TextBox 1"/>
          <p:cNvSpPr txBox="1"/>
          <p:nvPr/>
        </p:nvSpPr>
        <p:spPr>
          <a:xfrm>
            <a:off x="640080" y="777240"/>
            <a:ext cx="10911535" cy="685800"/>
          </a:xfrm>
          <a:prstGeom prst="rect">
            <a:avLst/>
          </a:prstGeom>
          <a:noFill/>
        </p:spPr>
        <p:txBody>
          <a:bodyPr wrap="square" anchor="t" lIns="38100" rIns="38100" tIns="25400" bIns="25400">
            <a:spAutoFit/>
          </a:bodyPr>
          <a:lstStyle/>
          <a:p>
            <a:pPr algn="l">
              <a:lnSpc>
                <a:spcPct val="105000"/>
              </a:lnSpc>
            </a:pPr>
            <a:r>
              <a:rPr sz="4000" b="0">
                <a:solidFill>
                  <a:srgbClr val="D4A017"/>
                </a:solidFill>
                <a:latin typeface="Segoe UI"/>
              </a:rPr>
              <a:t>🎓</a:t>
            </a:r>
          </a:p>
        </p:txBody>
      </p:sp>
      <p:sp>
        <p:nvSpPr>
          <p:cNvPr id="3" name="TextBox 2"/>
          <p:cNvSpPr txBox="1"/>
          <p:nvPr/>
        </p:nvSpPr>
        <p:spPr>
          <a:xfrm>
            <a:off x="640080" y="1691640"/>
            <a:ext cx="10911535" cy="566928"/>
          </a:xfrm>
          <a:prstGeom prst="rect">
            <a:avLst/>
          </a:prstGeom>
          <a:noFill/>
        </p:spPr>
        <p:txBody>
          <a:bodyPr wrap="square" anchor="t" lIns="38100" rIns="38100" tIns="25400" bIns="25400">
            <a:spAutoFit/>
          </a:bodyPr>
          <a:lstStyle/>
          <a:p>
            <a:pPr algn="l">
              <a:lnSpc>
                <a:spcPct val="105000"/>
              </a:lnSpc>
            </a:pPr>
            <a:r>
              <a:rPr sz="4000" b="1">
                <a:solidFill>
                  <a:srgbClr val="FFFFFF"/>
                </a:solidFill>
                <a:latin typeface="Segoe UI"/>
              </a:rPr>
              <a:t>Kelas Flutter 5 Hari</a:t>
            </a:r>
          </a:p>
        </p:txBody>
      </p:sp>
      <p:sp>
        <p:nvSpPr>
          <p:cNvPr id="4" name="TextBox 3"/>
          <p:cNvSpPr txBox="1"/>
          <p:nvPr/>
        </p:nvSpPr>
        <p:spPr>
          <a:xfrm>
            <a:off x="640080" y="2368296"/>
            <a:ext cx="10911535" cy="384048"/>
          </a:xfrm>
          <a:prstGeom prst="rect">
            <a:avLst/>
          </a:prstGeom>
          <a:noFill/>
        </p:spPr>
        <p:txBody>
          <a:bodyPr wrap="square" anchor="t" lIns="38100" rIns="38100" tIns="25400" bIns="25400">
            <a:spAutoFit/>
          </a:bodyPr>
          <a:lstStyle/>
          <a:p>
            <a:pPr algn="l">
              <a:lnSpc>
                <a:spcPct val="105000"/>
              </a:lnSpc>
            </a:pPr>
            <a:r>
              <a:rPr sz="1800" b="1">
                <a:solidFill>
                  <a:srgbClr val="D4A017"/>
                </a:solidFill>
                <a:latin typeface="Segoe UI"/>
              </a:rPr>
              <a:t>Bina eTT Mobile</a:t>
            </a:r>
          </a:p>
        </p:txBody>
      </p:sp>
      <p:sp>
        <p:nvSpPr>
          <p:cNvPr id="5" name="TextBox 4"/>
          <p:cNvSpPr txBox="1"/>
          <p:nvPr/>
        </p:nvSpPr>
        <p:spPr>
          <a:xfrm>
            <a:off x="640080" y="5806440"/>
            <a:ext cx="10911535" cy="365760"/>
          </a:xfrm>
          <a:prstGeom prst="rect">
            <a:avLst/>
          </a:prstGeom>
          <a:noFill/>
        </p:spPr>
        <p:txBody>
          <a:bodyPr wrap="square" anchor="t" lIns="38100" rIns="38100" tIns="25400" bIns="25400">
            <a:spAutoFit/>
          </a:bodyPr>
          <a:lstStyle/>
          <a:p>
            <a:pPr algn="l">
              <a:lnSpc>
                <a:spcPct val="105000"/>
              </a:lnSpc>
            </a:pPr>
            <a:r>
              <a:rPr sz="1200" b="0">
                <a:solidFill>
                  <a:srgbClr val="B9C2D4"/>
                </a:solidFill>
                <a:latin typeface="Segoe UI"/>
              </a:rPr>
              <a:t>Bahagian Pengurusan Maklumat · Kementerian Pendidikan Tinggi (KPT) · 20–24 Julai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Jurulatih &amp; Susunan Kelas</a:t>
            </a:r>
          </a:p>
        </p:txBody>
      </p:sp>
      <p:sp>
        <p:nvSpPr>
          <p:cNvPr id="3" name="TextBox 2"/>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Jurulatih</a:t>
            </a:r>
          </a:p>
        </p:txBody>
      </p:sp>
      <p:sp>
        <p:nvSpPr>
          <p:cNvPr id="4" name="TextBox 3"/>
          <p:cNvSpPr txBox="1"/>
          <p:nvPr/>
        </p:nvSpPr>
        <p:spPr>
          <a:xfrm>
            <a:off x="804671" y="143560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[Nama Jurulatih]</a:t>
            </a:r>
          </a:p>
        </p:txBody>
      </p:sp>
      <p:sp>
        <p:nvSpPr>
          <p:cNvPr id="5" name="TextBox 4"/>
          <p:cNvSpPr txBox="1"/>
          <p:nvPr/>
        </p:nvSpPr>
        <p:spPr>
          <a:xfrm>
            <a:off x="804671" y="165963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Pembangun aplikasi mobil</a:t>
            </a:r>
          </a:p>
        </p:txBody>
      </p:sp>
      <p:sp>
        <p:nvSpPr>
          <p:cNvPr id="6" name="TextBox 5"/>
          <p:cNvSpPr txBox="1"/>
          <p:nvPr/>
        </p:nvSpPr>
        <p:spPr>
          <a:xfrm>
            <a:off x="640080" y="1956816"/>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Anjuran</a:t>
            </a:r>
          </a:p>
        </p:txBody>
      </p:sp>
      <p:sp>
        <p:nvSpPr>
          <p:cNvPr id="7" name="TextBox 6"/>
          <p:cNvSpPr txBox="1"/>
          <p:nvPr/>
        </p:nvSpPr>
        <p:spPr>
          <a:xfrm>
            <a:off x="804671" y="234086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Bahagian Pengurusan Maklumat (BPM), KPT</a:t>
            </a:r>
          </a:p>
        </p:txBody>
      </p:sp>
      <p:sp>
        <p:nvSpPr>
          <p:cNvPr id="8" name="TextBox 7"/>
          <p:cNvSpPr txBox="1"/>
          <p:nvPr/>
        </p:nvSpPr>
        <p:spPr>
          <a:xfrm>
            <a:off x="640080" y="2638044"/>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Tempat &amp; masa</a:t>
            </a:r>
          </a:p>
        </p:txBody>
      </p:sp>
      <p:sp>
        <p:nvSpPr>
          <p:cNvPr id="9" name="TextBox 8"/>
          <p:cNvSpPr txBox="1"/>
          <p:nvPr/>
        </p:nvSpPr>
        <p:spPr>
          <a:xfrm>
            <a:off x="804671" y="302209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Bilik Latihan Al-Khazini 2, BPM, KPT</a:t>
            </a:r>
          </a:p>
        </p:txBody>
      </p:sp>
      <p:sp>
        <p:nvSpPr>
          <p:cNvPr id="10" name="TextBox 9"/>
          <p:cNvSpPr txBox="1"/>
          <p:nvPr/>
        </p:nvSpPr>
        <p:spPr>
          <a:xfrm>
            <a:off x="804671" y="324612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Aras 6, Menara 2, Presint 5, Putrajaya</a:t>
            </a:r>
          </a:p>
        </p:txBody>
      </p:sp>
      <p:sp>
        <p:nvSpPr>
          <p:cNvPr id="11" name="TextBox 10"/>
          <p:cNvSpPr txBox="1"/>
          <p:nvPr/>
        </p:nvSpPr>
        <p:spPr>
          <a:xfrm>
            <a:off x="804671" y="347014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20–24 Julai 2026 (Isnin–Jumaat)</a:t>
            </a:r>
          </a:p>
        </p:txBody>
      </p:sp>
      <p:sp>
        <p:nvSpPr>
          <p:cNvPr id="12" name="TextBox 11"/>
          <p:cNvSpPr txBox="1"/>
          <p:nvPr/>
        </p:nvSpPr>
        <p:spPr>
          <a:xfrm>
            <a:off x="804671" y="369417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8.30 pagi – 5.00 petang</a:t>
            </a:r>
          </a:p>
        </p:txBody>
      </p:sp>
      <p:sp>
        <p:nvSpPr>
          <p:cNvPr id="13" name="Rounded Rectangle 12"/>
          <p:cNvSpPr/>
          <p:nvPr/>
        </p:nvSpPr>
        <p:spPr>
          <a:xfrm>
            <a:off x="640080" y="3991356"/>
            <a:ext cx="10911535" cy="658368"/>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40080" y="3991356"/>
            <a:ext cx="54864" cy="658368"/>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064508"/>
            <a:ext cx="10600639" cy="512063"/>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Kursus ini secara coaching — anda menaip kod sendiri, jurulatih membimbing, dan bila buntu, alatan AI seperti Claude Code atau ChatGPT kita guna sebagai sebahagian aliran kerja biasa.</a:t>
            </a:r>
          </a:p>
        </p:txBody>
      </p:sp>
      <p:sp>
        <p:nvSpPr>
          <p:cNvPr id="16" name="TextBox 1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Hasil Pembelajaran</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Selepas 5 hari, anda mampu:</a:t>
            </a:r>
          </a:p>
        </p:txBody>
      </p:sp>
      <p:sp>
        <p:nvSpPr>
          <p:cNvPr id="4" name="Rounded Rectangle 3"/>
          <p:cNvSpPr/>
          <p:nvPr/>
        </p:nvSpPr>
        <p:spPr>
          <a:xfrm>
            <a:off x="640080" y="1371600"/>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463040"/>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Bina UI Flutter</a:t>
            </a:r>
          </a:p>
        </p:txBody>
      </p:sp>
      <p:sp>
        <p:nvSpPr>
          <p:cNvPr id="6" name="TextBox 5"/>
          <p:cNvSpPr txBox="1"/>
          <p:nvPr/>
        </p:nvSpPr>
        <p:spPr>
          <a:xfrm>
            <a:off x="768096" y="1755648"/>
            <a:ext cx="5108295"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Widget asas, layout Row/Column/Stack, senarai ListView, tema &amp; styling.</a:t>
            </a:r>
          </a:p>
        </p:txBody>
      </p:sp>
      <p:sp>
        <p:nvSpPr>
          <p:cNvPr id="7" name="Rounded Rectangle 6"/>
          <p:cNvSpPr/>
          <p:nvPr/>
        </p:nvSpPr>
        <p:spPr>
          <a:xfrm>
            <a:off x="6187287" y="1371600"/>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315303" y="1463040"/>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Navigasi &amp; Borang</a:t>
            </a:r>
          </a:p>
        </p:txBody>
      </p:sp>
      <p:sp>
        <p:nvSpPr>
          <p:cNvPr id="9" name="TextBox 8"/>
          <p:cNvSpPr txBox="1"/>
          <p:nvPr/>
        </p:nvSpPr>
        <p:spPr>
          <a:xfrm>
            <a:off x="6315303" y="1755648"/>
            <a:ext cx="5108295"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Navigator, named routes, TextFormField dengan validation, dan state asas setState().</a:t>
            </a:r>
          </a:p>
        </p:txBody>
      </p:sp>
      <p:sp>
        <p:nvSpPr>
          <p:cNvPr id="10" name="Rounded Rectangle 9"/>
          <p:cNvSpPr/>
          <p:nvPr/>
        </p:nvSpPr>
        <p:spPr>
          <a:xfrm>
            <a:off x="640080" y="2487168"/>
            <a:ext cx="5364327"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 y="2578608"/>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Sambung REST API</a:t>
            </a:r>
          </a:p>
        </p:txBody>
      </p:sp>
      <p:sp>
        <p:nvSpPr>
          <p:cNvPr id="12" name="TextBox 11"/>
          <p:cNvSpPr txBox="1"/>
          <p:nvPr/>
        </p:nvSpPr>
        <p:spPr>
          <a:xfrm>
            <a:off x="768096" y="2871216"/>
            <a:ext cx="5108295"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Panggil API dengan pakej http, async/await, JSON → model Dart, kendali ralat.</a:t>
            </a:r>
          </a:p>
        </p:txBody>
      </p:sp>
      <p:sp>
        <p:nvSpPr>
          <p:cNvPr id="13" name="Rounded Rectangle 12"/>
          <p:cNvSpPr/>
          <p:nvPr/>
        </p:nvSpPr>
        <p:spPr>
          <a:xfrm>
            <a:off x="6187287" y="2487168"/>
            <a:ext cx="5364327"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15303" y="2578608"/>
            <a:ext cx="5108295"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Kod Moden</a:t>
            </a:r>
          </a:p>
        </p:txBody>
      </p:sp>
      <p:sp>
        <p:nvSpPr>
          <p:cNvPr id="15" name="TextBox 14"/>
          <p:cNvSpPr txBox="1"/>
          <p:nvPr/>
        </p:nvSpPr>
        <p:spPr>
          <a:xfrm>
            <a:off x="6315303" y="2871216"/>
            <a:ext cx="5108295" cy="475488"/>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Clean coding, refactoring, dan kemahiran menggunakan alatan AI dengan cekap untuk coding &amp; debugging.</a:t>
            </a:r>
          </a:p>
        </p:txBody>
      </p:sp>
      <p:sp>
        <p:nvSpPr>
          <p:cNvPr id="16" name="TextBox 1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Aturcara 5 Hari · 9 Sesi</a:t>
            </a:r>
          </a:p>
        </p:txBody>
      </p:sp>
      <p:graphicFrame>
        <p:nvGraphicFramePr>
          <p:cNvPr id="3" name="Table 2"/>
          <p:cNvGraphicFramePr>
            <a:graphicFrameLocks noGrp="1"/>
          </p:cNvGraphicFramePr>
          <p:nvPr/>
        </p:nvGraphicFramePr>
        <p:xfrm>
          <a:off x="640080" y="1051560"/>
          <a:ext cx="10911535" cy="274320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r>
                        <a:rPr sz="1100" b="1">
                          <a:solidFill>
                            <a:srgbClr val="FFFFFF"/>
                          </a:solidFill>
                          <a:latin typeface="Segoe UI"/>
                        </a:rPr>
                        <a:t>Hari</a:t>
                      </a:r>
                    </a:p>
                  </a:txBody>
                  <a:tcPr marL="63500" marR="63500" marT="25400" marB="25400">
                    <a:solidFill>
                      <a:srgbClr val="1A2B5C"/>
                    </a:solidFill>
                  </a:tcPr>
                </a:tc>
                <a:tc>
                  <a:txBody>
                    <a:bodyPr/>
                    <a:lstStyle/>
                    <a:p>
                      <a:r>
                        <a:rPr sz="1100" b="1">
                          <a:solidFill>
                            <a:srgbClr val="FFFFFF"/>
                          </a:solidFill>
                          <a:latin typeface="Segoe UI"/>
                        </a:rPr>
                        <a:t>Sesi</a:t>
                      </a:r>
                    </a:p>
                  </a:txBody>
                  <a:tcPr marL="63500" marR="63500" marT="25400" marB="25400">
                    <a:solidFill>
                      <a:srgbClr val="1A2B5C"/>
                    </a:solidFill>
                  </a:tcPr>
                </a:tc>
                <a:tc>
                  <a:txBody>
                    <a:bodyPr/>
                    <a:lstStyle/>
                    <a:p>
                      <a:r>
                        <a:rPr sz="1100" b="1">
                          <a:solidFill>
                            <a:srgbClr val="FFFFFF"/>
                          </a:solidFill>
                          <a:latin typeface="Segoe UI"/>
                        </a:rPr>
                        <a:t>Fokus</a:t>
                      </a:r>
                    </a:p>
                  </a:txBody>
                  <a:tcPr marL="63500" marR="63500" marT="25400" marB="25400">
                    <a:solidFill>
                      <a:srgbClr val="1A2B5C"/>
                    </a:solidFill>
                  </a:tcPr>
                </a:tc>
              </a:tr>
              <a:tr h="274320">
                <a:tc>
                  <a:txBody>
                    <a:bodyPr/>
                    <a:lstStyle/>
                    <a:p>
                      <a:r>
                        <a:rPr sz="1100" b="0">
                          <a:solidFill>
                            <a:srgbClr val="566371"/>
                          </a:solidFill>
                          <a:latin typeface="Segoe UI"/>
                        </a:rPr>
                        <a:t>Hari 1 (Isnin)</a:t>
                      </a:r>
                    </a:p>
                  </a:txBody>
                  <a:tcPr marL="63500" marR="63500" marT="25400" marB="25400">
                    <a:solidFill>
                      <a:srgbClr val="FFFFFF"/>
                    </a:solidFill>
                  </a:tcPr>
                </a:tc>
                <a:tc>
                  <a:txBody>
                    <a:bodyPr/>
                    <a:lstStyle/>
                    <a:p>
                      <a:r>
                        <a:rPr sz="1100" b="0">
                          <a:solidFill>
                            <a:srgbClr val="566371"/>
                          </a:solidFill>
                          <a:latin typeface="Segoe UI"/>
                        </a:rPr>
                        <a:t>SESI 1</a:t>
                      </a:r>
                    </a:p>
                  </a:txBody>
                  <a:tcPr marL="63500" marR="63500" marT="25400" marB="25400">
                    <a:solidFill>
                      <a:srgbClr val="FFFFFF"/>
                    </a:solidFill>
                  </a:tcPr>
                </a:tc>
                <a:tc>
                  <a:txBody>
                    <a:bodyPr/>
                    <a:lstStyle/>
                    <a:p>
                      <a:r>
                        <a:rPr sz="1100" b="0">
                          <a:solidFill>
                            <a:srgbClr val="566371"/>
                          </a:solidFill>
                          <a:latin typeface="Segoe UI"/>
                        </a:rPr>
                        <a:t>Widget asas &amp; aliran kawalan Dart — operators, control flow, looping, function; Text/Icon/Image; Container/Padding/SizedBox; Stateless vs Stateful</a:t>
                      </a:r>
                    </a:p>
                  </a:txBody>
                  <a:tcPr marL="63500" marR="63500" marT="25400" marB="25400">
                    <a:solidFill>
                      <a:srgbClr val="FFFFFF"/>
                    </a:solidFill>
                  </a:tcPr>
                </a:tc>
              </a:tr>
              <a:tr h="274320">
                <a:tc>
                  <a:txBody>
                    <a:bodyPr/>
                    <a:lstStyle/>
                    <a:p>
                      <a:r>
                        <a:rPr sz="1100" b="0">
                          <a:solidFill>
                            <a:srgbClr val="566371"/>
                          </a:solidFill>
                          <a:latin typeface="Segoe UI"/>
                        </a:rPr>
                        <a:t>Hari 2 (Selasa)</a:t>
                      </a:r>
                    </a:p>
                  </a:txBody>
                  <a:tcPr marL="63500" marR="63500" marT="25400" marB="25400">
                    <a:solidFill>
                      <a:srgbClr val="FFFFFF"/>
                    </a:solidFill>
                  </a:tcPr>
                </a:tc>
                <a:tc>
                  <a:txBody>
                    <a:bodyPr/>
                    <a:lstStyle/>
                    <a:p>
                      <a:r>
                        <a:rPr sz="1100" b="0">
                          <a:solidFill>
                            <a:srgbClr val="566371"/>
                          </a:solidFill>
                          <a:latin typeface="Segoe UI"/>
                        </a:rPr>
                        <a:t>SESI 2</a:t>
                      </a:r>
                    </a:p>
                  </a:txBody>
                  <a:tcPr marL="63500" marR="63500" marT="25400" marB="25400">
                    <a:solidFill>
                      <a:srgbClr val="FFFFFF"/>
                    </a:solidFill>
                  </a:tcPr>
                </a:tc>
                <a:tc>
                  <a:txBody>
                    <a:bodyPr/>
                    <a:lstStyle/>
                    <a:p>
                      <a:r>
                        <a:rPr sz="1100" b="0">
                          <a:solidFill>
                            <a:srgbClr val="566371"/>
                          </a:solidFill>
                          <a:latin typeface="Segoe UI"/>
                        </a:rPr>
                        <a:t>Seni bina layout &amp; struktur UI — Row/Column/Expanded, Stack/Positioned, Scaffold/AppBar</a:t>
                      </a:r>
                    </a:p>
                  </a:txBody>
                  <a:tcPr marL="63500" marR="63500" marT="25400" marB="25400">
                    <a:solidFill>
                      <a:srgbClr val="FFFFFF"/>
                    </a:solidFill>
                  </a:tcPr>
                </a:tc>
              </a:tr>
              <a:tr h="274320">
                <a:tc>
                  <a:txBody>
                    <a:bodyPr/>
                    <a:lstStyle/>
                    <a:p>
                      <a:r>
                        <a:rPr sz="1100" b="0">
                          <a:solidFill>
                            <a:srgbClr val="566371"/>
                          </a:solidFill>
                          <a:latin typeface="Segoe UI"/>
                        </a:rPr>
                        <a:t>SESI 3</a:t>
                      </a:r>
                    </a:p>
                  </a:txBody>
                  <a:tcPr marL="63500" marR="63500" marT="25400" marB="25400">
                    <a:solidFill>
                      <a:srgbClr val="FFFFFF"/>
                    </a:solidFill>
                  </a:tcPr>
                </a:tc>
                <a:tc>
                  <a:txBody>
                    <a:bodyPr/>
                    <a:lstStyle/>
                    <a:p>
                      <a:r>
                        <a:rPr sz="1100" b="0">
                          <a:solidFill>
                            <a:srgbClr val="566371"/>
                          </a:solidFill>
                          <a:latin typeface="Segoe UI"/>
                        </a:rPr>
                        <a:t>Senarai dinamik &amp; styling — BottomNavigationBar/Drawer, ListView/GridView, Card/ListTile, ThemeData</a:t>
                      </a:r>
                    </a:p>
                  </a:txBody>
                  <a:tcPr marL="63500" marR="63500" marT="25400" marB="25400">
                    <a:solidFill>
                      <a:srgbClr val="FFFFFF"/>
                    </a:solidFill>
                  </a:tcPr>
                </a:tc>
                <a:tc>
                  <a:txBody>
                    <a:bodyPr/>
                    <a:lstStyle/>
                    <a:p/>
                  </a:txBody>
                  <a:tcPr marL="63500" marR="63500" marT="25400" marB="25400">
                    <a:solidFill>
                      <a:srgbClr val="FFFFFF"/>
                    </a:solidFill>
                  </a:tcPr>
                </a:tc>
              </a:tr>
              <a:tr h="274320">
                <a:tc>
                  <a:txBody>
                    <a:bodyPr/>
                    <a:lstStyle/>
                    <a:p>
                      <a:r>
                        <a:rPr sz="1100" b="0">
                          <a:solidFill>
                            <a:srgbClr val="566371"/>
                          </a:solidFill>
                          <a:latin typeface="Segoe UI"/>
                        </a:rPr>
                        <a:t>Hari 3 (Rabu)</a:t>
                      </a:r>
                    </a:p>
                  </a:txBody>
                  <a:tcPr marL="63500" marR="63500" marT="25400" marB="25400">
                    <a:solidFill>
                      <a:srgbClr val="FFFFFF"/>
                    </a:solidFill>
                  </a:tcPr>
                </a:tc>
                <a:tc>
                  <a:txBody>
                    <a:bodyPr/>
                    <a:lstStyle/>
                    <a:p>
                      <a:r>
                        <a:rPr sz="1100" b="0">
                          <a:solidFill>
                            <a:srgbClr val="566371"/>
                          </a:solidFill>
                          <a:latin typeface="Segoe UI"/>
                        </a:rPr>
                        <a:t>SESI 4</a:t>
                      </a:r>
                    </a:p>
                  </a:txBody>
                  <a:tcPr marL="63500" marR="63500" marT="25400" marB="25400">
                    <a:solidFill>
                      <a:srgbClr val="FFFFFF"/>
                    </a:solidFill>
                  </a:tcPr>
                </a:tc>
                <a:tc>
                  <a:txBody>
                    <a:bodyPr/>
                    <a:lstStyle/>
                    <a:p>
                      <a:r>
                        <a:rPr sz="1100" b="0">
                          <a:solidFill>
                            <a:srgbClr val="566371"/>
                          </a:solidFill>
                          <a:latin typeface="Segoe UI"/>
                        </a:rPr>
                        <a:t>Navigasi skrin &amp; borang input — Navigator push/pop, named routes, passing data, TextField/TextFormField</a:t>
                      </a:r>
                    </a:p>
                  </a:txBody>
                  <a:tcPr marL="63500" marR="63500" marT="25400" marB="25400">
                    <a:solidFill>
                      <a:srgbClr val="FFFFFF"/>
                    </a:solidFill>
                  </a:tcPr>
                </a:tc>
              </a:tr>
              <a:tr h="274320">
                <a:tc>
                  <a:txBody>
                    <a:bodyPr/>
                    <a:lstStyle/>
                    <a:p>
                      <a:r>
                        <a:rPr sz="1100" b="0">
                          <a:solidFill>
                            <a:srgbClr val="566371"/>
                          </a:solidFill>
                          <a:latin typeface="Segoe UI"/>
                        </a:rPr>
                        <a:t>SESI 5</a:t>
                      </a:r>
                    </a:p>
                  </a:txBody>
                  <a:tcPr marL="63500" marR="63500" marT="25400" marB="25400">
                    <a:solidFill>
                      <a:srgbClr val="FFFFFF"/>
                    </a:solidFill>
                  </a:tcPr>
                </a:tc>
                <a:tc>
                  <a:txBody>
                    <a:bodyPr/>
                    <a:lstStyle/>
                    <a:p>
                      <a:r>
                        <a:rPr sz="1100" b="0">
                          <a:solidFill>
                            <a:srgbClr val="566371"/>
                          </a:solidFill>
                          <a:latin typeface="Segoe UI"/>
                        </a:rPr>
                        <a:t>Kawalan borang &amp; state asas — controller, Button/GestureDetector, form validation, setState() &amp; lifecycle</a:t>
                      </a:r>
                    </a:p>
                  </a:txBody>
                  <a:tcPr marL="63500" marR="63500" marT="25400" marB="25400">
                    <a:solidFill>
                      <a:srgbClr val="FFFFFF"/>
                    </a:solidFill>
                  </a:tcPr>
                </a:tc>
                <a:tc>
                  <a:txBody>
                    <a:bodyPr/>
                    <a:lstStyle/>
                    <a:p/>
                  </a:txBody>
                  <a:tcPr marL="63500" marR="63500" marT="25400" marB="25400">
                    <a:solidFill>
                      <a:srgbClr val="FFFFFF"/>
                    </a:solidFill>
                  </a:tcPr>
                </a:tc>
              </a:tr>
              <a:tr h="274320">
                <a:tc>
                  <a:txBody>
                    <a:bodyPr/>
                    <a:lstStyle/>
                    <a:p>
                      <a:r>
                        <a:rPr sz="1100" b="0">
                          <a:solidFill>
                            <a:srgbClr val="566371"/>
                          </a:solidFill>
                          <a:latin typeface="Segoe UI"/>
                        </a:rPr>
                        <a:t>Hari 4 (Khamis)</a:t>
                      </a:r>
                    </a:p>
                  </a:txBody>
                  <a:tcPr marL="63500" marR="63500" marT="25400" marB="25400">
                    <a:solidFill>
                      <a:srgbClr val="FFFFFF"/>
                    </a:solidFill>
                  </a:tcPr>
                </a:tc>
                <a:tc>
                  <a:txBody>
                    <a:bodyPr/>
                    <a:lstStyle/>
                    <a:p>
                      <a:r>
                        <a:rPr sz="1100" b="0">
                          <a:solidFill>
                            <a:srgbClr val="566371"/>
                          </a:solidFill>
                          <a:latin typeface="Segoe UI"/>
                        </a:rPr>
                        <a:t>SESI 6</a:t>
                      </a:r>
                    </a:p>
                  </a:txBody>
                  <a:tcPr marL="63500" marR="63500" marT="25400" marB="25400">
                    <a:solidFill>
                      <a:srgbClr val="FFFFFF"/>
                    </a:solidFill>
                  </a:tcPr>
                </a:tc>
                <a:tc>
                  <a:txBody>
                    <a:bodyPr/>
                    <a:lstStyle/>
                    <a:p>
                      <a:r>
                        <a:rPr sz="1100" b="0">
                          <a:solidFill>
                            <a:srgbClr val="566371"/>
                          </a:solidFill>
                          <a:latin typeface="Segoe UI"/>
                        </a:rPr>
                        <a:t>Konsep REST API &amp; sambungan backend — HTTP methods, JSON, pakej http, async/Future/await, fetch data</a:t>
                      </a:r>
                    </a:p>
                  </a:txBody>
                  <a:tcPr marL="63500" marR="63500" marT="25400" marB="25400">
                    <a:solidFill>
                      <a:srgbClr val="FFFFFF"/>
                    </a:solidFill>
                  </a:tcPr>
                </a:tc>
              </a:tr>
              <a:tr h="274320">
                <a:tc>
                  <a:txBody>
                    <a:bodyPr/>
                    <a:lstStyle/>
                    <a:p>
                      <a:r>
                        <a:rPr sz="1100" b="0">
                          <a:solidFill>
                            <a:srgbClr val="566371"/>
                          </a:solidFill>
                          <a:latin typeface="Segoe UI"/>
                        </a:rPr>
                        <a:t>SESI 7</a:t>
                      </a:r>
                    </a:p>
                  </a:txBody>
                  <a:tcPr marL="63500" marR="63500" marT="25400" marB="25400">
                    <a:solidFill>
                      <a:srgbClr val="FFFFFF"/>
                    </a:solidFill>
                  </a:tcPr>
                </a:tc>
                <a:tc>
                  <a:txBody>
                    <a:bodyPr/>
                    <a:lstStyle/>
                    <a:p>
                      <a:r>
                        <a:rPr sz="1100" b="0">
                          <a:solidFill>
                            <a:srgbClr val="566371"/>
                          </a:solidFill>
                          <a:latin typeface="Segoe UI"/>
                        </a:rPr>
                        <a:t>Model data &amp; error handling — JSON → Dart model, submit data, status code, try-catch</a:t>
                      </a:r>
                    </a:p>
                  </a:txBody>
                  <a:tcPr marL="63500" marR="63500" marT="25400" marB="25400">
                    <a:solidFill>
                      <a:srgbClr val="FFFFFF"/>
                    </a:solidFill>
                  </a:tcPr>
                </a:tc>
                <a:tc>
                  <a:txBody>
                    <a:bodyPr/>
                    <a:lstStyle/>
                    <a:p/>
                  </a:txBody>
                  <a:tcPr marL="63500" marR="63500" marT="25400" marB="25400">
                    <a:solidFill>
                      <a:srgbClr val="FFFFFF"/>
                    </a:solidFill>
                  </a:tcPr>
                </a:tc>
              </a:tr>
              <a:tr h="274320">
                <a:tc>
                  <a:txBody>
                    <a:bodyPr/>
                    <a:lstStyle/>
                    <a:p>
                      <a:r>
                        <a:rPr sz="1100" b="0">
                          <a:solidFill>
                            <a:srgbClr val="566371"/>
                          </a:solidFill>
                          <a:latin typeface="Segoe UI"/>
                        </a:rPr>
                        <a:t>Hari 5 (Jumaat)</a:t>
                      </a:r>
                    </a:p>
                  </a:txBody>
                  <a:tcPr marL="63500" marR="63500" marT="25400" marB="25400">
                    <a:solidFill>
                      <a:srgbClr val="FFFFFF"/>
                    </a:solidFill>
                  </a:tcPr>
                </a:tc>
                <a:tc>
                  <a:txBody>
                    <a:bodyPr/>
                    <a:lstStyle/>
                    <a:p>
                      <a:r>
                        <a:rPr sz="1100" b="0">
                          <a:solidFill>
                            <a:srgbClr val="566371"/>
                          </a:solidFill>
                          <a:latin typeface="Segoe UI"/>
                        </a:rPr>
                        <a:t>SESI 8</a:t>
                      </a:r>
                    </a:p>
                  </a:txBody>
                  <a:tcPr marL="63500" marR="63500" marT="25400" marB="25400">
                    <a:solidFill>
                      <a:srgbClr val="FFFFFF"/>
                    </a:solidFill>
                  </a:tcPr>
                </a:tc>
                <a:tc>
                  <a:txBody>
                    <a:bodyPr/>
                    <a:lstStyle/>
                    <a:p>
                      <a:r>
                        <a:rPr sz="1100" b="0">
                          <a:solidFill>
                            <a:srgbClr val="566371"/>
                          </a:solidFill>
                          <a:latin typeface="Segoe UI"/>
                        </a:rPr>
                        <a:t>Projek mini terbimbing (hackathon) — gabung UI + Form + Navigasi + API</a:t>
                      </a:r>
                    </a:p>
                  </a:txBody>
                  <a:tcPr marL="63500" marR="63500" marT="25400" marB="25400">
                    <a:solidFill>
                      <a:srgbClr val="FFFFFF"/>
                    </a:solidFill>
                  </a:tcPr>
                </a:tc>
              </a:tr>
              <a:tr h="274320">
                <a:tc>
                  <a:txBody>
                    <a:bodyPr/>
                    <a:lstStyle/>
                    <a:p>
                      <a:r>
                        <a:rPr sz="1100" b="0">
                          <a:solidFill>
                            <a:srgbClr val="566371"/>
                          </a:solidFill>
                          <a:latin typeface="Segoe UI"/>
                        </a:rPr>
                        <a:t>SESI 9</a:t>
                      </a:r>
                    </a:p>
                  </a:txBody>
                  <a:tcPr marL="63500" marR="63500" marT="25400" marB="25400">
                    <a:solidFill>
                      <a:srgbClr val="FFFFFF"/>
                    </a:solidFill>
                  </a:tcPr>
                </a:tc>
                <a:tc>
                  <a:txBody>
                    <a:bodyPr/>
                    <a:lstStyle/>
                    <a:p>
                      <a:r>
                        <a:rPr sz="1100" b="0">
                          <a:solidFill>
                            <a:srgbClr val="566371"/>
                          </a:solidFill>
                          <a:latin typeface="Segoe UI"/>
                        </a:rPr>
                        <a:t>Projek mini (bhg. 2), Clean Coding Principles, refactoring, demo aplikasi &amp; sijil</a:t>
                      </a:r>
                    </a:p>
                  </a:txBody>
                  <a:tcPr marL="63500" marR="63500" marT="25400" marB="25400">
                    <a:solidFill>
                      <a:srgbClr val="FFFFFF"/>
                    </a:solidFill>
                  </a:tcPr>
                </a:tc>
                <a:tc>
                  <a:txBody>
                    <a:bodyPr/>
                    <a:lstStyle/>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Rentak Harian</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5455767"/>
                <a:gridCol w="5455768"/>
              </a:tblGrid>
              <a:tr h="274319">
                <a:tc>
                  <a:txBody>
                    <a:bodyPr/>
                    <a:lstStyle/>
                    <a:p>
                      <a:r>
                        <a:rPr sz="1100" b="1">
                          <a:solidFill>
                            <a:srgbClr val="FFFFFF"/>
                          </a:solidFill>
                          <a:latin typeface="Segoe UI"/>
                        </a:rPr>
                        <a:t>Masa</a:t>
                      </a:r>
                    </a:p>
                  </a:txBody>
                  <a:tcPr marL="63500" marR="63500" marT="25400" marB="25400">
                    <a:solidFill>
                      <a:srgbClr val="1A2B5C"/>
                    </a:solidFill>
                  </a:tcPr>
                </a:tc>
                <a:tc>
                  <a:txBody>
                    <a:bodyPr/>
                    <a:lstStyle/>
                    <a:p>
                      <a:r>
                        <a:rPr sz="1100" b="1">
                          <a:solidFill>
                            <a:srgbClr val="FFFFFF"/>
                          </a:solidFill>
                          <a:latin typeface="Segoe UI"/>
                        </a:rPr>
                        <a:t>Agenda</a:t>
                      </a:r>
                    </a:p>
                  </a:txBody>
                  <a:tcPr marL="63500" marR="63500" marT="25400" marB="25400">
                    <a:solidFill>
                      <a:srgbClr val="1A2B5C"/>
                    </a:solidFill>
                  </a:tcPr>
                </a:tc>
              </a:tr>
              <a:tr h="274319">
                <a:tc>
                  <a:txBody>
                    <a:bodyPr/>
                    <a:lstStyle/>
                    <a:p>
                      <a:r>
                        <a:rPr sz="1100" b="0">
                          <a:solidFill>
                            <a:srgbClr val="566371"/>
                          </a:solidFill>
                          <a:latin typeface="Segoe UI"/>
                        </a:rPr>
                        <a:t>8.30 – 9.00 pagi</a:t>
                      </a:r>
                    </a:p>
                  </a:txBody>
                  <a:tcPr marL="63500" marR="63500" marT="25400" marB="25400">
                    <a:solidFill>
                      <a:srgbClr val="FFFFFF"/>
                    </a:solidFill>
                  </a:tcPr>
                </a:tc>
                <a:tc>
                  <a:txBody>
                    <a:bodyPr/>
                    <a:lstStyle/>
                    <a:p>
                      <a:r>
                        <a:rPr sz="1100" b="0">
                          <a:solidFill>
                            <a:srgbClr val="566371"/>
                          </a:solidFill>
                          <a:latin typeface="Segoe UI"/>
                        </a:rPr>
                        <a:t>Pendaftaran &amp; minum pagi</a:t>
                      </a:r>
                    </a:p>
                  </a:txBody>
                  <a:tcPr marL="63500" marR="63500" marT="25400" marB="25400">
                    <a:solidFill>
                      <a:srgbClr val="FFFFFF"/>
                    </a:solidFill>
                  </a:tcPr>
                </a:tc>
              </a:tr>
              <a:tr h="274319">
                <a:tc>
                  <a:txBody>
                    <a:bodyPr/>
                    <a:lstStyle/>
                    <a:p>
                      <a:r>
                        <a:rPr sz="1100" b="0">
                          <a:solidFill>
                            <a:srgbClr val="566371"/>
                          </a:solidFill>
                          <a:latin typeface="Segoe UI"/>
                        </a:rPr>
                        <a:t>9.00 pagi – 1.00 petang</a:t>
                      </a:r>
                    </a:p>
                  </a:txBody>
                  <a:tcPr marL="63500" marR="63500" marT="25400" marB="25400">
                    <a:solidFill>
                      <a:srgbClr val="FFFFFF"/>
                    </a:solidFill>
                  </a:tcPr>
                </a:tc>
                <a:tc>
                  <a:txBody>
                    <a:bodyPr/>
                    <a:lstStyle/>
                    <a:p>
                      <a:r>
                        <a:rPr sz="1100" b="0">
                          <a:solidFill>
                            <a:srgbClr val="566371"/>
                          </a:solidFill>
                          <a:latin typeface="Segoe UI"/>
                        </a:rPr>
                        <a:t>Sesi pagi (hands-on)</a:t>
                      </a:r>
                    </a:p>
                  </a:txBody>
                  <a:tcPr marL="63500" marR="63500" marT="25400" marB="25400">
                    <a:solidFill>
                      <a:srgbClr val="FFFFFF"/>
                    </a:solidFill>
                  </a:tcPr>
                </a:tc>
              </a:tr>
              <a:tr h="274319">
                <a:tc>
                  <a:txBody>
                    <a:bodyPr/>
                    <a:lstStyle/>
                    <a:p>
                      <a:r>
                        <a:rPr sz="1100" b="0">
                          <a:solidFill>
                            <a:srgbClr val="566371"/>
                          </a:solidFill>
                          <a:latin typeface="Segoe UI"/>
                        </a:rPr>
                        <a:t>1.00 – 2.30 petang</a:t>
                      </a:r>
                    </a:p>
                  </a:txBody>
                  <a:tcPr marL="63500" marR="63500" marT="25400" marB="25400">
                    <a:solidFill>
                      <a:srgbClr val="FFFFFF"/>
                    </a:solidFill>
                  </a:tcPr>
                </a:tc>
                <a:tc>
                  <a:txBody>
                    <a:bodyPr/>
                    <a:lstStyle/>
                    <a:p>
                      <a:r>
                        <a:rPr sz="1100" b="0">
                          <a:solidFill>
                            <a:srgbClr val="566371"/>
                          </a:solidFill>
                          <a:latin typeface="Segoe UI"/>
                        </a:rPr>
                        <a:t>Rehat &amp; makan tengah hari</a:t>
                      </a:r>
                    </a:p>
                  </a:txBody>
                  <a:tcPr marL="63500" marR="63500" marT="25400" marB="25400">
                    <a:solidFill>
                      <a:srgbClr val="FFFFFF"/>
                    </a:solidFill>
                  </a:tcPr>
                </a:tc>
              </a:tr>
              <a:tr h="274319">
                <a:tc>
                  <a:txBody>
                    <a:bodyPr/>
                    <a:lstStyle/>
                    <a:p>
                      <a:r>
                        <a:rPr sz="1100" b="0">
                          <a:solidFill>
                            <a:srgbClr val="566371"/>
                          </a:solidFill>
                          <a:latin typeface="Segoe UI"/>
                        </a:rPr>
                        <a:t>2.30 – 5.00 petang</a:t>
                      </a:r>
                    </a:p>
                  </a:txBody>
                  <a:tcPr marL="63500" marR="63500" marT="25400" marB="25400">
                    <a:solidFill>
                      <a:srgbClr val="FFFFFF"/>
                    </a:solidFill>
                  </a:tcPr>
                </a:tc>
                <a:tc>
                  <a:txBody>
                    <a:bodyPr/>
                    <a:lstStyle/>
                    <a:p>
                      <a:r>
                        <a:rPr sz="1100" b="0">
                          <a:solidFill>
                            <a:srgbClr val="566371"/>
                          </a:solidFill>
                          <a:latin typeface="Segoe UI"/>
                        </a:rPr>
                        <a:t>Sesi petang (hands-on)</a:t>
                      </a:r>
                    </a:p>
                  </a:txBody>
                  <a:tcPr marL="63500" marR="63500" marT="25400" marB="25400">
                    <a:solidFill>
                      <a:srgbClr val="FFFFFF"/>
                    </a:solidFill>
                  </a:tcPr>
                </a:tc>
              </a:tr>
              <a:tr h="274324">
                <a:tc>
                  <a:txBody>
                    <a:bodyPr/>
                    <a:lstStyle/>
                    <a:p>
                      <a:r>
                        <a:rPr sz="1100" b="0">
                          <a:solidFill>
                            <a:srgbClr val="566371"/>
                          </a:solidFill>
                          <a:latin typeface="Segoe UI"/>
                        </a:rPr>
                        <a:t>5.00 petang</a:t>
                      </a:r>
                    </a:p>
                  </a:txBody>
                  <a:tcPr marL="63500" marR="63500" marT="25400" marB="25400">
                    <a:solidFill>
                      <a:srgbClr val="FFFFFF"/>
                    </a:solidFill>
                  </a:tcPr>
                </a:tc>
                <a:tc>
                  <a:txBody>
                    <a:bodyPr/>
                    <a:lstStyle/>
                    <a:p>
                      <a:r>
                        <a:rPr sz="1100" b="0">
                          <a:solidFill>
                            <a:srgbClr val="566371"/>
                          </a:solidFill>
                          <a:latin typeface="Segoe UI"/>
                        </a:rPr>
                        <a:t>Bersurai</a:t>
                      </a:r>
                    </a:p>
                  </a:txBody>
                  <a:tcPr marL="63500" marR="63500" marT="25400" marB="25400">
                    <a:solidFill>
                      <a:srgbClr val="FFFFFF"/>
                    </a:solidFill>
                  </a:tcPr>
                </a:tc>
              </a:tr>
            </a:tbl>
          </a:graphicData>
        </a:graphic>
      </p:graphicFrame>
      <p:sp>
        <p:nvSpPr>
          <p:cNvPr id="4" name="Rounded Rectangle 3"/>
          <p:cNvSpPr/>
          <p:nvPr/>
        </p:nvSpPr>
        <p:spPr>
          <a:xfrm>
            <a:off x="640080" y="2825496"/>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40080" y="2825496"/>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898648"/>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Bawa laptop yang sudah dipasang Flutter — lihat nota/04-setup-windows.md untuk panduan pemasangan.</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Tech Stack Kursus</a:t>
            </a:r>
          </a:p>
        </p:txBody>
      </p:sp>
      <p:sp>
        <p:nvSpPr>
          <p:cNvPr id="3" name="Rounded Rectangle 2"/>
          <p:cNvSpPr/>
          <p:nvPr/>
        </p:nvSpPr>
        <p:spPr>
          <a:xfrm>
            <a:off x="640080" y="1051560"/>
            <a:ext cx="3515258"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Flutter</a:t>
            </a:r>
          </a:p>
        </p:txBody>
      </p:sp>
      <p:sp>
        <p:nvSpPr>
          <p:cNvPr id="5" name="TextBox 4"/>
          <p:cNvSpPr txBox="1"/>
          <p:nvPr/>
        </p:nvSpPr>
        <p:spPr>
          <a:xfrm>
            <a:off x="768096"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Framework UI Google (Material 3) — satu kod, Android &amp; iOS.</a:t>
            </a:r>
          </a:p>
        </p:txBody>
      </p:sp>
      <p:sp>
        <p:nvSpPr>
          <p:cNvPr id="6" name="Rounded Rectangle 5"/>
          <p:cNvSpPr/>
          <p:nvPr/>
        </p:nvSpPr>
        <p:spPr>
          <a:xfrm>
            <a:off x="4338218" y="1051560"/>
            <a:ext cx="3515258"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466234"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Dart</a:t>
            </a:r>
          </a:p>
        </p:txBody>
      </p:sp>
      <p:sp>
        <p:nvSpPr>
          <p:cNvPr id="8" name="TextBox 7"/>
          <p:cNvSpPr txBox="1"/>
          <p:nvPr/>
        </p:nvSpPr>
        <p:spPr>
          <a:xfrm>
            <a:off x="4466234"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Bahasa pengaturcaraan di sebalik Flutter — moden, null-safe.</a:t>
            </a:r>
          </a:p>
        </p:txBody>
      </p:sp>
      <p:sp>
        <p:nvSpPr>
          <p:cNvPr id="9" name="Rounded Rectangle 8"/>
          <p:cNvSpPr/>
          <p:nvPr/>
        </p:nvSpPr>
        <p:spPr>
          <a:xfrm>
            <a:off x="8036356" y="1051560"/>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164372"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http</a:t>
            </a:r>
          </a:p>
        </p:txBody>
      </p:sp>
      <p:sp>
        <p:nvSpPr>
          <p:cNvPr id="11" name="TextBox 10"/>
          <p:cNvSpPr txBox="1"/>
          <p:nvPr/>
        </p:nvSpPr>
        <p:spPr>
          <a:xfrm>
            <a:off x="8164372"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Pakej panggilan REST API (Hari 4).</a:t>
            </a:r>
          </a:p>
        </p:txBody>
      </p:sp>
      <p:sp>
        <p:nvSpPr>
          <p:cNvPr id="12" name="Rounded Rectangle 11"/>
          <p:cNvSpPr/>
          <p:nvPr/>
        </p:nvSpPr>
        <p:spPr>
          <a:xfrm>
            <a:off x="640080" y="2167128"/>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8096" y="2258568"/>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intl</a:t>
            </a:r>
          </a:p>
        </p:txBody>
      </p:sp>
      <p:sp>
        <p:nvSpPr>
          <p:cNvPr id="14" name="TextBox 13"/>
          <p:cNvSpPr txBox="1"/>
          <p:nvPr/>
        </p:nvSpPr>
        <p:spPr>
          <a:xfrm>
            <a:off x="768096" y="2551176"/>
            <a:ext cx="3259226"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Format nombor/mata wang, cth. RM23,000.</a:t>
            </a:r>
          </a:p>
        </p:txBody>
      </p:sp>
      <p:sp>
        <p:nvSpPr>
          <p:cNvPr id="15" name="Rounded Rectangle 14"/>
          <p:cNvSpPr/>
          <p:nvPr/>
        </p:nvSpPr>
        <p:spPr>
          <a:xfrm>
            <a:off x="4338218" y="2167128"/>
            <a:ext cx="3515258"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466234" y="2258568"/>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setState()</a:t>
            </a:r>
          </a:p>
        </p:txBody>
      </p:sp>
      <p:sp>
        <p:nvSpPr>
          <p:cNvPr id="17" name="TextBox 16"/>
          <p:cNvSpPr txBox="1"/>
          <p:nvPr/>
        </p:nvSpPr>
        <p:spPr>
          <a:xfrm>
            <a:off x="4466234" y="2551176"/>
            <a:ext cx="3259226"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Pengurusan state yang kita guna sepanjang kursus (SESI 5).</a:t>
            </a:r>
          </a:p>
        </p:txBody>
      </p:sp>
      <p:sp>
        <p:nvSpPr>
          <p:cNvPr id="18" name="Rounded Rectangle 17"/>
          <p:cNvSpPr/>
          <p:nvPr/>
        </p:nvSpPr>
        <p:spPr>
          <a:xfrm>
            <a:off x="8036356" y="2167128"/>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164372" y="2258568"/>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provider</a:t>
            </a:r>
          </a:p>
        </p:txBody>
      </p:sp>
      <p:sp>
        <p:nvSpPr>
          <p:cNvPr id="20" name="TextBox 19"/>
          <p:cNvSpPr txBox="1"/>
          <p:nvPr/>
        </p:nvSpPr>
        <p:spPr>
          <a:xfrm>
            <a:off x="8164372" y="2551176"/>
            <a:ext cx="3259226"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Kongsi data (senarai program, permohonan) antara skrin — digunakan dalam aplikasi rujukan.</a:t>
            </a:r>
          </a:p>
        </p:txBody>
      </p:sp>
      <p:sp>
        <p:nvSpPr>
          <p:cNvPr id="21" name="TextBox 20"/>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Kenapa Flutter?</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Satu kod → Android, iOS, web, desktop</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Hot Reload — lihat perubahan &lt; 1 saat</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Widget kaya (Material 3) terbina dalam</a:t>
            </a:r>
          </a:p>
        </p:txBody>
      </p:sp>
      <p:sp>
        <p:nvSpPr>
          <p:cNvPr id="6" name="TextBox 5"/>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Prestasi hampir native (compile ke ARM)</a:t>
            </a:r>
          </a:p>
        </p:txBody>
      </p:sp>
      <p:sp>
        <p:nvSpPr>
          <p:cNvPr id="7" name="TextBox 6"/>
          <p:cNvSpPr txBox="1"/>
          <p:nvPr/>
        </p:nvSpPr>
        <p:spPr>
          <a:xfrm>
            <a:off x="804671" y="19476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Komuniti &amp; ekosistem pakej besar (pub.dev)</a:t>
            </a:r>
          </a:p>
        </p:txBody>
      </p:sp>
      <p:sp>
        <p:nvSpPr>
          <p:cNvPr id="8" name="TextBox 7"/>
          <p:cNvSpPr txBox="1"/>
          <p:nvPr/>
        </p:nvSpPr>
        <p:spPr>
          <a:xfrm>
            <a:off x="640080" y="2244852"/>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Siapa guna Flutter?</a:t>
            </a:r>
          </a:p>
        </p:txBody>
      </p:sp>
      <p:sp>
        <p:nvSpPr>
          <p:cNvPr id="9" name="TextBox 8"/>
          <p:cNvSpPr txBox="1"/>
          <p:nvPr/>
        </p:nvSpPr>
        <p:spPr>
          <a:xfrm>
            <a:off x="804671" y="262890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Google (Google Pay, Classroom)</a:t>
            </a:r>
          </a:p>
        </p:txBody>
      </p:sp>
      <p:sp>
        <p:nvSpPr>
          <p:cNvPr id="10" name="TextBox 9"/>
          <p:cNvSpPr txBox="1"/>
          <p:nvPr/>
        </p:nvSpPr>
        <p:spPr>
          <a:xfrm>
            <a:off x="804671" y="285292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BMW, Toyota</a:t>
            </a:r>
          </a:p>
        </p:txBody>
      </p:sp>
      <p:sp>
        <p:nvSpPr>
          <p:cNvPr id="11" name="TextBox 10"/>
          <p:cNvSpPr txBox="1"/>
          <p:nvPr/>
        </p:nvSpPr>
        <p:spPr>
          <a:xfrm>
            <a:off x="804671" y="307695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eBay Motors, Alibaba (Xianyu)</a:t>
            </a:r>
          </a:p>
        </p:txBody>
      </p:sp>
      <p:sp>
        <p:nvSpPr>
          <p:cNvPr id="12" name="TextBox 11"/>
          <p:cNvSpPr txBox="1"/>
          <p:nvPr/>
        </p:nvSpPr>
        <p:spPr>
          <a:xfrm>
            <a:off x="804671" y="330098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Nubank (bank digital terbesar Amerika Latin)</a:t>
            </a:r>
          </a:p>
        </p:txBody>
      </p:sp>
      <p:sp>
        <p:nvSpPr>
          <p:cNvPr id="13" name="TextBox 12"/>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Flutter vs Pilihan Lain</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2727883"/>
                <a:gridCol w="2727883"/>
                <a:gridCol w="2727883"/>
                <a:gridCol w="2727886"/>
              </a:tblGrid>
              <a:tr h="274319">
                <a:tc>
                  <a:txBody>
                    <a:bodyPr/>
                    <a:lstStyle/>
                    <a:p/>
                  </a:txBody>
                  <a:tcPr marL="63500" marR="63500" marT="25400" marB="25400">
                    <a:solidFill>
                      <a:srgbClr val="1A2B5C"/>
                    </a:solidFill>
                  </a:tcPr>
                </a:tc>
                <a:tc>
                  <a:txBody>
                    <a:bodyPr/>
                    <a:lstStyle/>
                    <a:p>
                      <a:r>
                        <a:rPr sz="1100" b="1">
                          <a:solidFill>
                            <a:srgbClr val="FFFFFF"/>
                          </a:solidFill>
                          <a:latin typeface="Segoe UI"/>
                        </a:rPr>
                        <a:t>Flutter</a:t>
                      </a:r>
                    </a:p>
                  </a:txBody>
                  <a:tcPr marL="63500" marR="63500" marT="25400" marB="25400">
                    <a:solidFill>
                      <a:srgbClr val="1A2B5C"/>
                    </a:solidFill>
                  </a:tcPr>
                </a:tc>
                <a:tc>
                  <a:txBody>
                    <a:bodyPr/>
                    <a:lstStyle/>
                    <a:p>
                      <a:r>
                        <a:rPr sz="1100" b="1">
                          <a:solidFill>
                            <a:srgbClr val="FFFFFF"/>
                          </a:solidFill>
                          <a:latin typeface="Segoe UI"/>
                        </a:rPr>
                        <a:t>React Native</a:t>
                      </a:r>
                    </a:p>
                  </a:txBody>
                  <a:tcPr marL="63500" marR="63500" marT="25400" marB="25400">
                    <a:solidFill>
                      <a:srgbClr val="1A2B5C"/>
                    </a:solidFill>
                  </a:tcPr>
                </a:tc>
                <a:tc>
                  <a:txBody>
                    <a:bodyPr/>
                    <a:lstStyle/>
                    <a:p>
                      <a:r>
                        <a:rPr sz="1100" b="1">
                          <a:solidFill>
                            <a:srgbClr val="FFFFFF"/>
                          </a:solidFill>
                          <a:latin typeface="Segoe UI"/>
                        </a:rPr>
                        <a:t>Native (Kotlin/Swift)</a:t>
                      </a:r>
                    </a:p>
                  </a:txBody>
                  <a:tcPr marL="63500" marR="63500" marT="25400" marB="25400">
                    <a:solidFill>
                      <a:srgbClr val="1A2B5C"/>
                    </a:solidFill>
                  </a:tcPr>
                </a:tc>
              </a:tr>
              <a:tr h="274319">
                <a:tc>
                  <a:txBody>
                    <a:bodyPr/>
                    <a:lstStyle/>
                    <a:p>
                      <a:r>
                        <a:rPr sz="1100" b="0">
                          <a:solidFill>
                            <a:srgbClr val="566371"/>
                          </a:solidFill>
                          <a:latin typeface="Segoe UI"/>
                        </a:rPr>
                        <a:t>Bahasa</a:t>
                      </a:r>
                    </a:p>
                  </a:txBody>
                  <a:tcPr marL="63500" marR="63500" marT="25400" marB="25400">
                    <a:solidFill>
                      <a:srgbClr val="FFFFFF"/>
                    </a:solidFill>
                  </a:tcPr>
                </a:tc>
                <a:tc>
                  <a:txBody>
                    <a:bodyPr/>
                    <a:lstStyle/>
                    <a:p>
                      <a:r>
                        <a:rPr sz="1100" b="0">
                          <a:solidFill>
                            <a:srgbClr val="566371"/>
                          </a:solidFill>
                          <a:latin typeface="Segoe UI"/>
                        </a:rPr>
                        <a:t>Dart</a:t>
                      </a:r>
                    </a:p>
                  </a:txBody>
                  <a:tcPr marL="63500" marR="63500" marT="25400" marB="25400">
                    <a:solidFill>
                      <a:srgbClr val="FFFFFF"/>
                    </a:solidFill>
                  </a:tcPr>
                </a:tc>
                <a:tc>
                  <a:txBody>
                    <a:bodyPr/>
                    <a:lstStyle/>
                    <a:p>
                      <a:r>
                        <a:rPr sz="1100" b="0">
                          <a:solidFill>
                            <a:srgbClr val="566371"/>
                          </a:solidFill>
                          <a:latin typeface="Segoe UI"/>
                        </a:rPr>
                        <a:t>JavaScript/TS</a:t>
                      </a:r>
                    </a:p>
                  </a:txBody>
                  <a:tcPr marL="63500" marR="63500" marT="25400" marB="25400">
                    <a:solidFill>
                      <a:srgbClr val="FFFFFF"/>
                    </a:solidFill>
                  </a:tcPr>
                </a:tc>
                <a:tc>
                  <a:txBody>
                    <a:bodyPr/>
                    <a:lstStyle/>
                    <a:p>
                      <a:r>
                        <a:rPr sz="1100" b="0">
                          <a:solidFill>
                            <a:srgbClr val="566371"/>
                          </a:solidFill>
                          <a:latin typeface="Segoe UI"/>
                        </a:rPr>
                        <a:t>Kotlin + Swift (2 kod)</a:t>
                      </a:r>
                    </a:p>
                  </a:txBody>
                  <a:tcPr marL="63500" marR="63500" marT="25400" marB="25400">
                    <a:solidFill>
                      <a:srgbClr val="FFFFFF"/>
                    </a:solidFill>
                  </a:tcPr>
                </a:tc>
              </a:tr>
              <a:tr h="274319">
                <a:tc>
                  <a:txBody>
                    <a:bodyPr/>
                    <a:lstStyle/>
                    <a:p>
                      <a:r>
                        <a:rPr sz="1100" b="0">
                          <a:solidFill>
                            <a:srgbClr val="566371"/>
                          </a:solidFill>
                          <a:latin typeface="Segoe UI"/>
                        </a:rPr>
                        <a:t>UI</a:t>
                      </a:r>
                    </a:p>
                  </a:txBody>
                  <a:tcPr marL="63500" marR="63500" marT="25400" marB="25400">
                    <a:solidFill>
                      <a:srgbClr val="FFFFFF"/>
                    </a:solidFill>
                  </a:tcPr>
                </a:tc>
                <a:tc>
                  <a:txBody>
                    <a:bodyPr/>
                    <a:lstStyle/>
                    <a:p>
                      <a:r>
                        <a:rPr sz="1100" b="0">
                          <a:solidFill>
                            <a:srgbClr val="566371"/>
                          </a:solidFill>
                          <a:latin typeface="Segoe UI"/>
                        </a:rPr>
                        <a:t>Widget sendiri (konsisten)</a:t>
                      </a:r>
                    </a:p>
                  </a:txBody>
                  <a:tcPr marL="63500" marR="63500" marT="25400" marB="25400">
                    <a:solidFill>
                      <a:srgbClr val="FFFFFF"/>
                    </a:solidFill>
                  </a:tcPr>
                </a:tc>
                <a:tc>
                  <a:txBody>
                    <a:bodyPr/>
                    <a:lstStyle/>
                    <a:p>
                      <a:r>
                        <a:rPr sz="1100" b="0">
                          <a:solidFill>
                            <a:srgbClr val="566371"/>
                          </a:solidFill>
                          <a:latin typeface="Segoe UI"/>
                        </a:rPr>
                        <a:t>Komponen native</a:t>
                      </a:r>
                    </a:p>
                  </a:txBody>
                  <a:tcPr marL="63500" marR="63500" marT="25400" marB="25400">
                    <a:solidFill>
                      <a:srgbClr val="FFFFFF"/>
                    </a:solidFill>
                  </a:tcPr>
                </a:tc>
                <a:tc>
                  <a:txBody>
                    <a:bodyPr/>
                    <a:lstStyle/>
                    <a:p>
                      <a:r>
                        <a:rPr sz="1100" b="0">
                          <a:solidFill>
                            <a:srgbClr val="566371"/>
                          </a:solidFill>
                          <a:latin typeface="Segoe UI"/>
                        </a:rPr>
                        <a:t>Native penuh</a:t>
                      </a:r>
                    </a:p>
                  </a:txBody>
                  <a:tcPr marL="63500" marR="63500" marT="25400" marB="25400">
                    <a:solidFill>
                      <a:srgbClr val="FFFFFF"/>
                    </a:solidFill>
                  </a:tcPr>
                </a:tc>
              </a:tr>
              <a:tr h="274319">
                <a:tc>
                  <a:txBody>
                    <a:bodyPr/>
                    <a:lstStyle/>
                    <a:p>
                      <a:r>
                        <a:rPr sz="1100" b="0">
                          <a:solidFill>
                            <a:srgbClr val="566371"/>
                          </a:solidFill>
                          <a:latin typeface="Segoe UI"/>
                        </a:rPr>
                        <a:t>Prestasi</a:t>
                      </a:r>
                    </a:p>
                  </a:txBody>
                  <a:tcPr marL="63500" marR="63500" marT="25400" marB="25400">
                    <a:solidFill>
                      <a:srgbClr val="FFFFFF"/>
                    </a:solidFill>
                  </a:tcPr>
                </a:tc>
                <a:tc>
                  <a:txBody>
                    <a:bodyPr/>
                    <a:lstStyle/>
                    <a:p>
                      <a:r>
                        <a:rPr sz="1100" b="0">
                          <a:solidFill>
                            <a:srgbClr val="566371"/>
                          </a:solidFill>
                          <a:latin typeface="Segoe UI"/>
                        </a:rPr>
                        <a:t>Hampir native</a:t>
                      </a:r>
                    </a:p>
                  </a:txBody>
                  <a:tcPr marL="63500" marR="63500" marT="25400" marB="25400">
                    <a:solidFill>
                      <a:srgbClr val="FFFFFF"/>
                    </a:solidFill>
                  </a:tcPr>
                </a:tc>
                <a:tc>
                  <a:txBody>
                    <a:bodyPr/>
                    <a:lstStyle/>
                    <a:p>
                      <a:r>
                        <a:rPr sz="1100" b="0">
                          <a:solidFill>
                            <a:srgbClr val="566371"/>
                          </a:solidFill>
                          <a:latin typeface="Segoe UI"/>
                        </a:rPr>
                        <a:t>Baik (jambatan JS)</a:t>
                      </a:r>
                    </a:p>
                  </a:txBody>
                  <a:tcPr marL="63500" marR="63500" marT="25400" marB="25400">
                    <a:solidFill>
                      <a:srgbClr val="FFFFFF"/>
                    </a:solidFill>
                  </a:tcPr>
                </a:tc>
                <a:tc>
                  <a:txBody>
                    <a:bodyPr/>
                    <a:lstStyle/>
                    <a:p>
                      <a:r>
                        <a:rPr sz="1100" b="0">
                          <a:solidFill>
                            <a:srgbClr val="566371"/>
                          </a:solidFill>
                          <a:latin typeface="Segoe UI"/>
                        </a:rPr>
                        <a:t>Terbaik</a:t>
                      </a:r>
                    </a:p>
                  </a:txBody>
                  <a:tcPr marL="63500" marR="63500" marT="25400" marB="25400">
                    <a:solidFill>
                      <a:srgbClr val="FFFFFF"/>
                    </a:solidFill>
                  </a:tcPr>
                </a:tc>
              </a:tr>
              <a:tr h="274319">
                <a:tc>
                  <a:txBody>
                    <a:bodyPr/>
                    <a:lstStyle/>
                    <a:p>
                      <a:r>
                        <a:rPr sz="1100" b="0">
                          <a:solidFill>
                            <a:srgbClr val="566371"/>
                          </a:solidFill>
                          <a:latin typeface="Segoe UI"/>
                        </a:rPr>
                        <a:t>Satu kod 2 platform</a:t>
                      </a:r>
                    </a:p>
                  </a:txBody>
                  <a:tcPr marL="63500" marR="63500" marT="25400" marB="25400">
                    <a:solidFill>
                      <a:srgbClr val="FFFFFF"/>
                    </a:solidFill>
                  </a:tcPr>
                </a:tc>
                <a:tc>
                  <a:txBody>
                    <a:bodyPr/>
                    <a:lstStyle/>
                    <a:p>
                      <a:r>
                        <a:rPr sz="1100" b="0">
                          <a:solidFill>
                            <a:srgbClr val="566371"/>
                          </a:solidFill>
                          <a:latin typeface="Segoe UI"/>
                        </a:rPr>
                        <a:t>✅</a:t>
                      </a:r>
                    </a:p>
                  </a:txBody>
                  <a:tcPr marL="63500" marR="63500" marT="25400" marB="25400">
                    <a:solidFill>
                      <a:srgbClr val="FFFFFF"/>
                    </a:solidFill>
                  </a:tcPr>
                </a:tc>
                <a:tc>
                  <a:txBody>
                    <a:bodyPr/>
                    <a:lstStyle/>
                    <a:p>
                      <a:r>
                        <a:rPr sz="1100" b="0">
                          <a:solidFill>
                            <a:srgbClr val="566371"/>
                          </a:solidFill>
                          <a:latin typeface="Segoe UI"/>
                        </a:rPr>
                        <a:t>✅</a:t>
                      </a:r>
                    </a:p>
                  </a:txBody>
                  <a:tcPr marL="63500" marR="63500" marT="25400" marB="25400">
                    <a:solidFill>
                      <a:srgbClr val="FFFFFF"/>
                    </a:solidFill>
                  </a:tcPr>
                </a:tc>
                <a:tc>
                  <a:txBody>
                    <a:bodyPr/>
                    <a:lstStyle/>
                    <a:p>
                      <a:r>
                        <a:rPr sz="1100" b="0">
                          <a:solidFill>
                            <a:srgbClr val="566371"/>
                          </a:solidFill>
                          <a:latin typeface="Segoe UI"/>
                        </a:rPr>
                        <a:t>❌</a:t>
                      </a:r>
                    </a:p>
                  </a:txBody>
                  <a:tcPr marL="63500" marR="63500" marT="25400" marB="25400">
                    <a:solidFill>
                      <a:srgbClr val="FFFFFF"/>
                    </a:solidFill>
                  </a:tcPr>
                </a:tc>
              </a:tr>
              <a:tr h="274324">
                <a:tc>
                  <a:txBody>
                    <a:bodyPr/>
                    <a:lstStyle/>
                    <a:p>
                      <a:r>
                        <a:rPr sz="1100" b="0">
                          <a:solidFill>
                            <a:srgbClr val="566371"/>
                          </a:solidFill>
                          <a:latin typeface="Segoe UI"/>
                        </a:rPr>
                        <a:t>Kos pasukan</a:t>
                      </a:r>
                    </a:p>
                  </a:txBody>
                  <a:tcPr marL="63500" marR="63500" marT="25400" marB="25400">
                    <a:solidFill>
                      <a:srgbClr val="FFFFFF"/>
                    </a:solidFill>
                  </a:tcPr>
                </a:tc>
                <a:tc>
                  <a:txBody>
                    <a:bodyPr/>
                    <a:lstStyle/>
                    <a:p>
                      <a:r>
                        <a:rPr sz="1100" b="0">
                          <a:solidFill>
                            <a:srgbClr val="566371"/>
                          </a:solidFill>
                          <a:latin typeface="Segoe UI"/>
                        </a:rPr>
                        <a:t>1 pasukan</a:t>
                      </a:r>
                    </a:p>
                  </a:txBody>
                  <a:tcPr marL="63500" marR="63500" marT="25400" marB="25400">
                    <a:solidFill>
                      <a:srgbClr val="FFFFFF"/>
                    </a:solidFill>
                  </a:tcPr>
                </a:tc>
                <a:tc>
                  <a:txBody>
                    <a:bodyPr/>
                    <a:lstStyle/>
                    <a:p>
                      <a:r>
                        <a:rPr sz="1100" b="0">
                          <a:solidFill>
                            <a:srgbClr val="566371"/>
                          </a:solidFill>
                          <a:latin typeface="Segoe UI"/>
                        </a:rPr>
                        <a:t>1 pasukan</a:t>
                      </a:r>
                    </a:p>
                  </a:txBody>
                  <a:tcPr marL="63500" marR="63500" marT="25400" marB="25400">
                    <a:solidFill>
                      <a:srgbClr val="FFFFFF"/>
                    </a:solidFill>
                  </a:tcPr>
                </a:tc>
                <a:tc>
                  <a:txBody>
                    <a:bodyPr/>
                    <a:lstStyle/>
                    <a:p>
                      <a:r>
                        <a:rPr sz="1100" b="0">
                          <a:solidFill>
                            <a:srgbClr val="566371"/>
                          </a:solidFill>
                          <a:latin typeface="Segoe UI"/>
                        </a:rPr>
                        <a:t>2 pasukan</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Asas Dart (1) — Pembolehubah &amp; Null Safety</a:t>
            </a:r>
          </a:p>
        </p:txBody>
      </p:sp>
      <p:sp>
        <p:nvSpPr>
          <p:cNvPr id="3" name="Rounded Rectangle 2"/>
          <p:cNvSpPr/>
          <p:nvPr/>
        </p:nvSpPr>
        <p:spPr>
          <a:xfrm>
            <a:off x="640080" y="1051560"/>
            <a:ext cx="10911535" cy="170078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51790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var universityName = 'Universiti Al-Azhar'; // jenis diinfer: String</a:t>
            </a:r>
          </a:p>
          <a:p>
            <a:pPr>
              <a:lnSpc>
                <a:spcPct val="100000"/>
              </a:lnSpc>
            </a:pPr>
            <a:r>
              <a:rPr sz="1100">
                <a:solidFill>
                  <a:srgbClr val="E6E8EE"/>
                </a:solidFill>
                <a:latin typeface="Consolas"/>
              </a:rPr>
              <a:t>final int quotaSeats = 40;      // sekali set, tak boleh tukar</a:t>
            </a:r>
          </a:p>
          <a:p>
            <a:pPr>
              <a:lnSpc>
                <a:spcPct val="100000"/>
              </a:lnSpc>
            </a:pPr>
            <a:r>
              <a:rPr sz="1100">
                <a:solidFill>
                  <a:srgbClr val="E6E8EE"/>
                </a:solidFill>
                <a:latin typeface="Consolas"/>
              </a:rPr>
              <a:t>const String country = 'Egypt'; // pemalar masa kompil</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String? note;                 // '?' = boleh null (null safety)</a:t>
            </a:r>
          </a:p>
          <a:p>
            <a:pPr>
              <a:lnSpc>
                <a:spcPct val="100000"/>
              </a:lnSpc>
            </a:pPr>
            <a:r>
              <a:rPr sz="1100">
                <a:solidFill>
                  <a:srgbClr val="E6E8EE"/>
                </a:solidFill>
                <a:latin typeface="Consolas"/>
              </a:rPr>
              <a:t>print(note ?? 'Tiada nota');  // '??' = nilai lalai jika null</a:t>
            </a:r>
          </a:p>
          <a:p>
            <a:pPr>
              <a:lnSpc>
                <a:spcPct val="100000"/>
              </a:lnSpc>
            </a:pPr>
            <a:r>
              <a:rPr sz="1100">
                <a:solidFill>
                  <a:srgbClr val="E6E8EE"/>
                </a:solidFill>
                <a:latin typeface="Consolas"/>
              </a:rPr>
              <a:t/>
            </a:r>
          </a:p>
        </p:txBody>
      </p:sp>
      <p:sp>
        <p:nvSpPr>
          <p:cNvPr id="5" name="TextBox 4"/>
          <p:cNvSpPr txBox="1"/>
          <p:nvPr/>
        </p:nvSpPr>
        <p:spPr>
          <a:xfrm>
            <a:off x="804671" y="28620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var infer jenis · final tetap selepas set · const pemalar kompil</a:t>
            </a:r>
          </a:p>
        </p:txBody>
      </p:sp>
      <p:sp>
        <p:nvSpPr>
          <p:cNvPr id="6" name="TextBox 5"/>
          <p:cNvSpPr txBox="1"/>
          <p:nvPr/>
        </p:nvSpPr>
        <p:spPr>
          <a:xfrm>
            <a:off x="804671" y="308610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String? boleh null; String dijamin tidak — Dart tangkap ralat null sebelum run</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Asas Dart (2) — Function</a:t>
            </a:r>
          </a:p>
        </p:txBody>
      </p:sp>
      <p:sp>
        <p:nvSpPr>
          <p:cNvPr id="3" name="Rounded Rectangle 2"/>
          <p:cNvSpPr/>
          <p:nvPr/>
        </p:nvSpPr>
        <p:spPr>
          <a:xfrm>
            <a:off x="640080" y="1051560"/>
            <a:ext cx="10911535" cy="263804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45516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Function biasa: parameter bertaip + jenis pulangan</a:t>
            </a:r>
          </a:p>
          <a:p>
            <a:pPr>
              <a:lnSpc>
                <a:spcPct val="100000"/>
              </a:lnSpc>
            </a:pPr>
            <a:r>
              <a:rPr sz="1100">
                <a:solidFill>
                  <a:srgbClr val="E6E8EE"/>
                </a:solidFill>
                <a:latin typeface="Consolas"/>
              </a:rPr>
              <a:t>int jumlahkanKuota(List&lt;int&gt; kuota) {</a:t>
            </a:r>
          </a:p>
          <a:p>
            <a:pPr>
              <a:lnSpc>
                <a:spcPct val="100000"/>
              </a:lnSpc>
            </a:pPr>
            <a:r>
              <a:rPr sz="1100">
                <a:solidFill>
                  <a:srgbClr val="E6E8EE"/>
                </a:solidFill>
                <a:latin typeface="Consolas"/>
              </a:rPr>
              <a:t>  int jumlah = 0;</a:t>
            </a:r>
          </a:p>
          <a:p>
            <a:pPr>
              <a:lnSpc>
                <a:spcPct val="100000"/>
              </a:lnSpc>
            </a:pPr>
            <a:r>
              <a:rPr sz="1100">
                <a:solidFill>
                  <a:srgbClr val="E6E8EE"/>
                </a:solidFill>
                <a:latin typeface="Consolas"/>
              </a:rPr>
              <a:t>  for (final k in kuota) {</a:t>
            </a:r>
          </a:p>
          <a:p>
            <a:pPr>
              <a:lnSpc>
                <a:spcPct val="100000"/>
              </a:lnSpc>
            </a:pPr>
            <a:r>
              <a:rPr sz="1100">
                <a:solidFill>
                  <a:srgbClr val="E6E8EE"/>
                </a:solidFill>
                <a:latin typeface="Consolas"/>
              </a:rPr>
              <a:t>    jumlah += k;</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return jumlah;</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Arrow function — badan satu ungkapan</a:t>
            </a:r>
          </a:p>
          <a:p>
            <a:pPr>
              <a:lnSpc>
                <a:spcPct val="100000"/>
              </a:lnSpc>
            </a:pPr>
            <a:r>
              <a:rPr sz="1100">
                <a:solidFill>
                  <a:srgbClr val="E6E8EE"/>
                </a:solidFill>
                <a:latin typeface="Consolas"/>
              </a:rPr>
              <a:t>double convertUsdToMyrEstimate(double usd) =&gt; usd * 4.6;</a:t>
            </a:r>
          </a:p>
          <a:p>
            <a:pPr>
              <a:lnSpc>
                <a:spcPct val="100000"/>
              </a:lnSpc>
            </a:pPr>
            <a:r>
              <a:rPr sz="1100">
                <a:solidFill>
                  <a:srgbClr val="E6E8EE"/>
                </a:solidFill>
                <a:latin typeface="Consolas"/>
              </a:rPr>
              <a:t/>
            </a:r>
          </a:p>
        </p:txBody>
      </p:sp>
      <p:sp>
        <p:nvSpPr>
          <p:cNvPr id="5" name="TextBox 4"/>
          <p:cNvSpPr txBox="1"/>
          <p:nvPr/>
        </p:nvSpPr>
        <p:spPr>
          <a:xfrm>
            <a:off x="640080" y="3799332"/>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Bentuk =&gt; (arrow) sesuai untuk function satu baris — banyak dalam kod Flutter. Kadar 4.6 = anggaran latihan sahaja, bukan kadar rasmi.</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Asas Dart (3) — Class &amp; fromJson</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class Programme {</a:t>
            </a:r>
          </a:p>
          <a:p>
            <a:pPr>
              <a:lnSpc>
                <a:spcPct val="100000"/>
              </a:lnSpc>
            </a:pPr>
            <a:r>
              <a:rPr sz="1100">
                <a:solidFill>
                  <a:srgbClr val="E6E8EE"/>
                </a:solidFill>
                <a:latin typeface="Consolas"/>
              </a:rPr>
              <a:t>  final String id;</a:t>
            </a:r>
          </a:p>
          <a:p>
            <a:pPr>
              <a:lnSpc>
                <a:spcPct val="100000"/>
              </a:lnSpc>
            </a:pPr>
            <a:r>
              <a:rPr sz="1100">
                <a:solidFill>
                  <a:srgbClr val="E6E8EE"/>
                </a:solidFill>
                <a:latin typeface="Consolas"/>
              </a:rPr>
              <a:t>  final String universityName;</a:t>
            </a:r>
          </a:p>
          <a:p>
            <a:pPr>
              <a:lnSpc>
                <a:spcPct val="100000"/>
              </a:lnSpc>
            </a:pPr>
            <a:r>
              <a:rPr sz="1100">
                <a:solidFill>
                  <a:srgbClr val="E6E8EE"/>
                </a:solidFill>
                <a:latin typeface="Consolas"/>
              </a:rPr>
              <a:t>  final double estimatedAnnualCostMyr; // anggaran latihan</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const Programme({</a:t>
            </a:r>
          </a:p>
          <a:p>
            <a:pPr>
              <a:lnSpc>
                <a:spcPct val="100000"/>
              </a:lnSpc>
            </a:pPr>
            <a:r>
              <a:rPr sz="1100">
                <a:solidFill>
                  <a:srgbClr val="E6E8EE"/>
                </a:solidFill>
                <a:latin typeface="Consolas"/>
              </a:rPr>
              <a:t>    required this.id,</a:t>
            </a:r>
          </a:p>
          <a:p>
            <a:pPr>
              <a:lnSpc>
                <a:spcPct val="100000"/>
              </a:lnSpc>
            </a:pPr>
            <a:r>
              <a:rPr sz="1100">
                <a:solidFill>
                  <a:srgbClr val="E6E8EE"/>
                </a:solidFill>
                <a:latin typeface="Consolas"/>
              </a:rPr>
              <a:t>    required this.universityName,</a:t>
            </a:r>
          </a:p>
          <a:p>
            <a:pPr>
              <a:lnSpc>
                <a:spcPct val="100000"/>
              </a:lnSpc>
            </a:pPr>
            <a:r>
              <a:rPr sz="1100">
                <a:solidFill>
                  <a:srgbClr val="E6E8EE"/>
                </a:solidFill>
                <a:latin typeface="Consolas"/>
              </a:rPr>
              <a:t>    required this.estimatedAnnualCostMyr,</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factory Programme.fromJson(Map&lt;String, dynamic&gt; json) =&gt; Programme(</a:t>
            </a:r>
          </a:p>
          <a:p>
            <a:pPr>
              <a:lnSpc>
                <a:spcPct val="100000"/>
              </a:lnSpc>
            </a:pPr>
            <a:r>
              <a:rPr sz="1100">
                <a:solidFill>
                  <a:srgbClr val="E6E8EE"/>
                </a:solidFill>
                <a:latin typeface="Consolas"/>
              </a:rPr>
              <a:t>        id: json['id'] as String,</a:t>
            </a:r>
          </a:p>
          <a:p>
            <a:pPr>
              <a:lnSpc>
                <a:spcPct val="100000"/>
              </a:lnSpc>
            </a:pPr>
            <a:r>
              <a:rPr sz="1100">
                <a:solidFill>
                  <a:srgbClr val="E6E8EE"/>
                </a:solidFill>
                <a:latin typeface="Consolas"/>
              </a:rPr>
              <a:t>        universityName: json['universityName'] as String,</a:t>
            </a:r>
          </a:p>
          <a:p>
            <a:pPr>
              <a:lnSpc>
                <a:spcPct val="100000"/>
              </a:lnSpc>
            </a:pPr>
            <a:r>
              <a:rPr sz="1100">
                <a:solidFill>
                  <a:srgbClr val="E6E8EE"/>
                </a:solidFill>
                <a:latin typeface="Consolas"/>
              </a:rPr>
              <a:t>        estimatedAnnualCostMyr:</a:t>
            </a:r>
          </a:p>
          <a:p>
            <a:pPr>
              <a:lnSpc>
                <a:spcPct val="100000"/>
              </a:lnSpc>
            </a:pPr>
            <a:r>
              <a:rPr sz="1100">
                <a:solidFill>
                  <a:srgbClr val="E6E8EE"/>
                </a:solidFill>
                <a:latin typeface="Consolas"/>
              </a:rPr>
              <a:t>            (json['estimatedAnnualCostMyr'] as num).toDouble(),</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841248"/>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Asas Dart (4) — Asynchronous: Future, async, await</a:t>
            </a:r>
          </a:p>
        </p:txBody>
      </p:sp>
      <p:sp>
        <p:nvSpPr>
          <p:cNvPr id="3" name="Rounded Rectangle 2"/>
          <p:cNvSpPr/>
          <p:nvPr/>
        </p:nvSpPr>
        <p:spPr>
          <a:xfrm>
            <a:off x="640080" y="1472184"/>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563624"/>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Future&lt;List&lt;Programme&gt;&gt; fetchProgrammes() async {</a:t>
            </a:r>
          </a:p>
          <a:p>
            <a:pPr>
              <a:lnSpc>
                <a:spcPct val="100000"/>
              </a:lnSpc>
            </a:pPr>
            <a:r>
              <a:rPr sz="1100">
                <a:solidFill>
                  <a:srgbClr val="E6E8EE"/>
                </a:solidFill>
                <a:latin typeface="Consolas"/>
              </a:rPr>
              <a:t>  final response = await http.get(Uri.parse(apiUrl));</a:t>
            </a:r>
          </a:p>
          <a:p>
            <a:pPr>
              <a:lnSpc>
                <a:spcPct val="100000"/>
              </a:lnSpc>
            </a:pPr>
            <a:r>
              <a:rPr sz="1100">
                <a:solidFill>
                  <a:srgbClr val="E6E8EE"/>
                </a:solidFill>
                <a:latin typeface="Consolas"/>
              </a:rPr>
              <a:t>  final List data = jsonDecode(response.body) as List;</a:t>
            </a:r>
          </a:p>
          <a:p>
            <a:pPr>
              <a:lnSpc>
                <a:spcPct val="100000"/>
              </a:lnSpc>
            </a:pPr>
            <a:r>
              <a:rPr sz="1100">
                <a:solidFill>
                  <a:srgbClr val="E6E8EE"/>
                </a:solidFill>
                <a:latin typeface="Consolas"/>
              </a:rPr>
              <a:t>  return data</a:t>
            </a:r>
          </a:p>
          <a:p>
            <a:pPr>
              <a:lnSpc>
                <a:spcPct val="100000"/>
              </a:lnSpc>
            </a:pPr>
            <a:r>
              <a:rPr sz="1100">
                <a:solidFill>
                  <a:srgbClr val="E6E8EE"/>
                </a:solidFill>
                <a:latin typeface="Consolas"/>
              </a:rPr>
              <a:t>      .map((j) =&gt; Programme.fromJson(j as Map&lt;String, dynamic&gt;))</a:t>
            </a:r>
          </a:p>
          <a:p>
            <a:pPr>
              <a:lnSpc>
                <a:spcPct val="100000"/>
              </a:lnSpc>
            </a:pPr>
            <a:r>
              <a:rPr sz="1100">
                <a:solidFill>
                  <a:srgbClr val="E6E8EE"/>
                </a:solidFill>
                <a:latin typeface="Consolas"/>
              </a:rPr>
              <a:t>      .toList();</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347014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Future = "nilai yang akan tiba nanti" (cth. balasan API)</a:t>
            </a:r>
          </a:p>
        </p:txBody>
      </p:sp>
      <p:sp>
        <p:nvSpPr>
          <p:cNvPr id="6" name="TextBox 5"/>
          <p:cNvSpPr txBox="1"/>
          <p:nvPr/>
        </p:nvSpPr>
        <p:spPr>
          <a:xfrm>
            <a:off x="804671" y="369417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await tunggu tanpa membekukan UI</a:t>
            </a:r>
          </a:p>
        </p:txBody>
      </p:sp>
      <p:sp>
        <p:nvSpPr>
          <p:cNvPr id="7" name="TextBox 6"/>
          <p:cNvSpPr txBox="1"/>
          <p:nvPr/>
        </p:nvSpPr>
        <p:spPr>
          <a:xfrm>
            <a:off x="640080" y="3991356"/>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Diterangkan penuh pada Hari 4 (SESI 6) — hari ini cukup kenal bentuknya.</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Domain Kursus — e-Timur Tengah (eTT)</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Sistem sebenar Bahagian Pengantarabangsaan Pendidikan Tinggi (BPPT), JPT, KPT — sejak 2014</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Pelajar Malaysia memohon ke universiti di Mesir 🇪🇬 &amp; Maghribi 🇲🇦</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Terbuka kepada lepasan SPM &amp; STAM</a:t>
            </a:r>
          </a:p>
        </p:txBody>
      </p:sp>
      <p:sp>
        <p:nvSpPr>
          <p:cNvPr id="6" name="TextBox 5"/>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Bidang terhad: Perubatan, Pergigian, Farmasi, Pengajian Islam / Syariah / Usuluddin / Bahasa Arab / Qiraat</a:t>
            </a:r>
          </a:p>
        </p:txBody>
      </p:sp>
      <p:sp>
        <p:nvSpPr>
          <p:cNvPr id="7" name="TextBox 6"/>
          <p:cNvSpPr txBox="1"/>
          <p:nvPr/>
        </p:nvSpPr>
        <p:spPr>
          <a:xfrm>
            <a:off x="804671" y="19476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Keputusan saringan guna istilah sebenar: LAYAK TIDAK LAYAK</a:t>
            </a:r>
          </a:p>
        </p:txBody>
      </p:sp>
      <p:sp>
        <p:nvSpPr>
          <p:cNvPr id="8" name="TextBox 7"/>
          <p:cNvSpPr txBox="1"/>
          <p:nvPr/>
        </p:nvSpPr>
        <p:spPr>
          <a:xfrm>
            <a:off x="640080" y="2244852"/>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Peraturan sebenar</a:t>
            </a:r>
          </a:p>
        </p:txBody>
      </p:sp>
      <p:sp>
        <p:nvSpPr>
          <p:cNvPr id="9" name="TextBox 8"/>
          <p:cNvSpPr txBox="1"/>
          <p:nvPr/>
        </p:nvSpPr>
        <p:spPr>
          <a:xfrm>
            <a:off x="640080" y="262890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SATU negara + SATU bidang setiap permohonan; sehingga 3 pilihan universiti dalam bidang itu.</a:t>
            </a:r>
          </a:p>
        </p:txBody>
      </p:sp>
      <p:sp>
        <p:nvSpPr>
          <p:cNvPr id="10" name="TextBox 9"/>
          <p:cNvSpPr txBox="1"/>
          <p:nvPr/>
        </p:nvSpPr>
        <p:spPr>
          <a:xfrm>
            <a:off x="640080" y="2948940"/>
            <a:ext cx="10911535" cy="292608"/>
          </a:xfrm>
          <a:prstGeom prst="rect">
            <a:avLst/>
          </a:prstGeom>
          <a:noFill/>
        </p:spPr>
        <p:txBody>
          <a:bodyPr wrap="square" anchor="t" lIns="38100" rIns="38100" tIns="25400" bIns="25400">
            <a:spAutoFit/>
          </a:bodyPr>
          <a:lstStyle/>
          <a:p>
            <a:pPr algn="l">
              <a:lnSpc>
                <a:spcPct val="105000"/>
              </a:lnSpc>
            </a:pPr>
            <a:r>
              <a:rPr sz="1200" b="1">
                <a:solidFill>
                  <a:srgbClr val="1A2B5C"/>
                </a:solidFill>
                <a:latin typeface="Segoe UI"/>
              </a:rPr>
              <a:t>[ LAYAK ]   [ TIDAK LAYAK ]</a:t>
            </a:r>
          </a:p>
        </p:txBody>
      </p:sp>
      <p:sp>
        <p:nvSpPr>
          <p:cNvPr id="11" name="TextBox 10"/>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Universiti Dalam Data Kursus</a:t>
            </a:r>
          </a:p>
        </p:txBody>
      </p:sp>
      <p:graphicFrame>
        <p:nvGraphicFramePr>
          <p:cNvPr id="3" name="Table 2"/>
          <p:cNvGraphicFramePr>
            <a:graphicFrameLocks noGrp="1"/>
          </p:cNvGraphicFramePr>
          <p:nvPr/>
        </p:nvGraphicFramePr>
        <p:xfrm>
          <a:off x="640080" y="1051560"/>
          <a:ext cx="10911535" cy="219456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r>
                        <a:rPr sz="1100" b="1">
                          <a:solidFill>
                            <a:srgbClr val="FFFFFF"/>
                          </a:solidFill>
                          <a:latin typeface="Segoe UI"/>
                        </a:rPr>
                        <a:t>Universiti</a:t>
                      </a:r>
                    </a:p>
                  </a:txBody>
                  <a:tcPr marL="63500" marR="63500" marT="25400" marB="25400">
                    <a:solidFill>
                      <a:srgbClr val="1A2B5C"/>
                    </a:solidFill>
                  </a:tcPr>
                </a:tc>
                <a:tc>
                  <a:txBody>
                    <a:bodyPr/>
                    <a:lstStyle/>
                    <a:p>
                      <a:r>
                        <a:rPr sz="1100" b="1">
                          <a:solidFill>
                            <a:srgbClr val="FFFFFF"/>
                          </a:solidFill>
                          <a:latin typeface="Segoe UI"/>
                        </a:rPr>
                        <a:t>Bandar</a:t>
                      </a:r>
                    </a:p>
                  </a:txBody>
                  <a:tcPr marL="63500" marR="63500" marT="25400" marB="25400">
                    <a:solidFill>
                      <a:srgbClr val="1A2B5C"/>
                    </a:solidFill>
                  </a:tcPr>
                </a:tc>
                <a:tc>
                  <a:txBody>
                    <a:bodyPr/>
                    <a:lstStyle/>
                    <a:p>
                      <a:r>
                        <a:rPr sz="1100" b="1">
                          <a:solidFill>
                            <a:srgbClr val="FFFFFF"/>
                          </a:solidFill>
                          <a:latin typeface="Segoe UI"/>
                        </a:rPr>
                        <a:t>Contoh bidang (eTT)</a:t>
                      </a:r>
                    </a:p>
                  </a:txBody>
                  <a:tcPr marL="63500" marR="63500" marT="25400" marB="25400">
                    <a:solidFill>
                      <a:srgbClr val="1A2B5C"/>
                    </a:solidFill>
                  </a:tcPr>
                </a:tc>
              </a:tr>
              <a:tr h="274320">
                <a:tc>
                  <a:txBody>
                    <a:bodyPr/>
                    <a:lstStyle/>
                    <a:p>
                      <a:r>
                        <a:rPr sz="1100" b="0">
                          <a:solidFill>
                            <a:srgbClr val="566371"/>
                          </a:solidFill>
                          <a:latin typeface="Segoe UI"/>
                        </a:rPr>
                        <a:t>🇪🇬 Universiti Al-Azhar</a:t>
                      </a:r>
                    </a:p>
                  </a:txBody>
                  <a:tcPr marL="63500" marR="63500" marT="25400" marB="25400">
                    <a:solidFill>
                      <a:srgbClr val="FFFFFF"/>
                    </a:solidFill>
                  </a:tcPr>
                </a:tc>
                <a:tc>
                  <a:txBody>
                    <a:bodyPr/>
                    <a:lstStyle/>
                    <a:p>
                      <a:r>
                        <a:rPr sz="1100" b="0">
                          <a:solidFill>
                            <a:srgbClr val="566371"/>
                          </a:solidFill>
                          <a:latin typeface="Segoe UI"/>
                        </a:rPr>
                        <a:t>Kaherah (Cairo)</a:t>
                      </a:r>
                    </a:p>
                  </a:txBody>
                  <a:tcPr marL="63500" marR="63500" marT="25400" marB="25400">
                    <a:solidFill>
                      <a:srgbClr val="FFFFFF"/>
                    </a:solidFill>
                  </a:tcPr>
                </a:tc>
                <a:tc>
                  <a:txBody>
                    <a:bodyPr/>
                    <a:lstStyle/>
                    <a:p>
                      <a:r>
                        <a:rPr sz="1100" b="0">
                          <a:solidFill>
                            <a:srgbClr val="566371"/>
                          </a:solidFill>
                          <a:latin typeface="Segoe UI"/>
                        </a:rPr>
                        <a:t>Perubatan, Ulum Islamiah (SPM); Syariah, Usuluddin, Bahasa Arab (STAM)</a:t>
                      </a:r>
                    </a:p>
                  </a:txBody>
                  <a:tcPr marL="63500" marR="63500" marT="25400" marB="25400">
                    <a:solidFill>
                      <a:srgbClr val="FFFFFF"/>
                    </a:solidFill>
                  </a:tcPr>
                </a:tc>
              </a:tr>
              <a:tr h="274320">
                <a:tc>
                  <a:txBody>
                    <a:bodyPr/>
                    <a:lstStyle/>
                    <a:p>
                      <a:r>
                        <a:rPr sz="1100" b="0">
                          <a:solidFill>
                            <a:srgbClr val="566371"/>
                          </a:solidFill>
                          <a:latin typeface="Segoe UI"/>
                        </a:rPr>
                        <a:t>🇪🇬 Universiti Alexandria</a:t>
                      </a:r>
                    </a:p>
                  </a:txBody>
                  <a:tcPr marL="63500" marR="63500" marT="25400" marB="25400">
                    <a:solidFill>
                      <a:srgbClr val="FFFFFF"/>
                    </a:solidFill>
                  </a:tcPr>
                </a:tc>
                <a:tc>
                  <a:txBody>
                    <a:bodyPr/>
                    <a:lstStyle/>
                    <a:p>
                      <a:r>
                        <a:rPr sz="1100" b="0">
                          <a:solidFill>
                            <a:srgbClr val="566371"/>
                          </a:solidFill>
                          <a:latin typeface="Segoe UI"/>
                        </a:rPr>
                        <a:t>Iskandariah</a:t>
                      </a:r>
                    </a:p>
                  </a:txBody>
                  <a:tcPr marL="63500" marR="63500" marT="25400" marB="25400">
                    <a:solidFill>
                      <a:srgbClr val="FFFFFF"/>
                    </a:solidFill>
                  </a:tcPr>
                </a:tc>
                <a:tc>
                  <a:txBody>
                    <a:bodyPr/>
                    <a:lstStyle/>
                    <a:p>
                      <a:r>
                        <a:rPr sz="1100" b="0">
                          <a:solidFill>
                            <a:srgbClr val="566371"/>
                          </a:solidFill>
                          <a:latin typeface="Segoe UI"/>
                        </a:rPr>
                        <a:t>Perubatan, Pergigian, Farmasi</a:t>
                      </a:r>
                    </a:p>
                  </a:txBody>
                  <a:tcPr marL="63500" marR="63500" marT="25400" marB="25400">
                    <a:solidFill>
                      <a:srgbClr val="FFFFFF"/>
                    </a:solidFill>
                  </a:tcPr>
                </a:tc>
              </a:tr>
              <a:tr h="274320">
                <a:tc>
                  <a:txBody>
                    <a:bodyPr/>
                    <a:lstStyle/>
                    <a:p>
                      <a:r>
                        <a:rPr sz="1100" b="0">
                          <a:solidFill>
                            <a:srgbClr val="566371"/>
                          </a:solidFill>
                          <a:latin typeface="Segoe UI"/>
                        </a:rPr>
                        <a:t>🇪🇬 Universiti Ain Shams</a:t>
                      </a:r>
                    </a:p>
                  </a:txBody>
                  <a:tcPr marL="63500" marR="63500" marT="25400" marB="25400">
                    <a:solidFill>
                      <a:srgbClr val="FFFFFF"/>
                    </a:solidFill>
                  </a:tcPr>
                </a:tc>
                <a:tc>
                  <a:txBody>
                    <a:bodyPr/>
                    <a:lstStyle/>
                    <a:p>
                      <a:r>
                        <a:rPr sz="1100" b="0">
                          <a:solidFill>
                            <a:srgbClr val="566371"/>
                          </a:solidFill>
                          <a:latin typeface="Segoe UI"/>
                        </a:rPr>
                        <a:t>Kaherah</a:t>
                      </a:r>
                    </a:p>
                  </a:txBody>
                  <a:tcPr marL="63500" marR="63500" marT="25400" marB="25400">
                    <a:solidFill>
                      <a:srgbClr val="FFFFFF"/>
                    </a:solidFill>
                  </a:tcPr>
                </a:tc>
                <a:tc>
                  <a:txBody>
                    <a:bodyPr/>
                    <a:lstStyle/>
                    <a:p>
                      <a:r>
                        <a:rPr sz="1100" b="0">
                          <a:solidFill>
                            <a:srgbClr val="566371"/>
                          </a:solidFill>
                          <a:latin typeface="Segoe UI"/>
                        </a:rPr>
                        <a:t>Perubatan</a:t>
                      </a:r>
                    </a:p>
                  </a:txBody>
                  <a:tcPr marL="63500" marR="63500" marT="25400" marB="25400">
                    <a:solidFill>
                      <a:srgbClr val="FFFFFF"/>
                    </a:solidFill>
                  </a:tcPr>
                </a:tc>
              </a:tr>
              <a:tr h="274320">
                <a:tc>
                  <a:txBody>
                    <a:bodyPr/>
                    <a:lstStyle/>
                    <a:p>
                      <a:r>
                        <a:rPr sz="1100" b="0">
                          <a:solidFill>
                            <a:srgbClr val="566371"/>
                          </a:solidFill>
                          <a:latin typeface="Segoe UI"/>
                        </a:rPr>
                        <a:t>🇪🇬 Universiti Mansoura</a:t>
                      </a:r>
                    </a:p>
                  </a:txBody>
                  <a:tcPr marL="63500" marR="63500" marT="25400" marB="25400">
                    <a:solidFill>
                      <a:srgbClr val="FFFFFF"/>
                    </a:solidFill>
                  </a:tcPr>
                </a:tc>
                <a:tc>
                  <a:txBody>
                    <a:bodyPr/>
                    <a:lstStyle/>
                    <a:p>
                      <a:r>
                        <a:rPr sz="1100" b="0">
                          <a:solidFill>
                            <a:srgbClr val="566371"/>
                          </a:solidFill>
                          <a:latin typeface="Segoe UI"/>
                        </a:rPr>
                        <a:t>Mansoura</a:t>
                      </a:r>
                    </a:p>
                  </a:txBody>
                  <a:tcPr marL="63500" marR="63500" marT="25400" marB="25400">
                    <a:solidFill>
                      <a:srgbClr val="FFFFFF"/>
                    </a:solidFill>
                  </a:tcPr>
                </a:tc>
                <a:tc>
                  <a:txBody>
                    <a:bodyPr/>
                    <a:lstStyle/>
                    <a:p>
                      <a:r>
                        <a:rPr sz="1100" b="0">
                          <a:solidFill>
                            <a:srgbClr val="566371"/>
                          </a:solidFill>
                          <a:latin typeface="Segoe UI"/>
                        </a:rPr>
                        <a:t>Perubatan, Farmasi</a:t>
                      </a:r>
                    </a:p>
                  </a:txBody>
                  <a:tcPr marL="63500" marR="63500" marT="25400" marB="25400">
                    <a:solidFill>
                      <a:srgbClr val="FFFFFF"/>
                    </a:solidFill>
                  </a:tcPr>
                </a:tc>
              </a:tr>
              <a:tr h="274320">
                <a:tc>
                  <a:txBody>
                    <a:bodyPr/>
                    <a:lstStyle/>
                    <a:p>
                      <a:r>
                        <a:rPr sz="1100" b="0">
                          <a:solidFill>
                            <a:srgbClr val="566371"/>
                          </a:solidFill>
                          <a:latin typeface="Segoe UI"/>
                        </a:rPr>
                        <a:t>🇪🇬 Universiti Tanta</a:t>
                      </a:r>
                    </a:p>
                  </a:txBody>
                  <a:tcPr marL="63500" marR="63500" marT="25400" marB="25400">
                    <a:solidFill>
                      <a:srgbClr val="FFFFFF"/>
                    </a:solidFill>
                  </a:tcPr>
                </a:tc>
                <a:tc>
                  <a:txBody>
                    <a:bodyPr/>
                    <a:lstStyle/>
                    <a:p>
                      <a:r>
                        <a:rPr sz="1100" b="0">
                          <a:solidFill>
                            <a:srgbClr val="566371"/>
                          </a:solidFill>
                          <a:latin typeface="Segoe UI"/>
                        </a:rPr>
                        <a:t>Tanta</a:t>
                      </a:r>
                    </a:p>
                  </a:txBody>
                  <a:tcPr marL="63500" marR="63500" marT="25400" marB="25400">
                    <a:solidFill>
                      <a:srgbClr val="FFFFFF"/>
                    </a:solidFill>
                  </a:tcPr>
                </a:tc>
                <a:tc>
                  <a:txBody>
                    <a:bodyPr/>
                    <a:lstStyle/>
                    <a:p>
                      <a:r>
                        <a:rPr sz="1100" b="0">
                          <a:solidFill>
                            <a:srgbClr val="566371"/>
                          </a:solidFill>
                          <a:latin typeface="Segoe UI"/>
                        </a:rPr>
                        <a:t>Perubatan, Pergigian</a:t>
                      </a:r>
                    </a:p>
                  </a:txBody>
                  <a:tcPr marL="63500" marR="63500" marT="25400" marB="25400">
                    <a:solidFill>
                      <a:srgbClr val="FFFFFF"/>
                    </a:solidFill>
                  </a:tcPr>
                </a:tc>
              </a:tr>
              <a:tr h="274320">
                <a:tc>
                  <a:txBody>
                    <a:bodyPr/>
                    <a:lstStyle/>
                    <a:p>
                      <a:r>
                        <a:rPr sz="1100" b="0">
                          <a:solidFill>
                            <a:srgbClr val="566371"/>
                          </a:solidFill>
                          <a:latin typeface="Segoe UI"/>
                        </a:rPr>
                        <a:t>🇲🇦 Universite Al Quaraouiyine</a:t>
                      </a:r>
                    </a:p>
                  </a:txBody>
                  <a:tcPr marL="63500" marR="63500" marT="25400" marB="25400">
                    <a:solidFill>
                      <a:srgbClr val="FFFFFF"/>
                    </a:solidFill>
                  </a:tcPr>
                </a:tc>
                <a:tc>
                  <a:txBody>
                    <a:bodyPr/>
                    <a:lstStyle/>
                    <a:p>
                      <a:r>
                        <a:rPr sz="1100" b="0">
                          <a:solidFill>
                            <a:srgbClr val="566371"/>
                          </a:solidFill>
                          <a:latin typeface="Segoe UI"/>
                        </a:rPr>
                        <a:t>Fes</a:t>
                      </a:r>
                    </a:p>
                  </a:txBody>
                  <a:tcPr marL="63500" marR="63500" marT="25400" marB="25400">
                    <a:solidFill>
                      <a:srgbClr val="FFFFFF"/>
                    </a:solidFill>
                  </a:tcPr>
                </a:tc>
                <a:tc>
                  <a:txBody>
                    <a:bodyPr/>
                    <a:lstStyle/>
                    <a:p>
                      <a:r>
                        <a:rPr sz="1100" b="0">
                          <a:solidFill>
                            <a:srgbClr val="566371"/>
                          </a:solidFill>
                          <a:latin typeface="Segoe UI"/>
                        </a:rPr>
                        <a:t>Syariah/Usuluddin — universiti tertua di dunia (859M)</a:t>
                      </a:r>
                    </a:p>
                  </a:txBody>
                  <a:tcPr marL="63500" marR="63500" marT="25400" marB="25400">
                    <a:solidFill>
                      <a:srgbClr val="FFFFFF"/>
                    </a:solidFill>
                  </a:tcPr>
                </a:tc>
              </a:tr>
              <a:tr h="274320">
                <a:tc>
                  <a:txBody>
                    <a:bodyPr/>
                    <a:lstStyle/>
                    <a:p>
                      <a:r>
                        <a:rPr sz="1100" b="0">
                          <a:solidFill>
                            <a:srgbClr val="566371"/>
                          </a:solidFill>
                          <a:latin typeface="Segoe UI"/>
                        </a:rPr>
                        <a:t>🇲🇦 Universiti Mohammed V</a:t>
                      </a:r>
                    </a:p>
                  </a:txBody>
                  <a:tcPr marL="63500" marR="63500" marT="25400" marB="25400">
                    <a:solidFill>
                      <a:srgbClr val="FFFFFF"/>
                    </a:solidFill>
                  </a:tcPr>
                </a:tc>
                <a:tc>
                  <a:txBody>
                    <a:bodyPr/>
                    <a:lstStyle/>
                    <a:p>
                      <a:r>
                        <a:rPr sz="1100" b="0">
                          <a:solidFill>
                            <a:srgbClr val="566371"/>
                          </a:solidFill>
                          <a:latin typeface="Segoe UI"/>
                        </a:rPr>
                        <a:t>Rabat</a:t>
                      </a:r>
                    </a:p>
                  </a:txBody>
                  <a:tcPr marL="63500" marR="63500" marT="25400" marB="25400">
                    <a:solidFill>
                      <a:srgbClr val="FFFFFF"/>
                    </a:solidFill>
                  </a:tcPr>
                </a:tc>
                <a:tc>
                  <a:txBody>
                    <a:bodyPr/>
                    <a:lstStyle/>
                    <a:p>
                      <a:r>
                        <a:rPr sz="1100" b="0">
                          <a:solidFill>
                            <a:srgbClr val="566371"/>
                          </a:solidFill>
                          <a:latin typeface="Segoe UI"/>
                        </a:rPr>
                        <a:t>pemadanan bidang ilustrasi latihan</a:t>
                      </a:r>
                    </a:p>
                  </a:txBody>
                  <a:tcPr marL="63500" marR="63500" marT="25400" marB="25400">
                    <a:solidFill>
                      <a:srgbClr val="FFFFFF"/>
                    </a:solidFill>
                  </a:tcPr>
                </a:tc>
              </a:tr>
            </a:tbl>
          </a:graphicData>
        </a:graphic>
      </p:graphicFrame>
      <p:sp>
        <p:nvSpPr>
          <p:cNvPr id="4" name="TextBox 3"/>
          <p:cNvSpPr txBox="1"/>
          <p:nvPr/>
        </p:nvSpPr>
        <p:spPr>
          <a:xfrm>
            <a:off x="640080" y="3374136"/>
            <a:ext cx="10911535" cy="493776"/>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Laluan Maghribi: biasiswa kerajaan, 15 tempat (angka rasmi); penempatan ditentukan kerajaan Maghribi. Kos &amp; kuota lain dalam data kursus adalah anggaran latihan.</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Aplikasi Yang Kita Bina — eTT Mobile</a:t>
            </a:r>
          </a:p>
        </p:txBody>
      </p:sp>
      <p:sp>
        <p:nvSpPr>
          <p:cNvPr id="3" name="TextBox 2"/>
          <p:cNvSpPr txBox="1"/>
          <p:nvPr/>
        </p:nvSpPr>
        <p:spPr>
          <a:xfrm>
            <a:off x="731519" y="1051560"/>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1.  Semak imbas program — 8 tawaran (universiti + bidang) Mesir/Maghribi, tapis ikut negara &amp; kategori</a:t>
            </a:r>
          </a:p>
        </p:txBody>
      </p:sp>
      <p:sp>
        <p:nvSpPr>
          <p:cNvPr id="4" name="TextBox 3"/>
          <p:cNvSpPr txBox="1"/>
          <p:nvPr/>
        </p:nvSpPr>
        <p:spPr>
          <a:xfrm>
            <a:off x="731519" y="1289304"/>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2.  Butiran program — kelayakan SPM/STAM, anggaran kos RM, kuota, bulan pengambilan</a:t>
            </a:r>
          </a:p>
        </p:txBody>
      </p:sp>
      <p:sp>
        <p:nvSpPr>
          <p:cNvPr id="5" name="TextBox 4"/>
          <p:cNvSpPr txBox="1"/>
          <p:nvPr/>
        </p:nvSpPr>
        <p:spPr>
          <a:xfrm>
            <a:off x="731519" y="1527048"/>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3.  Mohon — borang permohonan: 1 negara + 1 bidang + sehingga 3 pilihan universiti</a:t>
            </a:r>
          </a:p>
        </p:txBody>
      </p:sp>
      <p:sp>
        <p:nvSpPr>
          <p:cNvPr id="6" name="TextBox 5"/>
          <p:cNvSpPr txBox="1"/>
          <p:nvPr/>
        </p:nvSpPr>
        <p:spPr>
          <a:xfrm>
            <a:off x="731519" y="1764792"/>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4.  Jejak status — Permohonan Saya: draf → dihantar → LAYAK/TIDAK LAYAK → tawaran</a:t>
            </a:r>
          </a:p>
        </p:txBody>
      </p:sp>
      <p:sp>
        <p:nvSpPr>
          <p:cNvPr id="7" name="Rounded Rectangle 6"/>
          <p:cNvSpPr/>
          <p:nvPr/>
        </p:nvSpPr>
        <p:spPr>
          <a:xfrm>
            <a:off x="640080" y="2075688"/>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40080" y="2075688"/>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148840"/>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3 tab utama: Program · Permohonan Saya · Profil — plus Drawer pilihan negara (Mesir/Maghribi).</a:t>
            </a:r>
          </a:p>
        </p:txBody>
      </p:sp>
      <p:sp>
        <p:nvSpPr>
          <p:cNvPr id="10" name="TextBox 9"/>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Entiti Utama — Programme</a:t>
            </a:r>
          </a:p>
        </p:txBody>
      </p:sp>
      <p:sp>
        <p:nvSpPr>
          <p:cNvPr id="3" name="Rounded Rectangle 2"/>
          <p:cNvSpPr/>
          <p:nvPr/>
        </p:nvSpPr>
        <p:spPr>
          <a:xfrm>
            <a:off x="640080" y="1051560"/>
            <a:ext cx="10911535" cy="338785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204972"/>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enum StudyLevel { foundation, diploma, bachelor }</a:t>
            </a:r>
          </a:p>
          <a:p>
            <a:pPr>
              <a:lnSpc>
                <a:spcPct val="100000"/>
              </a:lnSpc>
            </a:pPr>
            <a:r>
              <a:rPr sz="1100">
                <a:solidFill>
                  <a:srgbClr val="E6E8EE"/>
                </a:solidFill>
                <a:latin typeface="Consolas"/>
              </a:rPr>
              <a:t>enum EntryCategory { spm, stam, both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class Programme {</a:t>
            </a:r>
          </a:p>
          <a:p>
            <a:pPr>
              <a:lnSpc>
                <a:spcPct val="100000"/>
              </a:lnSpc>
            </a:pPr>
            <a:r>
              <a:rPr sz="1100">
                <a:solidFill>
                  <a:srgbClr val="E6E8EE"/>
                </a:solidFill>
                <a:latin typeface="Consolas"/>
              </a:rPr>
              <a:t>  final String id;              // "ETT-001"</a:t>
            </a:r>
          </a:p>
          <a:p>
            <a:pPr>
              <a:lnSpc>
                <a:spcPct val="100000"/>
              </a:lnSpc>
            </a:pPr>
            <a:r>
              <a:rPr sz="1100">
                <a:solidFill>
                  <a:srgbClr val="E6E8EE"/>
                </a:solidFill>
                <a:latin typeface="Consolas"/>
              </a:rPr>
              <a:t>  final String universityName;  // "Universiti Al-Azhar"</a:t>
            </a:r>
          </a:p>
          <a:p>
            <a:pPr>
              <a:lnSpc>
                <a:spcPct val="100000"/>
              </a:lnSpc>
            </a:pPr>
            <a:r>
              <a:rPr sz="1100">
                <a:solidFill>
                  <a:srgbClr val="E6E8EE"/>
                </a:solidFill>
                <a:latin typeface="Consolas"/>
              </a:rPr>
              <a:t>  final String country;         // "Egypt" | "Morocco"</a:t>
            </a:r>
          </a:p>
          <a:p>
            <a:pPr>
              <a:lnSpc>
                <a:spcPct val="100000"/>
              </a:lnSpc>
            </a:pPr>
            <a:r>
              <a:rPr sz="1100">
                <a:solidFill>
                  <a:srgbClr val="E6E8EE"/>
                </a:solidFill>
                <a:latin typeface="Consolas"/>
              </a:rPr>
              <a:t>  final String city;            // "Kaherah (Cairo)"</a:t>
            </a:r>
          </a:p>
          <a:p>
            <a:pPr>
              <a:lnSpc>
                <a:spcPct val="100000"/>
              </a:lnSpc>
            </a:pPr>
            <a:r>
              <a:rPr sz="1100">
                <a:solidFill>
                  <a:srgbClr val="E6E8EE"/>
                </a:solidFill>
                <a:latin typeface="Consolas"/>
              </a:rPr>
              <a:t>  final String fieldOfStudy;    // "Perubatan (Medicine)"</a:t>
            </a:r>
          </a:p>
          <a:p>
            <a:pPr>
              <a:lnSpc>
                <a:spcPct val="100000"/>
              </a:lnSpc>
            </a:pPr>
            <a:r>
              <a:rPr sz="1100">
                <a:solidFill>
                  <a:srgbClr val="E6E8EE"/>
                </a:solidFill>
                <a:latin typeface="Consolas"/>
              </a:rPr>
              <a:t>  final StudyLevel studyLevel;</a:t>
            </a:r>
          </a:p>
          <a:p>
            <a:pPr>
              <a:lnSpc>
                <a:spcPct val="100000"/>
              </a:lnSpc>
            </a:pPr>
            <a:r>
              <a:rPr sz="1100">
                <a:solidFill>
                  <a:srgbClr val="E6E8EE"/>
                </a:solidFill>
                <a:latin typeface="Consolas"/>
              </a:rPr>
              <a:t>  final EntryCategory category; // sijil yang layak memohon</a:t>
            </a:r>
          </a:p>
          <a:p>
            <a:pPr>
              <a:lnSpc>
                <a:spcPct val="100000"/>
              </a:lnSpc>
            </a:pPr>
            <a:r>
              <a:rPr sz="1100">
                <a:solidFill>
                  <a:srgbClr val="E6E8EE"/>
                </a:solidFill>
                <a:latin typeface="Consolas"/>
              </a:rPr>
              <a:t>  final double estimatedAnnualCostMyr; // anggaran latihan</a:t>
            </a:r>
          </a:p>
          <a:p>
            <a:pPr>
              <a:lnSpc>
                <a:spcPct val="100000"/>
              </a:lnSpc>
            </a:pPr>
            <a:r>
              <a:rPr sz="1100">
                <a:solidFill>
                  <a:srgbClr val="E6E8EE"/>
                </a:solidFill>
                <a:latin typeface="Consolas"/>
              </a:rPr>
              <a:t>  final String intakeMonth;     // "September"</a:t>
            </a:r>
          </a:p>
          <a:p>
            <a:pPr>
              <a:lnSpc>
                <a:spcPct val="100000"/>
              </a:lnSpc>
            </a:pPr>
            <a:r>
              <a:rPr sz="1100">
                <a:solidFill>
                  <a:srgbClr val="E6E8EE"/>
                </a:solidFill>
                <a:latin typeface="Consolas"/>
              </a:rPr>
              <a:t>  final int quotaSeats;         // anggaran (Maghribi: 15, rasmi)</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Entiti Application &amp; Kitaran Status</a:t>
            </a:r>
          </a:p>
        </p:txBody>
      </p:sp>
      <p:sp>
        <p:nvSpPr>
          <p:cNvPr id="3" name="Rounded Rectangle 2"/>
          <p:cNvSpPr/>
          <p:nvPr/>
        </p:nvSpPr>
        <p:spPr>
          <a:xfrm>
            <a:off x="640080" y="1051560"/>
            <a:ext cx="10911535" cy="226314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080260"/>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class Application {</a:t>
            </a:r>
          </a:p>
          <a:p>
            <a:pPr>
              <a:lnSpc>
                <a:spcPct val="100000"/>
              </a:lnSpc>
            </a:pPr>
            <a:r>
              <a:rPr sz="1100">
                <a:solidFill>
                  <a:srgbClr val="E6E8EE"/>
                </a:solidFill>
                <a:latin typeface="Consolas"/>
              </a:rPr>
              <a:t>  final String id;                  // "ETT-2026-0001"</a:t>
            </a:r>
          </a:p>
          <a:p>
            <a:pPr>
              <a:lnSpc>
                <a:spcPct val="100000"/>
              </a:lnSpc>
            </a:pPr>
            <a:r>
              <a:rPr sz="1100">
                <a:solidFill>
                  <a:srgbClr val="E6E8EE"/>
                </a:solidFill>
                <a:latin typeface="Consolas"/>
              </a:rPr>
              <a:t>  final String fullName;</a:t>
            </a:r>
          </a:p>
          <a:p>
            <a:pPr>
              <a:lnSpc>
                <a:spcPct val="100000"/>
              </a:lnSpc>
            </a:pPr>
            <a:r>
              <a:rPr sz="1100">
                <a:solidFill>
                  <a:srgbClr val="E6E8EE"/>
                </a:solidFill>
                <a:latin typeface="Consolas"/>
              </a:rPr>
              <a:t>  final EntryCategory academicCategory;    // SPM atau STAM</a:t>
            </a:r>
          </a:p>
          <a:p>
            <a:pPr>
              <a:lnSpc>
                <a:spcPct val="100000"/>
              </a:lnSpc>
            </a:pPr>
            <a:r>
              <a:rPr sz="1100">
                <a:solidFill>
                  <a:srgbClr val="E6E8EE"/>
                </a:solidFill>
                <a:latin typeface="Consolas"/>
              </a:rPr>
              <a:t>  final String country;                    // 1 negara</a:t>
            </a:r>
          </a:p>
          <a:p>
            <a:pPr>
              <a:lnSpc>
                <a:spcPct val="100000"/>
              </a:lnSpc>
            </a:pPr>
            <a:r>
              <a:rPr sz="1100">
                <a:solidFill>
                  <a:srgbClr val="E6E8EE"/>
                </a:solidFill>
                <a:latin typeface="Consolas"/>
              </a:rPr>
              <a:t>  final String fieldOfStudy;               // 1 bidang</a:t>
            </a:r>
          </a:p>
          <a:p>
            <a:pPr>
              <a:lnSpc>
                <a:spcPct val="100000"/>
              </a:lnSpc>
            </a:pPr>
            <a:r>
              <a:rPr sz="1100">
                <a:solidFill>
                  <a:srgbClr val="E6E8EE"/>
                </a:solidFill>
                <a:latin typeface="Consolas"/>
              </a:rPr>
              <a:t>  final List&lt;String&gt; universityChoiceIds; // 1–3 pilihan</a:t>
            </a:r>
          </a:p>
          <a:p>
            <a:pPr>
              <a:lnSpc>
                <a:spcPct val="100000"/>
              </a:lnSpc>
            </a:pPr>
            <a:r>
              <a:rPr sz="1100">
                <a:solidFill>
                  <a:srgbClr val="E6E8EE"/>
                </a:solidFill>
                <a:latin typeface="Consolas"/>
              </a:rPr>
              <a:t>  final ApplicationStatus status;</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640080" y="3424428"/>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Draf → Dihantar → Dalam Semakan → Layak / Tidak Layak → Tawaran → Diterima / Ditolak</a:t>
            </a:r>
          </a:p>
        </p:txBody>
      </p:sp>
      <p:sp>
        <p:nvSpPr>
          <p:cNvPr id="6" name="TextBox 5"/>
          <p:cNvSpPr txBox="1"/>
          <p:nvPr/>
        </p:nvSpPr>
        <p:spPr>
          <a:xfrm>
            <a:off x="640080" y="3744468"/>
            <a:ext cx="10911535" cy="292608"/>
          </a:xfrm>
          <a:prstGeom prst="rect">
            <a:avLst/>
          </a:prstGeom>
          <a:noFill/>
        </p:spPr>
        <p:txBody>
          <a:bodyPr wrap="square" anchor="t" lIns="38100" rIns="38100" tIns="25400" bIns="25400">
            <a:spAutoFit/>
          </a:bodyPr>
          <a:lstStyle/>
          <a:p>
            <a:pPr algn="l">
              <a:lnSpc>
                <a:spcPct val="105000"/>
              </a:lnSpc>
            </a:pPr>
            <a:r>
              <a:rPr sz="1200" b="1">
                <a:solidFill>
                  <a:srgbClr val="1A2B5C"/>
                </a:solidFill>
                <a:latin typeface="Segoe UI"/>
              </a:rPr>
              <a:t>[ Draf ]   [ Dihantar ]   [ Dalam Semakan ]   [ Layak ]   [ Tidak Layak ]   [ Tawaran ]   [ Diterima ]   [ Ditolak ]</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246888"/>
          </a:xfrm>
          <a:prstGeom prst="rect">
            <a:avLst/>
          </a:prstGeom>
          <a:noFill/>
        </p:spPr>
        <p:txBody>
          <a:bodyPr wrap="square" anchor="t" lIns="38100" rIns="38100" tIns="25400" bIns="25400">
            <a:spAutoFit/>
          </a:bodyPr>
          <a:lstStyle/>
          <a:p>
            <a:pPr algn="l">
              <a:lnSpc>
                <a:spcPct val="105000"/>
              </a:lnSpc>
            </a:pPr>
            <a:r>
              <a:rPr sz="1700" b="1">
                <a:solidFill>
                  <a:srgbClr val="1A1A2E"/>
                </a:solidFill>
                <a:latin typeface="Segoe UI"/>
              </a:rPr>
              <a:t>Laptop sedia? flutter doctor bersih? Mari mula Hari 1.</a:t>
            </a:r>
          </a:p>
        </p:txBody>
      </p:sp>
      <p:sp>
        <p:nvSpPr>
          <p:cNvPr id="3" name="Rounded Rectangle 2"/>
          <p:cNvSpPr/>
          <p:nvPr/>
        </p:nvSpPr>
        <p:spPr>
          <a:xfrm>
            <a:off x="640080" y="822960"/>
            <a:ext cx="5364327"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914400"/>
            <a:ext cx="5108295"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Pagi ini</a:t>
            </a:r>
          </a:p>
        </p:txBody>
      </p:sp>
      <p:sp>
        <p:nvSpPr>
          <p:cNvPr id="5" name="TextBox 4"/>
          <p:cNvSpPr txBox="1"/>
          <p:nvPr/>
        </p:nvSpPr>
        <p:spPr>
          <a:xfrm>
            <a:off x="768096" y="1207008"/>
            <a:ext cx="5108295" cy="475487"/>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Operators, control flow (if/else, switch), looping &amp; function — terus praktis di DartPad.</a:t>
            </a:r>
          </a:p>
        </p:txBody>
      </p:sp>
      <p:sp>
        <p:nvSpPr>
          <p:cNvPr id="6" name="Rounded Rectangle 5"/>
          <p:cNvSpPr/>
          <p:nvPr/>
        </p:nvSpPr>
        <p:spPr>
          <a:xfrm>
            <a:off x="6187287" y="822960"/>
            <a:ext cx="5364327"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315303" y="914400"/>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Petang ini</a:t>
            </a:r>
          </a:p>
        </p:txBody>
      </p:sp>
      <p:sp>
        <p:nvSpPr>
          <p:cNvPr id="8" name="TextBox 7"/>
          <p:cNvSpPr txBox="1"/>
          <p:nvPr/>
        </p:nvSpPr>
        <p:spPr>
          <a:xfrm>
            <a:off x="6315303" y="1207008"/>
            <a:ext cx="5108295"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Widget pertama anda: Text, Icon, Image, Container — dan kad program eTT pertama di skrin.</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2B5C"/>
        </a:solidFill>
        <a:effectLst/>
      </p:bgPr>
    </p:bg>
    <p:spTree>
      <p:nvGrpSpPr>
        <p:cNvPr id="1" name=""/>
        <p:cNvGrpSpPr/>
        <p:nvPr/>
      </p:nvGrpSpPr>
      <p:grpSpPr/>
      <p:sp>
        <p:nvSpPr>
          <p:cNvPr id="2" name="TextBox 1"/>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300" b="1">
                <a:solidFill>
                  <a:srgbClr val="D4A017"/>
                </a:solidFill>
                <a:latin typeface="Segoe UI"/>
              </a:rPr>
              <a:t>HARI 1 — 20 JULAI 2026 (ISNIN)</a:t>
            </a:r>
          </a:p>
        </p:txBody>
      </p:sp>
      <p:sp>
        <p:nvSpPr>
          <p:cNvPr id="3" name="TextBox 2"/>
          <p:cNvSpPr txBox="1"/>
          <p:nvPr/>
        </p:nvSpPr>
        <p:spPr>
          <a:xfrm>
            <a:off x="640080" y="1554480"/>
            <a:ext cx="10911535" cy="566928"/>
          </a:xfrm>
          <a:prstGeom prst="rect">
            <a:avLst/>
          </a:prstGeom>
          <a:noFill/>
        </p:spPr>
        <p:txBody>
          <a:bodyPr wrap="square" anchor="t" lIns="38100" rIns="38100" tIns="25400" bIns="25400">
            <a:spAutoFit/>
          </a:bodyPr>
          <a:lstStyle/>
          <a:p>
            <a:pPr algn="l">
              <a:lnSpc>
                <a:spcPct val="105000"/>
              </a:lnSpc>
            </a:pPr>
            <a:r>
              <a:rPr sz="3400" b="1">
                <a:solidFill>
                  <a:srgbClr val="FFFFFF"/>
                </a:solidFill>
                <a:latin typeface="Segoe UI"/>
              </a:rPr>
              <a:t>Aliran Kawalan Dart &amp; Widget Asas</a:t>
            </a:r>
          </a:p>
        </p:txBody>
      </p:sp>
      <p:sp>
        <p:nvSpPr>
          <p:cNvPr id="4" name="TextBox 3"/>
          <p:cNvSpPr txBox="1"/>
          <p:nvPr/>
        </p:nvSpPr>
        <p:spPr>
          <a:xfrm>
            <a:off x="640080" y="2231136"/>
            <a:ext cx="10911535" cy="384048"/>
          </a:xfrm>
          <a:prstGeom prst="rect">
            <a:avLst/>
          </a:prstGeom>
          <a:noFill/>
        </p:spPr>
        <p:txBody>
          <a:bodyPr wrap="square" anchor="t" lIns="38100" rIns="38100" tIns="25400" bIns="25400">
            <a:spAutoFit/>
          </a:bodyPr>
          <a:lstStyle/>
          <a:p>
            <a:pPr algn="l">
              <a:lnSpc>
                <a:spcPct val="105000"/>
              </a:lnSpc>
            </a:pPr>
            <a:r>
              <a:rPr sz="1800" b="1">
                <a:solidFill>
                  <a:srgbClr val="D4A017"/>
                </a:solidFill>
                <a:latin typeface="Segoe UI"/>
              </a:rPr>
              <a:t>SESI 1: Operators, control flow, looping, function &amp; widget asas</a:t>
            </a:r>
          </a:p>
        </p:txBody>
      </p:sp>
      <p:sp>
        <p:nvSpPr>
          <p:cNvPr id="5" name="TextBox 4"/>
          <p:cNvSpPr txBox="1"/>
          <p:nvPr/>
        </p:nvSpPr>
        <p:spPr>
          <a:xfrm>
            <a:off x="731519" y="268833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Operators &amp; control flow (if/else, switch)</a:t>
            </a:r>
          </a:p>
        </p:txBody>
      </p:sp>
      <p:sp>
        <p:nvSpPr>
          <p:cNvPr id="6" name="TextBox 5"/>
          <p:cNvSpPr txBox="1"/>
          <p:nvPr/>
        </p:nvSpPr>
        <p:spPr>
          <a:xfrm>
            <a:off x="731519" y="296265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Looping (for, while) &amp; function</a:t>
            </a:r>
          </a:p>
        </p:txBody>
      </p:sp>
      <p:sp>
        <p:nvSpPr>
          <p:cNvPr id="7" name="TextBox 6"/>
          <p:cNvSpPr txBox="1"/>
          <p:nvPr/>
        </p:nvSpPr>
        <p:spPr>
          <a:xfrm>
            <a:off x="731519" y="323697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Eksperimen widget asas: Text, Icon, Image</a:t>
            </a:r>
          </a:p>
        </p:txBody>
      </p:sp>
      <p:sp>
        <p:nvSpPr>
          <p:cNvPr id="8" name="TextBox 7"/>
          <p:cNvSpPr txBox="1"/>
          <p:nvPr/>
        </p:nvSpPr>
        <p:spPr>
          <a:xfrm>
            <a:off x="731519" y="351129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Container, Padding, Margin, SizedBox</a:t>
            </a:r>
          </a:p>
        </p:txBody>
      </p:sp>
      <p:sp>
        <p:nvSpPr>
          <p:cNvPr id="9" name="TextBox 8"/>
          <p:cNvSpPr txBox="1"/>
          <p:nvPr/>
        </p:nvSpPr>
        <p:spPr>
          <a:xfrm>
            <a:off x="731519" y="378561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StatelessWidget vs StatefulWidget</a:t>
            </a:r>
          </a:p>
        </p:txBody>
      </p:sp>
      <p:sp>
        <p:nvSpPr>
          <p:cNvPr id="10" name="TextBox 9"/>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Jadual Hari Ini</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5455767"/>
                <a:gridCol w="5455768"/>
              </a:tblGrid>
              <a:tr h="274319">
                <a:tc>
                  <a:txBody>
                    <a:bodyPr/>
                    <a:lstStyle/>
                    <a:p>
                      <a:r>
                        <a:rPr sz="1100" b="1">
                          <a:solidFill>
                            <a:srgbClr val="FFFFFF"/>
                          </a:solidFill>
                          <a:latin typeface="Segoe UI"/>
                        </a:rPr>
                        <a:t>Masa</a:t>
                      </a:r>
                    </a:p>
                  </a:txBody>
                  <a:tcPr marL="63500" marR="63500" marT="25400" marB="25400">
                    <a:solidFill>
                      <a:srgbClr val="1A2B5C"/>
                    </a:solidFill>
                  </a:tcPr>
                </a:tc>
                <a:tc>
                  <a:txBody>
                    <a:bodyPr/>
                    <a:lstStyle/>
                    <a:p>
                      <a:r>
                        <a:rPr sz="1100" b="1">
                          <a:solidFill>
                            <a:srgbClr val="FFFFFF"/>
                          </a:solidFill>
                          <a:latin typeface="Segoe UI"/>
                        </a:rPr>
                        <a:t>Agenda</a:t>
                      </a:r>
                    </a:p>
                  </a:txBody>
                  <a:tcPr marL="63500" marR="63500" marT="25400" marB="25400">
                    <a:solidFill>
                      <a:srgbClr val="1A2B5C"/>
                    </a:solidFill>
                  </a:tcPr>
                </a:tc>
              </a:tr>
              <a:tr h="274319">
                <a:tc>
                  <a:txBody>
                    <a:bodyPr/>
                    <a:lstStyle/>
                    <a:p>
                      <a:r>
                        <a:rPr sz="1100" b="0">
                          <a:solidFill>
                            <a:srgbClr val="566371"/>
                          </a:solidFill>
                          <a:latin typeface="Segoe UI"/>
                        </a:rPr>
                        <a:t>8.30 – 9.00 pagi</a:t>
                      </a:r>
                    </a:p>
                  </a:txBody>
                  <a:tcPr marL="63500" marR="63500" marT="25400" marB="25400">
                    <a:solidFill>
                      <a:srgbClr val="FFFFFF"/>
                    </a:solidFill>
                  </a:tcPr>
                </a:tc>
                <a:tc>
                  <a:txBody>
                    <a:bodyPr/>
                    <a:lstStyle/>
                    <a:p>
                      <a:r>
                        <a:rPr sz="1100" b="0">
                          <a:solidFill>
                            <a:srgbClr val="566371"/>
                          </a:solidFill>
                          <a:latin typeface="Segoe UI"/>
                        </a:rPr>
                        <a:t>Pendaftaran Peserta &amp; Minum Pagi</a:t>
                      </a:r>
                    </a:p>
                  </a:txBody>
                  <a:tcPr marL="63500" marR="63500" marT="25400" marB="25400">
                    <a:solidFill>
                      <a:srgbClr val="FFFFFF"/>
                    </a:solidFill>
                  </a:tcPr>
                </a:tc>
              </a:tr>
              <a:tr h="274319">
                <a:tc>
                  <a:txBody>
                    <a:bodyPr/>
                    <a:lstStyle/>
                    <a:p>
                      <a:r>
                        <a:rPr sz="1100" b="0">
                          <a:solidFill>
                            <a:srgbClr val="566371"/>
                          </a:solidFill>
                          <a:latin typeface="Segoe UI"/>
                        </a:rPr>
                        <a:t>9.00 pagi – 1.00 petang</a:t>
                      </a:r>
                    </a:p>
                  </a:txBody>
                  <a:tcPr marL="63500" marR="63500" marT="25400" marB="25400">
                    <a:solidFill>
                      <a:srgbClr val="FFFFFF"/>
                    </a:solidFill>
                  </a:tcPr>
                </a:tc>
                <a:tc>
                  <a:txBody>
                    <a:bodyPr/>
                    <a:lstStyle/>
                    <a:p>
                      <a:r>
                        <a:rPr sz="1100" b="0">
                          <a:solidFill>
                            <a:srgbClr val="566371"/>
                          </a:solidFill>
                          <a:latin typeface="Segoe UI"/>
                        </a:rPr>
                        <a:t>SESI 1: Operators · Control flow (if/else, switch) · Looping (for, while) &amp; Function · Eksperimen Widget Asas: Text, Icon, Image</a:t>
                      </a:r>
                    </a:p>
                  </a:txBody>
                  <a:tcPr marL="63500" marR="63500" marT="25400" marB="25400">
                    <a:solidFill>
                      <a:srgbClr val="FFFFFF"/>
                    </a:solidFill>
                  </a:tcPr>
                </a:tc>
              </a:tr>
              <a:tr h="274319">
                <a:tc>
                  <a:txBody>
                    <a:bodyPr/>
                    <a:lstStyle/>
                    <a:p>
                      <a:r>
                        <a:rPr sz="1100" b="0">
                          <a:solidFill>
                            <a:srgbClr val="566371"/>
                          </a:solidFill>
                          <a:latin typeface="Segoe UI"/>
                        </a:rPr>
                        <a:t>1.00 – 2.30 petang</a:t>
                      </a:r>
                    </a:p>
                  </a:txBody>
                  <a:tcPr marL="63500" marR="63500" marT="25400" marB="25400">
                    <a:solidFill>
                      <a:srgbClr val="FFFFFF"/>
                    </a:solidFill>
                  </a:tcPr>
                </a:tc>
                <a:tc>
                  <a:txBody>
                    <a:bodyPr/>
                    <a:lstStyle/>
                    <a:p>
                      <a:r>
                        <a:rPr sz="1100" b="0">
                          <a:solidFill>
                            <a:srgbClr val="566371"/>
                          </a:solidFill>
                          <a:latin typeface="Segoe UI"/>
                        </a:rPr>
                        <a:t>Rehat &amp; Makan Tengah Hari</a:t>
                      </a:r>
                    </a:p>
                  </a:txBody>
                  <a:tcPr marL="63500" marR="63500" marT="25400" marB="25400">
                    <a:solidFill>
                      <a:srgbClr val="FFFFFF"/>
                    </a:solidFill>
                  </a:tcPr>
                </a:tc>
              </a:tr>
              <a:tr h="274319">
                <a:tc>
                  <a:txBody>
                    <a:bodyPr/>
                    <a:lstStyle/>
                    <a:p>
                      <a:r>
                        <a:rPr sz="1100" b="0">
                          <a:solidFill>
                            <a:srgbClr val="566371"/>
                          </a:solidFill>
                          <a:latin typeface="Segoe UI"/>
                        </a:rPr>
                        <a:t>2.30 – 5.00 petang</a:t>
                      </a:r>
                    </a:p>
                  </a:txBody>
                  <a:tcPr marL="63500" marR="63500" marT="25400" marB="25400">
                    <a:solidFill>
                      <a:srgbClr val="FFFFFF"/>
                    </a:solidFill>
                  </a:tcPr>
                </a:tc>
                <a:tc>
                  <a:txBody>
                    <a:bodyPr/>
                    <a:lstStyle/>
                    <a:p>
                      <a:r>
                        <a:rPr sz="1100" b="0">
                          <a:solidFill>
                            <a:srgbClr val="566371"/>
                          </a:solidFill>
                          <a:latin typeface="Segoe UI"/>
                        </a:rPr>
                        <a:t>Sambungan SESI 1: Container, Padding, Margin, SizedBox · StatelessWidget vs StatefulWidget</a:t>
                      </a:r>
                    </a:p>
                  </a:txBody>
                  <a:tcPr marL="63500" marR="63500" marT="25400" marB="25400">
                    <a:solidFill>
                      <a:srgbClr val="FFFFFF"/>
                    </a:solidFill>
                  </a:tcPr>
                </a:tc>
              </a:tr>
              <a:tr h="274324">
                <a:tc>
                  <a:txBody>
                    <a:bodyPr/>
                    <a:lstStyle/>
                    <a:p>
                      <a:r>
                        <a:rPr sz="1100" b="0">
                          <a:solidFill>
                            <a:srgbClr val="566371"/>
                          </a:solidFill>
                          <a:latin typeface="Segoe UI"/>
                        </a:rPr>
                        <a:t>5.00 petang</a:t>
                      </a:r>
                    </a:p>
                  </a:txBody>
                  <a:tcPr marL="63500" marR="63500" marT="25400" marB="25400">
                    <a:solidFill>
                      <a:srgbClr val="FFFFFF"/>
                    </a:solidFill>
                  </a:tcPr>
                </a:tc>
                <a:tc>
                  <a:txBody>
                    <a:bodyPr/>
                    <a:lstStyle/>
                    <a:p>
                      <a:r>
                        <a:rPr sz="1100" b="0">
                          <a:solidFill>
                            <a:srgbClr val="566371"/>
                          </a:solidFill>
                          <a:latin typeface="Segoe UI"/>
                        </a:rPr>
                        <a:t>Bersurai</a:t>
                      </a:r>
                    </a:p>
                  </a:txBody>
                  <a:tcPr marL="63500" marR="63500" marT="25400" marB="25400">
                    <a:solidFill>
                      <a:srgbClr val="FFFFFF"/>
                    </a:solidFill>
                  </a:tcPr>
                </a:tc>
              </a:tr>
            </a:tbl>
          </a:graphicData>
        </a:graphic>
      </p:graphicFrame>
      <p:sp>
        <p:nvSpPr>
          <p:cNvPr id="4" name="TextBox 3"/>
          <p:cNvSpPr txBox="1"/>
          <p:nvPr/>
        </p:nvSpPr>
        <p:spPr>
          <a:xfrm>
            <a:off x="640080" y="2825496"/>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Ikut aturcara rasmi Lampiran A (JADUAL.md). ListView, Card, tema penuh, navigasi, borang &amp; API — hari-hari seterusnya.</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Projek Kursus: eTT Mobile</a:t>
            </a:r>
          </a:p>
        </p:txBody>
      </p:sp>
      <p:sp>
        <p:nvSpPr>
          <p:cNvPr id="3" name="Rounded Rectangle 2"/>
          <p:cNvSpPr/>
          <p:nvPr/>
        </p:nvSpPr>
        <p:spPr>
          <a:xfrm>
            <a:off x="640080" y="1051560"/>
            <a:ext cx="5364327"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5108295"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Apa dia?</a:t>
            </a:r>
          </a:p>
        </p:txBody>
      </p:sp>
      <p:sp>
        <p:nvSpPr>
          <p:cNvPr id="5" name="TextBox 4"/>
          <p:cNvSpPr txBox="1"/>
          <p:nvPr/>
        </p:nvSpPr>
        <p:spPr>
          <a:xfrm>
            <a:off x="768096" y="1435608"/>
            <a:ext cx="5108295" cy="475487"/>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Companion latihan sistem sebenar e-Timur Tengah (eTT) — BPPT, JPT, KPT. Pelajar Malaysia semak imbas program &amp; memohon ke universiti di Mesir 🇪🇬 &amp; Maghribi 🇲🇦.</a:t>
            </a:r>
          </a:p>
        </p:txBody>
      </p:sp>
      <p:sp>
        <p:nvSpPr>
          <p:cNvPr id="6" name="Rounded Rectangle 5"/>
          <p:cNvSpPr/>
          <p:nvPr/>
        </p:nvSpPr>
        <p:spPr>
          <a:xfrm>
            <a:off x="6187287" y="1051560"/>
            <a:ext cx="5364327"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315303" y="1143000"/>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Domain sebenar</a:t>
            </a:r>
          </a:p>
        </p:txBody>
      </p:sp>
      <p:sp>
        <p:nvSpPr>
          <p:cNvPr id="8" name="TextBox 7"/>
          <p:cNvSpPr txBox="1"/>
          <p:nvPr/>
        </p:nvSpPr>
        <p:spPr>
          <a:xfrm>
            <a:off x="6315303" y="1435608"/>
            <a:ext cx="5108295"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Terbuka kepada lepasan SPM &amp; STAM; keputusan saringan guna istilah sebenar LAYAK / TIDAK LAYAK. Inilah domain semua contoh kod kita.</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Persediaan — Sudah Sedia?</a:t>
            </a:r>
          </a:p>
        </p:txBody>
      </p:sp>
      <p:sp>
        <p:nvSpPr>
          <p:cNvPr id="3" name="TextBox 2"/>
          <p:cNvSpPr txBox="1"/>
          <p:nvPr/>
        </p:nvSpPr>
        <p:spPr>
          <a:xfrm>
            <a:off x="731519" y="1051560"/>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1.  Flutter SDK + Android Studio + VS Code dipasang</a:t>
            </a:r>
          </a:p>
        </p:txBody>
      </p:sp>
      <p:sp>
        <p:nvSpPr>
          <p:cNvPr id="4" name="TextBox 3"/>
          <p:cNvSpPr txBox="1"/>
          <p:nvPr/>
        </p:nvSpPr>
        <p:spPr>
          <a:xfrm>
            <a:off x="731519" y="1289304"/>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2.  flutter doctor tiada isu kritikal</a:t>
            </a:r>
          </a:p>
        </p:txBody>
      </p:sp>
      <p:sp>
        <p:nvSpPr>
          <p:cNvPr id="5" name="TextBox 4"/>
          <p:cNvSpPr txBox="1"/>
          <p:nvPr/>
        </p:nvSpPr>
        <p:spPr>
          <a:xfrm>
            <a:off x="731519" y="1527048"/>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3.  flutter create ett_mobile &amp; flutter run berjaya</a:t>
            </a:r>
          </a:p>
        </p:txBody>
      </p:sp>
      <p:sp>
        <p:nvSpPr>
          <p:cNvPr id="6" name="Rounded Rectangle 5"/>
          <p:cNvSpPr/>
          <p:nvPr/>
        </p:nvSpPr>
        <p:spPr>
          <a:xfrm>
            <a:off x="640080" y="1837944"/>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40080" y="1837944"/>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11096"/>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Untuk latihan Dart pagi ini, buka dartpad.dev — tampal &amp; klik Run, tiada emulator diperlukan.</a:t>
            </a:r>
          </a:p>
        </p:txBody>
      </p:sp>
      <p:sp>
        <p:nvSpPr>
          <p:cNvPr id="9" name="Rounded Rectangle 8"/>
          <p:cNvSpPr/>
          <p:nvPr/>
        </p:nvSpPr>
        <p:spPr>
          <a:xfrm>
            <a:off x="640080" y="2368296"/>
            <a:ext cx="10911535" cy="170078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2459736"/>
            <a:ext cx="10655503" cy="151790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flutter doctor</a:t>
            </a:r>
          </a:p>
          <a:p>
            <a:pPr>
              <a:lnSpc>
                <a:spcPct val="100000"/>
              </a:lnSpc>
            </a:pPr>
            <a:r>
              <a:rPr sz="1100">
                <a:solidFill>
                  <a:srgbClr val="E6E8EE"/>
                </a:solidFill>
                <a:latin typeface="Consolas"/>
              </a:rPr>
              <a:t>flutter devices</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flutter create ett_mobile</a:t>
            </a:r>
          </a:p>
          <a:p>
            <a:pPr>
              <a:lnSpc>
                <a:spcPct val="100000"/>
              </a:lnSpc>
            </a:pPr>
            <a:r>
              <a:rPr sz="1100">
                <a:solidFill>
                  <a:srgbClr val="E6E8EE"/>
                </a:solidFill>
                <a:latin typeface="Consolas"/>
              </a:rPr>
              <a:t>cd ett_mobile</a:t>
            </a:r>
          </a:p>
          <a:p>
            <a:pPr>
              <a:lnSpc>
                <a:spcPct val="100000"/>
              </a:lnSpc>
            </a:pPr>
            <a:r>
              <a:rPr sz="1100">
                <a:solidFill>
                  <a:srgbClr val="E6E8EE"/>
                </a:solidFill>
                <a:latin typeface="Consolas"/>
              </a:rPr>
              <a:t>flutter run</a:t>
            </a:r>
          </a:p>
          <a:p>
            <a:pPr>
              <a:lnSpc>
                <a:spcPct val="100000"/>
              </a:lnSpc>
            </a:pPr>
            <a:r>
              <a:rPr sz="1100">
                <a:solidFill>
                  <a:srgbClr val="E6E8EE"/>
                </a:solidFill>
                <a:latin typeface="Consolas"/>
              </a:rPr>
              <a:t/>
            </a:r>
          </a:p>
        </p:txBody>
      </p:sp>
      <p:sp>
        <p:nvSpPr>
          <p:cNvPr id="11" name="TextBox 10"/>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Operators (Pengendali)</a:t>
            </a:r>
          </a:p>
        </p:txBody>
      </p:sp>
      <p:sp>
        <p:nvSpPr>
          <p:cNvPr id="3" name="Rounded Rectangle 2"/>
          <p:cNvSpPr/>
          <p:nvPr/>
        </p:nvSpPr>
        <p:spPr>
          <a:xfrm>
            <a:off x="640080" y="1051560"/>
            <a:ext cx="10911535" cy="320040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017520"/>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const int kuotaEtt001 = 40;  // Al-Azhar, Perubatan (anggaran)</a:t>
            </a:r>
          </a:p>
          <a:p>
            <a:pPr>
              <a:lnSpc>
                <a:spcPct val="100000"/>
              </a:lnSpc>
            </a:pPr>
            <a:r>
              <a:rPr sz="1100">
                <a:solidFill>
                  <a:srgbClr val="E6E8EE"/>
                </a:solidFill>
                <a:latin typeface="Consolas"/>
              </a:rPr>
              <a:t>const int kuotaEtt003 = 80;  // Al-Azhar, Ulum Islamiah (anggaran)</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print(kuotaEtt001 + kuotaEtt003);   // + (tambah)</a:t>
            </a:r>
          </a:p>
          <a:p>
            <a:pPr>
              <a:lnSpc>
                <a:spcPct val="100000"/>
              </a:lnSpc>
            </a:pPr>
            <a:r>
              <a:rPr sz="1100">
                <a:solidFill>
                  <a:srgbClr val="E6E8EE"/>
                </a:solidFill>
                <a:latin typeface="Consolas"/>
              </a:rPr>
              <a:t>print(kuotaEtt003 &gt; kuotaEtt001);   // &gt; (bandingan)</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const double kosFarmasiSetahun = 36000; // RM, anggaran — ETT-004</a:t>
            </a:r>
          </a:p>
          <a:p>
            <a:pPr>
              <a:lnSpc>
                <a:spcPct val="100000"/>
              </a:lnSpc>
            </a:pPr>
            <a:r>
              <a:rPr sz="1100">
                <a:solidFill>
                  <a:srgbClr val="E6E8EE"/>
                </a:solidFill>
                <a:latin typeface="Consolas"/>
              </a:rPr>
              <a:t>const int tempohPengajianTahun = 5;</a:t>
            </a:r>
          </a:p>
          <a:p>
            <a:pPr>
              <a:lnSpc>
                <a:spcPct val="100000"/>
              </a:lnSpc>
            </a:pPr>
            <a:r>
              <a:rPr sz="1100">
                <a:solidFill>
                  <a:srgbClr val="E6E8EE"/>
                </a:solidFill>
                <a:latin typeface="Consolas"/>
              </a:rPr>
              <a:t>final double anggaranKosKeseluruhan =</a:t>
            </a:r>
          </a:p>
          <a:p>
            <a:pPr>
              <a:lnSpc>
                <a:spcPct val="100000"/>
              </a:lnSpc>
            </a:pPr>
            <a:r>
              <a:rPr sz="1100">
                <a:solidFill>
                  <a:srgbClr val="E6E8EE"/>
                </a:solidFill>
                <a:latin typeface="Consolas"/>
              </a:rPr>
              <a:t>    kosFarmasiSetahun * tempohPengajianTahun;   //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final bool dalamBajet = anggaranKosKeseluruhan &lt;= 200000; // &lt;=</a:t>
            </a:r>
          </a:p>
          <a:p>
            <a:pPr>
              <a:lnSpc>
                <a:spcPct val="100000"/>
              </a:lnSpc>
            </a:pPr>
            <a:r>
              <a:rPr sz="1100">
                <a:solidFill>
                  <a:srgbClr val="E6E8EE"/>
                </a:solidFill>
                <a:latin typeface="Consolas"/>
              </a:rPr>
              <a:t>const bool sijilLengkap = true;</a:t>
            </a:r>
          </a:p>
          <a:p>
            <a:pPr>
              <a:lnSpc>
                <a:spcPct val="100000"/>
              </a:lnSpc>
            </a:pPr>
            <a:r>
              <a:rPr sz="1100">
                <a:solidFill>
                  <a:srgbClr val="E6E8EE"/>
                </a:solidFill>
                <a:latin typeface="Consolas"/>
              </a:rPr>
              <a:t>print(dalamBajet &amp;&amp; sijilLengkap);  // &amp;&amp; (logik DAN)</a:t>
            </a:r>
          </a:p>
          <a:p>
            <a:pPr>
              <a:lnSpc>
                <a:spcPct val="100000"/>
              </a:lnSpc>
            </a:pPr>
            <a:r>
              <a:rPr sz="1100">
                <a:solidFill>
                  <a:srgbClr val="E6E8EE"/>
                </a:solidFill>
                <a:latin typeface="Consolas"/>
              </a:rPr>
              <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Kategori Operator Dart</a:t>
            </a:r>
          </a:p>
        </p:txBody>
      </p:sp>
      <p:graphicFrame>
        <p:nvGraphicFramePr>
          <p:cNvPr id="3" name="Table 2"/>
          <p:cNvGraphicFramePr>
            <a:graphicFrameLocks noGrp="1"/>
          </p:cNvGraphicFramePr>
          <p:nvPr/>
        </p:nvGraphicFramePr>
        <p:xfrm>
          <a:off x="640080" y="1051560"/>
          <a:ext cx="10911535" cy="137160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r>
                        <a:rPr sz="1100" b="1">
                          <a:solidFill>
                            <a:srgbClr val="FFFFFF"/>
                          </a:solidFill>
                          <a:latin typeface="Segoe UI"/>
                        </a:rPr>
                        <a:t>Kategori</a:t>
                      </a:r>
                    </a:p>
                  </a:txBody>
                  <a:tcPr marL="63500" marR="63500" marT="25400" marB="25400">
                    <a:solidFill>
                      <a:srgbClr val="1A2B5C"/>
                    </a:solidFill>
                  </a:tcPr>
                </a:tc>
                <a:tc>
                  <a:txBody>
                    <a:bodyPr/>
                    <a:lstStyle/>
                    <a:p>
                      <a:r>
                        <a:rPr sz="1100" b="1">
                          <a:solidFill>
                            <a:srgbClr val="FFFFFF"/>
                          </a:solidFill>
                          <a:latin typeface="Segoe UI"/>
                        </a:rPr>
                        <a:t>Contoh</a:t>
                      </a:r>
                    </a:p>
                  </a:txBody>
                  <a:tcPr marL="63500" marR="63500" marT="25400" marB="25400">
                    <a:solidFill>
                      <a:srgbClr val="1A2B5C"/>
                    </a:solidFill>
                  </a:tcPr>
                </a:tc>
                <a:tc>
                  <a:txBody>
                    <a:bodyPr/>
                    <a:lstStyle/>
                    <a:p>
                      <a:r>
                        <a:rPr sz="1100" b="1">
                          <a:solidFill>
                            <a:srgbClr val="FFFFFF"/>
                          </a:solidFill>
                          <a:latin typeface="Segoe UI"/>
                        </a:rPr>
                        <a:t>Maksud</a:t>
                      </a:r>
                    </a:p>
                  </a:txBody>
                  <a:tcPr marL="63500" marR="63500" marT="25400" marB="25400">
                    <a:solidFill>
                      <a:srgbClr val="1A2B5C"/>
                    </a:solidFill>
                  </a:tcPr>
                </a:tc>
              </a:tr>
              <a:tr h="274320">
                <a:tc>
                  <a:txBody>
                    <a:bodyPr/>
                    <a:lstStyle/>
                    <a:p>
                      <a:r>
                        <a:rPr sz="1100" b="0">
                          <a:solidFill>
                            <a:srgbClr val="566371"/>
                          </a:solidFill>
                          <a:latin typeface="Segoe UI"/>
                        </a:rPr>
                        <a:t>Aritmetik</a:t>
                      </a:r>
                    </a:p>
                  </a:txBody>
                  <a:tcPr marL="63500" marR="63500" marT="25400" marB="25400">
                    <a:solidFill>
                      <a:srgbClr val="FFFFFF"/>
                    </a:solidFill>
                  </a:tcPr>
                </a:tc>
                <a:tc>
                  <a:txBody>
                    <a:bodyPr/>
                    <a:lstStyle/>
                    <a:p>
                      <a:r>
                        <a:rPr sz="1100" b="0">
                          <a:solidFill>
                            <a:srgbClr val="566371"/>
                          </a:solidFill>
                          <a:latin typeface="Segoe UI"/>
                        </a:rPr>
                        <a:t>+ - * / ~/ %</a:t>
                      </a:r>
                    </a:p>
                  </a:txBody>
                  <a:tcPr marL="63500" marR="63500" marT="25400" marB="25400">
                    <a:solidFill>
                      <a:srgbClr val="FFFFFF"/>
                    </a:solidFill>
                  </a:tcPr>
                </a:tc>
                <a:tc>
                  <a:txBody>
                    <a:bodyPr/>
                    <a:lstStyle/>
                    <a:p>
                      <a:r>
                        <a:rPr sz="1100" b="0">
                          <a:solidFill>
                            <a:srgbClr val="566371"/>
                          </a:solidFill>
                          <a:latin typeface="Segoe UI"/>
                        </a:rPr>
                        <a:t>tambah, tolak, darab, bahagi, bahagi integer, baki</a:t>
                      </a:r>
                    </a:p>
                  </a:txBody>
                  <a:tcPr marL="63500" marR="63500" marT="25400" marB="25400">
                    <a:solidFill>
                      <a:srgbClr val="FFFFFF"/>
                    </a:solidFill>
                  </a:tcPr>
                </a:tc>
              </a:tr>
              <a:tr h="274320">
                <a:tc>
                  <a:txBody>
                    <a:bodyPr/>
                    <a:lstStyle/>
                    <a:p>
                      <a:r>
                        <a:rPr sz="1100" b="0">
                          <a:solidFill>
                            <a:srgbClr val="566371"/>
                          </a:solidFill>
                          <a:latin typeface="Segoe UI"/>
                        </a:rPr>
                        <a:t>Bandingan</a:t>
                      </a:r>
                    </a:p>
                  </a:txBody>
                  <a:tcPr marL="63500" marR="63500" marT="25400" marB="25400">
                    <a:solidFill>
                      <a:srgbClr val="FFFFFF"/>
                    </a:solidFill>
                  </a:tcPr>
                </a:tc>
                <a:tc>
                  <a:txBody>
                    <a:bodyPr/>
                    <a:lstStyle/>
                    <a:p>
                      <a:r>
                        <a:rPr sz="1100" b="0">
                          <a:solidFill>
                            <a:srgbClr val="566371"/>
                          </a:solidFill>
                          <a:latin typeface="Segoe UI"/>
                        </a:rPr>
                        <a:t>== != &gt; &lt; &gt;= &lt;=</a:t>
                      </a:r>
                    </a:p>
                  </a:txBody>
                  <a:tcPr marL="63500" marR="63500" marT="25400" marB="25400">
                    <a:solidFill>
                      <a:srgbClr val="FFFFFF"/>
                    </a:solidFill>
                  </a:tcPr>
                </a:tc>
                <a:tc>
                  <a:txBody>
                    <a:bodyPr/>
                    <a:lstStyle/>
                    <a:p>
                      <a:r>
                        <a:rPr sz="1100" b="0">
                          <a:solidFill>
                            <a:srgbClr val="566371"/>
                          </a:solidFill>
                          <a:latin typeface="Segoe UI"/>
                        </a:rPr>
                        <a:t>pulangkan bool</a:t>
                      </a:r>
                    </a:p>
                  </a:txBody>
                  <a:tcPr marL="63500" marR="63500" marT="25400" marB="25400">
                    <a:solidFill>
                      <a:srgbClr val="FFFFFF"/>
                    </a:solidFill>
                  </a:tcPr>
                </a:tc>
              </a:tr>
              <a:tr h="274320">
                <a:tc>
                  <a:txBody>
                    <a:bodyPr/>
                    <a:lstStyle/>
                    <a:p>
                      <a:r>
                        <a:rPr sz="1100" b="0">
                          <a:solidFill>
                            <a:srgbClr val="566371"/>
                          </a:solidFill>
                          <a:latin typeface="Segoe UI"/>
                        </a:rPr>
                        <a:t>Logik</a:t>
                      </a:r>
                    </a:p>
                  </a:txBody>
                  <a:tcPr marL="63500" marR="63500" marT="25400" marB="25400">
                    <a:solidFill>
                      <a:srgbClr val="FFFFFF"/>
                    </a:solidFill>
                  </a:tcPr>
                </a:tc>
                <a:tc>
                  <a:txBody>
                    <a:bodyPr/>
                    <a:lstStyle/>
                    <a:p>
                      <a:r>
                        <a:rPr sz="1100" b="0">
                          <a:solidFill>
                            <a:srgbClr val="566371"/>
                          </a:solidFill>
                          <a:latin typeface="Segoe UI"/>
                        </a:rPr>
                        <a:t>&amp;&amp; || !</a:t>
                      </a:r>
                    </a:p>
                  </a:txBody>
                  <a:tcPr marL="63500" marR="63500" marT="25400" marB="25400">
                    <a:solidFill>
                      <a:srgbClr val="FFFFFF"/>
                    </a:solidFill>
                  </a:tcPr>
                </a:tc>
                <a:tc>
                  <a:txBody>
                    <a:bodyPr/>
                    <a:lstStyle/>
                    <a:p>
                      <a:r>
                        <a:rPr sz="1100" b="0">
                          <a:solidFill>
                            <a:srgbClr val="566371"/>
                          </a:solidFill>
                          <a:latin typeface="Segoe UI"/>
                        </a:rPr>
                        <a:t>DAN, ATAU, TIDAK</a:t>
                      </a:r>
                    </a:p>
                  </a:txBody>
                  <a:tcPr marL="63500" marR="63500" marT="25400" marB="25400">
                    <a:solidFill>
                      <a:srgbClr val="FFFFFF"/>
                    </a:solidFill>
                  </a:tcPr>
                </a:tc>
              </a:tr>
              <a:tr h="274320">
                <a:tc>
                  <a:txBody>
                    <a:bodyPr/>
                    <a:lstStyle/>
                    <a:p>
                      <a:r>
                        <a:rPr sz="1100" b="0">
                          <a:solidFill>
                            <a:srgbClr val="566371"/>
                          </a:solidFill>
                          <a:latin typeface="Segoe UI"/>
                        </a:rPr>
                        <a:t>Tugasan gabungan</a:t>
                      </a:r>
                    </a:p>
                  </a:txBody>
                  <a:tcPr marL="63500" marR="63500" marT="25400" marB="25400">
                    <a:solidFill>
                      <a:srgbClr val="FFFFFF"/>
                    </a:solidFill>
                  </a:tcPr>
                </a:tc>
                <a:tc>
                  <a:txBody>
                    <a:bodyPr/>
                    <a:lstStyle/>
                    <a:p>
                      <a:r>
                        <a:rPr sz="1100" b="0">
                          <a:solidFill>
                            <a:srgbClr val="566371"/>
                          </a:solidFill>
                          <a:latin typeface="Segoe UI"/>
                        </a:rPr>
                        <a:t>+= -= *= /= ??=</a:t>
                      </a:r>
                    </a:p>
                  </a:txBody>
                  <a:tcPr marL="63500" marR="63500" marT="25400" marB="25400">
                    <a:solidFill>
                      <a:srgbClr val="FFFFFF"/>
                    </a:solidFill>
                  </a:tcPr>
                </a:tc>
                <a:tc>
                  <a:txBody>
                    <a:bodyPr/>
                    <a:lstStyle/>
                    <a:p>
                      <a:r>
                        <a:rPr sz="1100" b="0">
                          <a:solidFill>
                            <a:srgbClr val="566371"/>
                          </a:solidFill>
                          <a:latin typeface="Segoe UI"/>
                        </a:rPr>
                        <a:t>kemas kini pembolehubah terus</a:t>
                      </a:r>
                    </a:p>
                  </a:txBody>
                  <a:tcPr marL="63500" marR="63500" marT="25400" marB="25400">
                    <a:solidFill>
                      <a:srgbClr val="FFFFFF"/>
                    </a:solidFill>
                  </a:tcPr>
                </a:tc>
              </a:tr>
            </a:tbl>
          </a:graphicData>
        </a:graphic>
      </p:graphicFrame>
      <p:sp>
        <p:nvSpPr>
          <p:cNvPr id="4" name="Rounded Rectangle 3"/>
          <p:cNvSpPr/>
          <p:nvPr/>
        </p:nvSpPr>
        <p:spPr>
          <a:xfrm>
            <a:off x="640080" y="2551176"/>
            <a:ext cx="10911535" cy="658368"/>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40080" y="2551176"/>
            <a:ext cx="54864" cy="658368"/>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624328"/>
            <a:ext cx="10600639" cy="512063"/>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Terjumpa operator yang tak biasa (cth. ~/ atau ??=) dalam kod orang lain nanti? Tanya sahaja AI — "Apa beza / dengan ~/ dalam Dart, bagi contoh guna kuota program" — lebih pantas daripada scroll dokumentasi setiap kali.</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Control Flow — if / else</a:t>
            </a:r>
          </a:p>
        </p:txBody>
      </p:sp>
      <p:sp>
        <p:nvSpPr>
          <p:cNvPr id="3" name="Rounded Rectangle 2"/>
          <p:cNvSpPr/>
          <p:nvPr/>
        </p:nvSpPr>
        <p:spPr>
          <a:xfrm>
            <a:off x="640080" y="1051560"/>
            <a:ext cx="10911535" cy="263804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45516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const String keperluanProgram = 'stam'; // ETT-002: Syariah</a:t>
            </a:r>
          </a:p>
          <a:p>
            <a:pPr>
              <a:lnSpc>
                <a:spcPct val="100000"/>
              </a:lnSpc>
            </a:pPr>
            <a:r>
              <a:rPr sz="1100">
                <a:solidFill>
                  <a:srgbClr val="E6E8EE"/>
                </a:solidFill>
                <a:latin typeface="Consolas"/>
              </a:rPr>
              <a:t>const String sijilPemohon = 'spm';</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if (keperluanProgram == 'both') {</a:t>
            </a:r>
          </a:p>
          <a:p>
            <a:pPr>
              <a:lnSpc>
                <a:spcPct val="100000"/>
              </a:lnSpc>
            </a:pPr>
            <a:r>
              <a:rPr sz="1100">
                <a:solidFill>
                  <a:srgbClr val="E6E8EE"/>
                </a:solidFill>
                <a:latin typeface="Consolas"/>
              </a:rPr>
              <a:t>  print('Program ini terima kedua-dua SPM &amp; STAM.');</a:t>
            </a:r>
          </a:p>
          <a:p>
            <a:pPr>
              <a:lnSpc>
                <a:spcPct val="100000"/>
              </a:lnSpc>
            </a:pPr>
            <a:r>
              <a:rPr sz="1100">
                <a:solidFill>
                  <a:srgbClr val="E6E8EE"/>
                </a:solidFill>
                <a:latin typeface="Consolas"/>
              </a:rPr>
              <a:t>} else if (keperluanProgram == sijilPemohon) {</a:t>
            </a:r>
          </a:p>
          <a:p>
            <a:pPr>
              <a:lnSpc>
                <a:spcPct val="100000"/>
              </a:lnSpc>
            </a:pPr>
            <a:r>
              <a:rPr sz="1100">
                <a:solidFill>
                  <a:srgbClr val="E6E8EE"/>
                </a:solidFill>
                <a:latin typeface="Consolas"/>
              </a:rPr>
              <a:t>  print('Layak memohon — sijil sepadan keperluan program.');</a:t>
            </a:r>
          </a:p>
          <a:p>
            <a:pPr>
              <a:lnSpc>
                <a:spcPct val="100000"/>
              </a:lnSpc>
            </a:pPr>
            <a:r>
              <a:rPr sz="1100">
                <a:solidFill>
                  <a:srgbClr val="E6E8EE"/>
                </a:solidFill>
                <a:latin typeface="Consolas"/>
              </a:rPr>
              <a:t>} else {</a:t>
            </a:r>
          </a:p>
          <a:p>
            <a:pPr>
              <a:lnSpc>
                <a:spcPct val="100000"/>
              </a:lnSpc>
            </a:pPr>
            <a:r>
              <a:rPr sz="1100">
                <a:solidFill>
                  <a:srgbClr val="E6E8EE"/>
                </a:solidFill>
                <a:latin typeface="Consolas"/>
              </a:rPr>
              <a:t>  print('Tidak layak — program ini hanya terima '</a:t>
            </a:r>
          </a:p>
          <a:p>
            <a:pPr>
              <a:lnSpc>
                <a:spcPct val="100000"/>
              </a:lnSpc>
            </a:pPr>
            <a:r>
              <a:rPr sz="1100">
                <a:solidFill>
                  <a:srgbClr val="E6E8EE"/>
                </a:solidFill>
                <a:latin typeface="Consolas"/>
              </a:rPr>
              <a:t>      '${keperluanProgram.toUpperCase()}.');</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379933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Syarat dinilai dari atas ke bawah — blok pertama yang true dijalankan, yang lain dilangkau</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Nota Realiti eTT — Satu Negara, Satu Bidang</a:t>
            </a:r>
          </a:p>
        </p:txBody>
      </p:sp>
      <p:sp>
        <p:nvSpPr>
          <p:cNvPr id="3" name="Rounded Rectangle 2"/>
          <p:cNvSpPr/>
          <p:nvPr/>
        </p:nvSpPr>
        <p:spPr>
          <a:xfrm>
            <a:off x="640080" y="1051560"/>
            <a:ext cx="5364327"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5108295"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Peraturan sebenar</a:t>
            </a:r>
          </a:p>
        </p:txBody>
      </p:sp>
      <p:sp>
        <p:nvSpPr>
          <p:cNvPr id="5" name="TextBox 4"/>
          <p:cNvSpPr txBox="1"/>
          <p:nvPr/>
        </p:nvSpPr>
        <p:spPr>
          <a:xfrm>
            <a:off x="768096" y="1435608"/>
            <a:ext cx="5108295" cy="475487"/>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Setiap permohonan eTT hanya untuk SATU negara + SATU bidang; dalam bidang itu, sehingga 3 pilihan universiti.</a:t>
            </a:r>
          </a:p>
        </p:txBody>
      </p:sp>
      <p:sp>
        <p:nvSpPr>
          <p:cNvPr id="6" name="Rounded Rectangle 5"/>
          <p:cNvSpPr/>
          <p:nvPr/>
        </p:nvSpPr>
        <p:spPr>
          <a:xfrm>
            <a:off x="6187287" y="1051560"/>
            <a:ext cx="5364327"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315303" y="1143000"/>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Dalam kod kita</a:t>
            </a:r>
          </a:p>
        </p:txBody>
      </p:sp>
      <p:sp>
        <p:nvSpPr>
          <p:cNvPr id="8" name="TextBox 7"/>
          <p:cNvSpPr txBox="1"/>
          <p:nvPr/>
        </p:nvSpPr>
        <p:spPr>
          <a:xfrm>
            <a:off x="6315303" y="1435608"/>
            <a:ext cx="5108295"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Corak 'spm' / 'stam' / 'both' tadi ialah pratonton enum EntryCategory — kita formalkan sebentar lagi.</a:t>
            </a:r>
          </a:p>
        </p:txBody>
      </p:sp>
      <p:sp>
        <p:nvSpPr>
          <p:cNvPr id="9" name="TextBox 8"/>
          <p:cNvSpPr txBox="1"/>
          <p:nvPr/>
        </p:nvSpPr>
        <p:spPr>
          <a:xfrm>
            <a:off x="640080" y="2221992"/>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Borang permohonan penuh (dengan peraturan ini dikuatkuasakan) — Hari 3, SESI 4.</a:t>
            </a:r>
          </a:p>
        </p:txBody>
      </p:sp>
      <p:sp>
        <p:nvSpPr>
          <p:cNvPr id="10" name="TextBox 9"/>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Control Flow — switch</a:t>
            </a:r>
          </a:p>
        </p:txBody>
      </p:sp>
      <p:sp>
        <p:nvSpPr>
          <p:cNvPr id="3" name="Rounded Rectangle 2"/>
          <p:cNvSpPr/>
          <p:nvPr/>
        </p:nvSpPr>
        <p:spPr>
          <a:xfrm>
            <a:off x="640080" y="1051560"/>
            <a:ext cx="10911535" cy="338785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204972"/>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String countryLabelForUniversity(String universityName) {</a:t>
            </a:r>
          </a:p>
          <a:p>
            <a:pPr>
              <a:lnSpc>
                <a:spcPct val="100000"/>
              </a:lnSpc>
            </a:pPr>
            <a:r>
              <a:rPr sz="1100">
                <a:solidFill>
                  <a:srgbClr val="E6E8EE"/>
                </a:solidFill>
                <a:latin typeface="Consolas"/>
              </a:rPr>
              <a:t>  switch (universityName) {</a:t>
            </a:r>
          </a:p>
          <a:p>
            <a:pPr>
              <a:lnSpc>
                <a:spcPct val="100000"/>
              </a:lnSpc>
            </a:pPr>
            <a:r>
              <a:rPr sz="1100">
                <a:solidFill>
                  <a:srgbClr val="E6E8EE"/>
                </a:solidFill>
                <a:latin typeface="Consolas"/>
              </a:rPr>
              <a:t>    case 'Universiti Al-Azhar':</a:t>
            </a:r>
          </a:p>
          <a:p>
            <a:pPr>
              <a:lnSpc>
                <a:spcPct val="100000"/>
              </a:lnSpc>
            </a:pPr>
            <a:r>
              <a:rPr sz="1100">
                <a:solidFill>
                  <a:srgbClr val="E6E8EE"/>
                </a:solidFill>
                <a:latin typeface="Consolas"/>
              </a:rPr>
              <a:t>    case 'Universiti Alexandria':</a:t>
            </a:r>
          </a:p>
          <a:p>
            <a:pPr>
              <a:lnSpc>
                <a:spcPct val="100000"/>
              </a:lnSpc>
            </a:pPr>
            <a:r>
              <a:rPr sz="1100">
                <a:solidFill>
                  <a:srgbClr val="E6E8EE"/>
                </a:solidFill>
                <a:latin typeface="Consolas"/>
              </a:rPr>
              <a:t>    case 'Universiti Ain Shams':</a:t>
            </a:r>
          </a:p>
          <a:p>
            <a:pPr>
              <a:lnSpc>
                <a:spcPct val="100000"/>
              </a:lnSpc>
            </a:pPr>
            <a:r>
              <a:rPr sz="1100">
                <a:solidFill>
                  <a:srgbClr val="E6E8EE"/>
                </a:solidFill>
                <a:latin typeface="Consolas"/>
              </a:rPr>
              <a:t>    case 'Universiti Tanta':</a:t>
            </a:r>
          </a:p>
          <a:p>
            <a:pPr>
              <a:lnSpc>
                <a:spcPct val="100000"/>
              </a:lnSpc>
            </a:pPr>
            <a:r>
              <a:rPr sz="1100">
                <a:solidFill>
                  <a:srgbClr val="E6E8EE"/>
                </a:solidFill>
                <a:latin typeface="Consolas"/>
              </a:rPr>
              <a:t>      // empat case "jatuh melalui" (fall-through) ke return sama</a:t>
            </a:r>
          </a:p>
          <a:p>
            <a:pPr>
              <a:lnSpc>
                <a:spcPct val="100000"/>
              </a:lnSpc>
            </a:pPr>
            <a:r>
              <a:rPr sz="1100">
                <a:solidFill>
                  <a:srgbClr val="E6E8EE"/>
                </a:solidFill>
                <a:latin typeface="Consolas"/>
              </a:rPr>
              <a:t>      return 'Mesir';</a:t>
            </a:r>
          </a:p>
          <a:p>
            <a:pPr>
              <a:lnSpc>
                <a:spcPct val="100000"/>
              </a:lnSpc>
            </a:pPr>
            <a:r>
              <a:rPr sz="1100">
                <a:solidFill>
                  <a:srgbClr val="E6E8EE"/>
                </a:solidFill>
                <a:latin typeface="Consolas"/>
              </a:rPr>
              <a:t>    case 'Universite Al Quaraouiyine':</a:t>
            </a:r>
          </a:p>
          <a:p>
            <a:pPr>
              <a:lnSpc>
                <a:spcPct val="100000"/>
              </a:lnSpc>
            </a:pPr>
            <a:r>
              <a:rPr sz="1100">
                <a:solidFill>
                  <a:srgbClr val="E6E8EE"/>
                </a:solidFill>
                <a:latin typeface="Consolas"/>
              </a:rPr>
              <a:t>    case 'Universiti Mohammed V':</a:t>
            </a:r>
          </a:p>
          <a:p>
            <a:pPr>
              <a:lnSpc>
                <a:spcPct val="100000"/>
              </a:lnSpc>
            </a:pPr>
            <a:r>
              <a:rPr sz="1100">
                <a:solidFill>
                  <a:srgbClr val="E6E8EE"/>
                </a:solidFill>
                <a:latin typeface="Consolas"/>
              </a:rPr>
              <a:t>      return 'Maghribi';</a:t>
            </a:r>
          </a:p>
          <a:p>
            <a:pPr>
              <a:lnSpc>
                <a:spcPct val="100000"/>
              </a:lnSpc>
            </a:pPr>
            <a:r>
              <a:rPr sz="1100">
                <a:solidFill>
                  <a:srgbClr val="E6E8EE"/>
                </a:solidFill>
                <a:latin typeface="Consolas"/>
              </a:rPr>
              <a:t>    default:</a:t>
            </a:r>
          </a:p>
          <a:p>
            <a:pPr>
              <a:lnSpc>
                <a:spcPct val="100000"/>
              </a:lnSpc>
            </a:pPr>
            <a:r>
              <a:rPr sz="1100">
                <a:solidFill>
                  <a:srgbClr val="E6E8EE"/>
                </a:solidFill>
                <a:latin typeface="Consolas"/>
              </a:rPr>
              <a:t>      return 'Negara tidak diketahui';</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Rounded Rectangle 4"/>
          <p:cNvSpPr/>
          <p:nvPr/>
        </p:nvSpPr>
        <p:spPr>
          <a:xfrm>
            <a:off x="640080" y="4549140"/>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4549140"/>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4622292"/>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switch lebih kemas daripada rantaian if/else if panjang bila membandingkan satu nilai dengan banyak kemungkinan tetap.</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Lepas Tulis Function — Sahkan Sekali</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Biasakan diri semak semula function macam countryLabelForUniversity sebelum yakin 100% — tampal kod pada AI dan tanya:</a:t>
            </a:r>
          </a:p>
        </p:txBody>
      </p:sp>
      <p:sp>
        <p:nvSpPr>
          <p:cNvPr id="4" name="Rounded Rectangle 3"/>
          <p:cNvSpPr/>
          <p:nvPr/>
        </p:nvSpPr>
        <p:spPr>
          <a:xfrm>
            <a:off x="640080" y="1371600"/>
            <a:ext cx="10911535" cy="95097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463040"/>
            <a:ext cx="10655503" cy="76809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Adakah ada universiti dalam senarai 8 program eTT yang saya</a:t>
            </a:r>
          </a:p>
          <a:p>
            <a:pPr>
              <a:lnSpc>
                <a:spcPct val="100000"/>
              </a:lnSpc>
            </a:pPr>
            <a:r>
              <a:rPr sz="1100">
                <a:solidFill>
                  <a:srgbClr val="E6E8EE"/>
                </a:solidFill>
                <a:latin typeface="Consolas"/>
              </a:rPr>
              <a:t>terlepas dalam switch ini?</a:t>
            </a:r>
          </a:p>
          <a:p>
            <a:pPr>
              <a:lnSpc>
                <a:spcPct val="100000"/>
              </a:lnSpc>
            </a:pPr>
            <a:r>
              <a:rPr sz="1100">
                <a:solidFill>
                  <a:srgbClr val="E6E8EE"/>
                </a:solidFill>
                <a:latin typeface="Consolas"/>
              </a:rPr>
              <a:t/>
            </a:r>
          </a:p>
        </p:txBody>
      </p:sp>
      <p:sp>
        <p:nvSpPr>
          <p:cNvPr id="6" name="TextBox 5"/>
          <p:cNvSpPr txBox="1"/>
          <p:nvPr/>
        </p:nvSpPr>
        <p:spPr>
          <a:xfrm>
            <a:off x="640080" y="2432304"/>
            <a:ext cx="10911535" cy="493776"/>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Kadang AI tangkap kesilapan kecil yang mata kita sendiri terlepas pandang. Keputusan akhir tetap anda — jalankan semula di DartPad selepas apa-apa pembetulan.</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Data Kursus: 8 Program eTT</a:t>
            </a:r>
          </a:p>
        </p:txBody>
      </p:sp>
      <p:sp>
        <p:nvSpPr>
          <p:cNvPr id="3" name="Rounded Rectangle 2"/>
          <p:cNvSpPr/>
          <p:nvPr/>
        </p:nvSpPr>
        <p:spPr>
          <a:xfrm>
            <a:off x="640080" y="1051560"/>
            <a:ext cx="10911535" cy="245059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267712"/>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const List&lt;Map&lt;String, Object&gt;&gt; sampleProgrammes = [</a:t>
            </a:r>
          </a:p>
          <a:p>
            <a:pPr>
              <a:lnSpc>
                <a:spcPct val="100000"/>
              </a:lnSpc>
            </a:pPr>
            <a:r>
              <a:rPr sz="1100">
                <a:solidFill>
                  <a:srgbClr val="E6E8EE"/>
                </a:solidFill>
                <a:latin typeface="Consolas"/>
              </a:rPr>
              <a:t>  {'id': 'ETT-001', 'universityName': 'Universiti Al-Azhar',        'quotaSeats': 40},</a:t>
            </a:r>
          </a:p>
          <a:p>
            <a:pPr>
              <a:lnSpc>
                <a:spcPct val="100000"/>
              </a:lnSpc>
            </a:pPr>
            <a:r>
              <a:rPr sz="1100">
                <a:solidFill>
                  <a:srgbClr val="E6E8EE"/>
                </a:solidFill>
                <a:latin typeface="Consolas"/>
              </a:rPr>
              <a:t>  {'id': 'ETT-002', 'universityName': 'Universiti Al-Azhar',        'quotaSeats': 120},</a:t>
            </a:r>
          </a:p>
          <a:p>
            <a:pPr>
              <a:lnSpc>
                <a:spcPct val="100000"/>
              </a:lnSpc>
            </a:pPr>
            <a:r>
              <a:rPr sz="1100">
                <a:solidFill>
                  <a:srgbClr val="E6E8EE"/>
                </a:solidFill>
                <a:latin typeface="Consolas"/>
              </a:rPr>
              <a:t>  {'id': 'ETT-003', 'universityName': 'Universiti Al-Azhar',        'quotaSeats': 80},</a:t>
            </a:r>
          </a:p>
          <a:p>
            <a:pPr>
              <a:lnSpc>
                <a:spcPct val="100000"/>
              </a:lnSpc>
            </a:pPr>
            <a:r>
              <a:rPr sz="1100">
                <a:solidFill>
                  <a:srgbClr val="E6E8EE"/>
                </a:solidFill>
                <a:latin typeface="Consolas"/>
              </a:rPr>
              <a:t>  {'id': 'ETT-004', 'universityName': 'Universiti Alexandria',      'quotaSeats': 30},</a:t>
            </a:r>
          </a:p>
          <a:p>
            <a:pPr>
              <a:lnSpc>
                <a:spcPct val="100000"/>
              </a:lnSpc>
            </a:pPr>
            <a:r>
              <a:rPr sz="1100">
                <a:solidFill>
                  <a:srgbClr val="E6E8EE"/>
                </a:solidFill>
                <a:latin typeface="Consolas"/>
              </a:rPr>
              <a:t>  {'id': 'ETT-005', 'universityName': 'Universiti Ain Shams',       'quotaSeats': 25},</a:t>
            </a:r>
          </a:p>
          <a:p>
            <a:pPr>
              <a:lnSpc>
                <a:spcPct val="100000"/>
              </a:lnSpc>
            </a:pPr>
            <a:r>
              <a:rPr sz="1100">
                <a:solidFill>
                  <a:srgbClr val="E6E8EE"/>
                </a:solidFill>
                <a:latin typeface="Consolas"/>
              </a:rPr>
              <a:t>  {'id': 'ETT-006', 'universityName': 'Universiti Tanta',           'quotaSeats': 20},</a:t>
            </a:r>
          </a:p>
          <a:p>
            <a:pPr>
              <a:lnSpc>
                <a:spcPct val="100000"/>
              </a:lnSpc>
            </a:pPr>
            <a:r>
              <a:rPr sz="1100">
                <a:solidFill>
                  <a:srgbClr val="E6E8EE"/>
                </a:solidFill>
                <a:latin typeface="Consolas"/>
              </a:rPr>
              <a:t>  {'id': 'ETT-007', 'universityName': 'Universite Al Quaraouiyine', 'quotaSeats': 15},</a:t>
            </a:r>
          </a:p>
          <a:p>
            <a:pPr>
              <a:lnSpc>
                <a:spcPct val="100000"/>
              </a:lnSpc>
            </a:pPr>
            <a:r>
              <a:rPr sz="1100">
                <a:solidFill>
                  <a:srgbClr val="E6E8EE"/>
                </a:solidFill>
                <a:latin typeface="Consolas"/>
              </a:rPr>
              <a:t>  {'id': 'ETT-008', 'universityName': 'Universiti Mohammed V',      'quotaSeats': 10},</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640080" y="3611880"/>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Kuota adalah anggaran latihan — kecuali laluan Maghribi (15 tempat, angka rasmi). Versi penuh: data/sample_programmes.dart.</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Looping (for) &amp; Function</a:t>
            </a:r>
          </a:p>
        </p:txBody>
      </p:sp>
      <p:sp>
        <p:nvSpPr>
          <p:cNvPr id="3" name="Rounded Rectangle 2"/>
          <p:cNvSpPr/>
          <p:nvPr/>
        </p:nvSpPr>
        <p:spPr>
          <a:xfrm>
            <a:off x="640080" y="1051560"/>
            <a:ext cx="10911535" cy="301294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830068"/>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Function — jumlahkan quotaSeats semua program dalam senarai.</a:t>
            </a:r>
          </a:p>
          <a:p>
            <a:pPr>
              <a:lnSpc>
                <a:spcPct val="100000"/>
              </a:lnSpc>
            </a:pPr>
            <a:r>
              <a:rPr sz="1100">
                <a:solidFill>
                  <a:srgbClr val="E6E8EE"/>
                </a:solidFill>
                <a:latin typeface="Consolas"/>
              </a:rPr>
              <a:t>int jumlahkanKuota(List&lt;Map&lt;String, Object&gt;&gt; data) {</a:t>
            </a:r>
          </a:p>
          <a:p>
            <a:pPr>
              <a:lnSpc>
                <a:spcPct val="100000"/>
              </a:lnSpc>
            </a:pPr>
            <a:r>
              <a:rPr sz="1100">
                <a:solidFill>
                  <a:srgbClr val="E6E8EE"/>
                </a:solidFill>
                <a:latin typeface="Consolas"/>
              </a:rPr>
              <a:t>  int jumlah = 0;</a:t>
            </a:r>
          </a:p>
          <a:p>
            <a:pPr>
              <a:lnSpc>
                <a:spcPct val="100000"/>
              </a:lnSpc>
            </a:pPr>
            <a:r>
              <a:rPr sz="1100">
                <a:solidFill>
                  <a:srgbClr val="E6E8EE"/>
                </a:solidFill>
                <a:latin typeface="Consolas"/>
              </a:rPr>
              <a:t>  for (final programme in data) {   // for (... in ...)</a:t>
            </a:r>
          </a:p>
          <a:p>
            <a:pPr>
              <a:lnSpc>
                <a:spcPct val="100000"/>
              </a:lnSpc>
            </a:pPr>
            <a:r>
              <a:rPr sz="1100">
                <a:solidFill>
                  <a:srgbClr val="E6E8EE"/>
                </a:solidFill>
                <a:latin typeface="Consolas"/>
              </a:rPr>
              <a:t>    jumlah += programme['quotaSeats'] as int;</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return jumlah;</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void main() {</a:t>
            </a:r>
          </a:p>
          <a:p>
            <a:pPr>
              <a:lnSpc>
                <a:spcPct val="100000"/>
              </a:lnSpc>
            </a:pPr>
            <a:r>
              <a:rPr sz="1100">
                <a:solidFill>
                  <a:srgbClr val="E6E8EE"/>
                </a:solidFill>
                <a:latin typeface="Consolas"/>
              </a:rPr>
              <a:t>  final jumlah = jumlahkanKuota(sampleProgrammes);</a:t>
            </a:r>
          </a:p>
          <a:p>
            <a:pPr>
              <a:lnSpc>
                <a:spcPct val="100000"/>
              </a:lnSpc>
            </a:pPr>
            <a:r>
              <a:rPr sz="1100">
                <a:solidFill>
                  <a:srgbClr val="E6E8EE"/>
                </a:solidFill>
                <a:latin typeface="Consolas"/>
              </a:rPr>
              <a:t>  print('Jumlah kuota keseluruhan (8 program): $jumlah tempat'); // 340</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Rounded Rectangle 4"/>
          <p:cNvSpPr/>
          <p:nvPr/>
        </p:nvSpPr>
        <p:spPr>
          <a:xfrm>
            <a:off x="640080" y="4174236"/>
            <a:ext cx="10911535" cy="658368"/>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4174236"/>
            <a:ext cx="54864" cy="658368"/>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4247388"/>
            <a:ext cx="10600639" cy="512063"/>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Nak lebih latihan sebelum move on? Minta AI: "Beri saya 3 latihan Dart pendek pakai for untuk kira purata quotaSeats daripada senarai program, tahap pemula" — cuma taip &amp; jalankan sendiri jawapannya, jangan sekadar baca.</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Looping — while</a:t>
            </a:r>
          </a:p>
        </p:txBody>
      </p:sp>
      <p:sp>
        <p:nvSpPr>
          <p:cNvPr id="3" name="Rounded Rectangle 2"/>
          <p:cNvSpPr/>
          <p:nvPr/>
        </p:nvSpPr>
        <p:spPr>
          <a:xfrm>
            <a:off x="640080" y="1051560"/>
            <a:ext cx="10911535" cy="263804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45516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const senaraiBidangPopular = [</a:t>
            </a:r>
          </a:p>
          <a:p>
            <a:pPr>
              <a:lnSpc>
                <a:spcPct val="100000"/>
              </a:lnSpc>
            </a:pPr>
            <a:r>
              <a:rPr sz="1100">
                <a:solidFill>
                  <a:srgbClr val="E6E8EE"/>
                </a:solidFill>
                <a:latin typeface="Consolas"/>
              </a:rPr>
              <a:t>  'Perubatan (Medicine)',</a:t>
            </a:r>
          </a:p>
          <a:p>
            <a:pPr>
              <a:lnSpc>
                <a:spcPct val="100000"/>
              </a:lnSpc>
            </a:pPr>
            <a:r>
              <a:rPr sz="1100">
                <a:solidFill>
                  <a:srgbClr val="E6E8EE"/>
                </a:solidFill>
                <a:latin typeface="Consolas"/>
              </a:rPr>
              <a:t>  'Farmasi (Pharmacy)',</a:t>
            </a:r>
          </a:p>
          <a:p>
            <a:pPr>
              <a:lnSpc>
                <a:spcPct val="100000"/>
              </a:lnSpc>
            </a:pPr>
            <a:r>
              <a:rPr sz="1100">
                <a:solidFill>
                  <a:srgbClr val="E6E8EE"/>
                </a:solidFill>
                <a:latin typeface="Consolas"/>
              </a:rPr>
              <a:t>  'Pergigian (Dentistry)',</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int i = 0;</a:t>
            </a:r>
          </a:p>
          <a:p>
            <a:pPr>
              <a:lnSpc>
                <a:spcPct val="100000"/>
              </a:lnSpc>
            </a:pPr>
            <a:r>
              <a:rPr sz="1100">
                <a:solidFill>
                  <a:srgbClr val="E6E8EE"/>
                </a:solidFill>
                <a:latin typeface="Consolas"/>
              </a:rPr>
              <a:t>while (i &lt; senaraiBidangPopular.length) {</a:t>
            </a:r>
          </a:p>
          <a:p>
            <a:pPr>
              <a:lnSpc>
                <a:spcPct val="100000"/>
              </a:lnSpc>
            </a:pPr>
            <a:r>
              <a:rPr sz="1100">
                <a:solidFill>
                  <a:srgbClr val="E6E8EE"/>
                </a:solidFill>
                <a:latin typeface="Consolas"/>
              </a:rPr>
              <a:t>  print('Bidang popular #${i + 1}: ${senaraiBidangPopular[i]}');</a:t>
            </a:r>
          </a:p>
          <a:p>
            <a:pPr>
              <a:lnSpc>
                <a:spcPct val="100000"/>
              </a:lnSpc>
            </a:pPr>
            <a:r>
              <a:rPr sz="1100">
                <a:solidFill>
                  <a:srgbClr val="E6E8EE"/>
                </a:solidFill>
                <a:latin typeface="Consolas"/>
              </a:rPr>
              <a:t>  i++; // PENTING: jangan lupa naikkan i</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Rounded Rectangle 4"/>
          <p:cNvSpPr/>
          <p:nvPr/>
        </p:nvSpPr>
        <p:spPr>
          <a:xfrm>
            <a:off x="640080" y="3799332"/>
            <a:ext cx="10911535" cy="658368"/>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3799332"/>
            <a:ext cx="54864" cy="65836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872484"/>
            <a:ext cx="10600639" cy="512063"/>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Kesilapan biasa pemula: lupa i++ → syarat kekal true selamanya → infinite loop, program "tersangkut". Pastikan syarat berhenti pasti tercapai.</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enum + switch Expression</a:t>
            </a:r>
          </a:p>
        </p:txBody>
      </p:sp>
      <p:sp>
        <p:nvSpPr>
          <p:cNvPr id="3" name="Rounded Rectangle 2"/>
          <p:cNvSpPr/>
          <p:nvPr/>
        </p:nvSpPr>
        <p:spPr>
          <a:xfrm>
            <a:off x="640080" y="1051560"/>
            <a:ext cx="10911535" cy="320040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017520"/>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enum EntryCategory {</a:t>
            </a:r>
          </a:p>
          <a:p>
            <a:pPr>
              <a:lnSpc>
                <a:spcPct val="100000"/>
              </a:lnSpc>
            </a:pPr>
            <a:r>
              <a:rPr sz="1100">
                <a:solidFill>
                  <a:srgbClr val="E6E8EE"/>
                </a:solidFill>
                <a:latin typeface="Consolas"/>
              </a:rPr>
              <a:t>  spm,</a:t>
            </a:r>
          </a:p>
          <a:p>
            <a:pPr>
              <a:lnSpc>
                <a:spcPct val="100000"/>
              </a:lnSpc>
            </a:pPr>
            <a:r>
              <a:rPr sz="1100">
                <a:solidFill>
                  <a:srgbClr val="E6E8EE"/>
                </a:solidFill>
                <a:latin typeface="Consolas"/>
              </a:rPr>
              <a:t>  stam,</a:t>
            </a:r>
          </a:p>
          <a:p>
            <a:pPr>
              <a:lnSpc>
                <a:spcPct val="100000"/>
              </a:lnSpc>
            </a:pPr>
            <a:r>
              <a:rPr sz="1100">
                <a:solidFill>
                  <a:srgbClr val="E6E8EE"/>
                </a:solidFill>
                <a:latin typeface="Consolas"/>
              </a:rPr>
              <a:t>  both;</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String get label =&gt; switch (this) {</a:t>
            </a:r>
          </a:p>
          <a:p>
            <a:pPr>
              <a:lnSpc>
                <a:spcPct val="100000"/>
              </a:lnSpc>
            </a:pPr>
            <a:r>
              <a:rPr sz="1100">
                <a:solidFill>
                  <a:srgbClr val="E6E8EE"/>
                </a:solidFill>
                <a:latin typeface="Consolas"/>
              </a:rPr>
              <a:t>        EntryCategory.spm =&gt; 'SPM',</a:t>
            </a:r>
          </a:p>
          <a:p>
            <a:pPr>
              <a:lnSpc>
                <a:spcPct val="100000"/>
              </a:lnSpc>
            </a:pPr>
            <a:r>
              <a:rPr sz="1100">
                <a:solidFill>
                  <a:srgbClr val="E6E8EE"/>
                </a:solidFill>
                <a:latin typeface="Consolas"/>
              </a:rPr>
              <a:t>        EntryCategory.stam =&gt; 'STAM',</a:t>
            </a:r>
          </a:p>
          <a:p>
            <a:pPr>
              <a:lnSpc>
                <a:spcPct val="100000"/>
              </a:lnSpc>
            </a:pPr>
            <a:r>
              <a:rPr sz="1100">
                <a:solidFill>
                  <a:srgbClr val="E6E8EE"/>
                </a:solidFill>
                <a:latin typeface="Consolas"/>
              </a:rPr>
              <a:t>        EntryCategory.both =&gt; 'SPM atau STAM',</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bool accepts(EntryCategory applicant) =&gt;</a:t>
            </a:r>
          </a:p>
          <a:p>
            <a:pPr>
              <a:lnSpc>
                <a:spcPct val="100000"/>
              </a:lnSpc>
            </a:pPr>
            <a:r>
              <a:rPr sz="1100">
                <a:solidFill>
                  <a:srgbClr val="E6E8EE"/>
                </a:solidFill>
                <a:latin typeface="Consolas"/>
              </a:rPr>
              <a:t>      this == EntryCategory.both || this == applicant;</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640080" y="4361688"/>
            <a:ext cx="10911535" cy="493776"/>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Corak sebenar daripada models/programme.dart projek kursus — Dart 3 switch expression (=&gt;) memulangkan satu nilai terus. Model juga ada enum StudyLevel (Asasi/Diploma/Ijazah Sarjana Muda).</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Function — Format Kos Anggaran ke RM</a:t>
            </a:r>
          </a:p>
        </p:txBody>
      </p:sp>
      <p:sp>
        <p:nvSpPr>
          <p:cNvPr id="3" name="Rounded Rectangle 2"/>
          <p:cNvSpPr/>
          <p:nvPr/>
        </p:nvSpPr>
        <p:spPr>
          <a:xfrm>
            <a:off x="640080" y="1051560"/>
            <a:ext cx="10911535" cy="320040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017520"/>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Format kos tahunan (RM), cth. 23000.0 -&gt; "RM23,000".</a:t>
            </a:r>
          </a:p>
          <a:p>
            <a:pPr>
              <a:lnSpc>
                <a:spcPct val="100000"/>
              </a:lnSpc>
            </a:pPr>
            <a:r>
              <a:rPr sz="1100">
                <a:solidFill>
                  <a:srgbClr val="E6E8EE"/>
                </a:solidFill>
                <a:latin typeface="Consolas"/>
              </a:rPr>
              <a:t>/// Kos adalah anggaran latihan, bukan sebut harga rasmi.</a:t>
            </a:r>
          </a:p>
          <a:p>
            <a:pPr>
              <a:lnSpc>
                <a:spcPct val="100000"/>
              </a:lnSpc>
            </a:pPr>
            <a:r>
              <a:rPr sz="1100">
                <a:solidFill>
                  <a:srgbClr val="E6E8EE"/>
                </a:solidFill>
                <a:latin typeface="Consolas"/>
              </a:rPr>
              <a:t>String formatCostMyr(double amount) {</a:t>
            </a:r>
          </a:p>
          <a:p>
            <a:pPr>
              <a:lnSpc>
                <a:spcPct val="100000"/>
              </a:lnSpc>
            </a:pPr>
            <a:r>
              <a:rPr sz="1100">
                <a:solidFill>
                  <a:srgbClr val="E6E8EE"/>
                </a:solidFill>
                <a:latin typeface="Consolas"/>
              </a:rPr>
              <a:t>  final wholeNumber = amount.toStringAsFixed(0);</a:t>
            </a:r>
          </a:p>
          <a:p>
            <a:pPr>
              <a:lnSpc>
                <a:spcPct val="100000"/>
              </a:lnSpc>
            </a:pPr>
            <a:r>
              <a:rPr sz="1100">
                <a:solidFill>
                  <a:srgbClr val="E6E8EE"/>
                </a:solidFill>
                <a:latin typeface="Consolas"/>
              </a:rPr>
              <a:t>  final buffer = StringBuffer();</a:t>
            </a:r>
          </a:p>
          <a:p>
            <a:pPr>
              <a:lnSpc>
                <a:spcPct val="100000"/>
              </a:lnSpc>
            </a:pPr>
            <a:r>
              <a:rPr sz="1100">
                <a:solidFill>
                  <a:srgbClr val="E6E8EE"/>
                </a:solidFill>
                <a:latin typeface="Consolas"/>
              </a:rPr>
              <a:t>  for (var i = 0; i &lt; wholeNumber.length; i++) {</a:t>
            </a:r>
          </a:p>
          <a:p>
            <a:pPr>
              <a:lnSpc>
                <a:spcPct val="100000"/>
              </a:lnSpc>
            </a:pPr>
            <a:r>
              <a:rPr sz="1100">
                <a:solidFill>
                  <a:srgbClr val="E6E8EE"/>
                </a:solidFill>
                <a:latin typeface="Consolas"/>
              </a:rPr>
              <a:t>    final posFromRight = wholeNumber.length - i;</a:t>
            </a:r>
          </a:p>
          <a:p>
            <a:pPr>
              <a:lnSpc>
                <a:spcPct val="100000"/>
              </a:lnSpc>
            </a:pPr>
            <a:r>
              <a:rPr sz="1100">
                <a:solidFill>
                  <a:srgbClr val="E6E8EE"/>
                </a:solidFill>
                <a:latin typeface="Consolas"/>
              </a:rPr>
              <a:t>    buffer.write(wholeNumber[i]);</a:t>
            </a:r>
          </a:p>
          <a:p>
            <a:pPr>
              <a:lnSpc>
                <a:spcPct val="100000"/>
              </a:lnSpc>
            </a:pPr>
            <a:r>
              <a:rPr sz="1100">
                <a:solidFill>
                  <a:srgbClr val="E6E8EE"/>
                </a:solidFill>
                <a:latin typeface="Consolas"/>
              </a:rPr>
              <a:t>    if (posFromRight &gt; 1 &amp;&amp; posFromRight % 3 == 1) {</a:t>
            </a:r>
          </a:p>
          <a:p>
            <a:pPr>
              <a:lnSpc>
                <a:spcPct val="100000"/>
              </a:lnSpc>
            </a:pPr>
            <a:r>
              <a:rPr sz="1100">
                <a:solidFill>
                  <a:srgbClr val="E6E8EE"/>
                </a:solidFill>
                <a:latin typeface="Consolas"/>
              </a:rPr>
              <a:t>      buffer.write(',');</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return 'RM${buffer.toString()}';</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Rounded Rectangle 4"/>
          <p:cNvSpPr/>
          <p:nvPr/>
        </p:nvSpPr>
        <p:spPr>
          <a:xfrm>
            <a:off x="640080" y="4361688"/>
            <a:ext cx="10911535" cy="658368"/>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4361688"/>
            <a:ext cx="54864" cy="658368"/>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4434840"/>
            <a:ext cx="10600639" cy="512063"/>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Gabungan semua topik pagi: function + loop + operator (%, &gt;, &amp;&amp;). Hari 2 kita guna pakej intl (NumberFormat.currency) untuk kerja sama secara automatik.</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246888"/>
          </a:xfrm>
          <a:prstGeom prst="rect">
            <a:avLst/>
          </a:prstGeom>
          <a:noFill/>
        </p:spPr>
        <p:txBody>
          <a:bodyPr wrap="square" anchor="t" lIns="38100" rIns="38100" tIns="25400" bIns="25400">
            <a:spAutoFit/>
          </a:bodyPr>
          <a:lstStyle/>
          <a:p>
            <a:pPr algn="l">
              <a:lnSpc>
                <a:spcPct val="105000"/>
              </a:lnSpc>
            </a:pPr>
            <a:r>
              <a:rPr sz="1700" b="1">
                <a:solidFill>
                  <a:srgbClr val="1A1A2E"/>
                </a:solidFill>
                <a:latin typeface="Segoe UI"/>
              </a:rPr>
              <a:t>Dari Dart tulen → Flutter. Dalam Flutter, semuanya widget.</a:t>
            </a:r>
          </a:p>
        </p:txBody>
      </p:sp>
      <p:sp>
        <p:nvSpPr>
          <p:cNvPr id="3" name="Rounded Rectangle 2"/>
          <p:cNvSpPr/>
          <p:nvPr/>
        </p:nvSpPr>
        <p:spPr>
          <a:xfrm>
            <a:off x="640080" y="8229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9144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import 'package:flutter/material.dart';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void main() {</a:t>
            </a:r>
          </a:p>
          <a:p>
            <a:pPr>
              <a:lnSpc>
                <a:spcPct val="100000"/>
              </a:lnSpc>
            </a:pPr>
            <a:r>
              <a:rPr sz="1100">
                <a:solidFill>
                  <a:srgbClr val="E6E8EE"/>
                </a:solidFill>
                <a:latin typeface="Consolas"/>
              </a:rPr>
              <a:t>  runApp(const MyApp());</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class MyApp extends StatelessWidget {</a:t>
            </a:r>
          </a:p>
          <a:p>
            <a:pPr>
              <a:lnSpc>
                <a:spcPct val="100000"/>
              </a:lnSpc>
            </a:pPr>
            <a:r>
              <a:rPr sz="1100">
                <a:solidFill>
                  <a:srgbClr val="E6E8EE"/>
                </a:solidFill>
                <a:latin typeface="Consolas"/>
              </a:rPr>
              <a:t>  const MyApp({super.key});</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@override</a:t>
            </a:r>
          </a:p>
          <a:p>
            <a:pPr>
              <a:lnSpc>
                <a:spcPct val="100000"/>
              </a:lnSpc>
            </a:pPr>
            <a:r>
              <a:rPr sz="1100">
                <a:solidFill>
                  <a:srgbClr val="E6E8EE"/>
                </a:solidFill>
                <a:latin typeface="Consolas"/>
              </a:rPr>
              <a:t>  Widget build(BuildContext context) {</a:t>
            </a:r>
          </a:p>
          <a:p>
            <a:pPr>
              <a:lnSpc>
                <a:spcPct val="100000"/>
              </a:lnSpc>
            </a:pPr>
            <a:r>
              <a:rPr sz="1100">
                <a:solidFill>
                  <a:srgbClr val="E6E8EE"/>
                </a:solidFill>
                <a:latin typeface="Consolas"/>
              </a:rPr>
              <a:t>    return MaterialApp(</a:t>
            </a:r>
          </a:p>
          <a:p>
            <a:pPr>
              <a:lnSpc>
                <a:spcPct val="100000"/>
              </a:lnSpc>
            </a:pPr>
            <a:r>
              <a:rPr sz="1100">
                <a:solidFill>
                  <a:srgbClr val="E6E8EE"/>
                </a:solidFill>
                <a:latin typeface="Consolas"/>
              </a:rPr>
              <a:t>      debugShowCheckedModeBanner: false,</a:t>
            </a:r>
          </a:p>
          <a:p>
            <a:pPr>
              <a:lnSpc>
                <a:spcPct val="100000"/>
              </a:lnSpc>
            </a:pPr>
            <a:r>
              <a:rPr sz="1100">
                <a:solidFill>
                  <a:srgbClr val="E6E8EE"/>
                </a:solidFill>
                <a:latin typeface="Consolas"/>
              </a:rPr>
              <a:t>      home: Scaffold(</a:t>
            </a:r>
          </a:p>
          <a:p>
            <a:pPr>
              <a:lnSpc>
                <a:spcPct val="100000"/>
              </a:lnSpc>
            </a:pPr>
            <a:r>
              <a:rPr sz="1100">
                <a:solidFill>
                  <a:srgbClr val="E6E8EE"/>
                </a:solidFill>
                <a:latin typeface="Consolas"/>
              </a:rPr>
              <a:t>        appBar: AppBar(title: const Text('eTT Mobile')),</a:t>
            </a:r>
          </a:p>
          <a:p>
            <a:pPr>
              <a:lnSpc>
                <a:spcPct val="100000"/>
              </a:lnSpc>
            </a:pPr>
            <a:r>
              <a:rPr sz="1100">
                <a:solidFill>
                  <a:srgbClr val="E6E8EE"/>
                </a:solidFill>
                <a:latin typeface="Consolas"/>
              </a:rPr>
              <a:t>        body: const Center(child: Text('Selamat datang!')),</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Widget Asas 1/3 — Text</a:t>
            </a:r>
          </a:p>
        </p:txBody>
      </p:sp>
      <p:sp>
        <p:nvSpPr>
          <p:cNvPr id="3" name="Rounded Rectangle 2"/>
          <p:cNvSpPr/>
          <p:nvPr/>
        </p:nvSpPr>
        <p:spPr>
          <a:xfrm>
            <a:off x="640080" y="1051560"/>
            <a:ext cx="10911535" cy="132588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143000"/>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const Text(</a:t>
            </a:r>
          </a:p>
          <a:p>
            <a:pPr>
              <a:lnSpc>
                <a:spcPct val="100000"/>
              </a:lnSpc>
            </a:pPr>
            <a:r>
              <a:rPr sz="1100">
                <a:solidFill>
                  <a:srgbClr val="E6E8EE"/>
                </a:solidFill>
                <a:latin typeface="Consolas"/>
              </a:rPr>
              <a:t>  'Universiti Al-Azhar',</a:t>
            </a:r>
          </a:p>
          <a:p>
            <a:pPr>
              <a:lnSpc>
                <a:spcPct val="100000"/>
              </a:lnSpc>
            </a:pPr>
            <a:r>
              <a:rPr sz="1100">
                <a:solidFill>
                  <a:srgbClr val="E6E8EE"/>
                </a:solidFill>
                <a:latin typeface="Consolas"/>
              </a:rPr>
              <a:t>  style: TextStyle(fontSize: 18, fontWeight: FontWeight.bold),</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248716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style: TextStyle(...) — saiz fon, berat (weight), warna dan lain-lain</a:t>
            </a:r>
          </a:p>
        </p:txBody>
      </p:sp>
      <p:sp>
        <p:nvSpPr>
          <p:cNvPr id="6" name="TextBox 5"/>
          <p:cNvSpPr txBox="1"/>
          <p:nvPr/>
        </p:nvSpPr>
        <p:spPr>
          <a:xfrm>
            <a:off x="804671" y="271119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Bedah penuh TextStyle &amp; tema: SESI 3 (Hari 2)</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Widget Asas 2/3 — Icon</a:t>
            </a:r>
          </a:p>
        </p:txBody>
      </p:sp>
      <p:sp>
        <p:nvSpPr>
          <p:cNvPr id="3" name="Rounded Rectangle 2"/>
          <p:cNvSpPr/>
          <p:nvPr/>
        </p:nvSpPr>
        <p:spPr>
          <a:xfrm>
            <a:off x="640080" y="1051560"/>
            <a:ext cx="10911535" cy="95097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76809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const Icon(Icons.school, size: 32, color: Color(0xFF1A2B5C))</a:t>
            </a:r>
          </a:p>
          <a:p>
            <a:pPr>
              <a:lnSpc>
                <a:spcPct val="100000"/>
              </a:lnSpc>
            </a:pPr>
            <a:r>
              <a:rPr sz="1100">
                <a:solidFill>
                  <a:srgbClr val="E6E8EE"/>
                </a:solidFill>
                <a:latin typeface="Consolas"/>
              </a:rPr>
              <a:t>const Icon(Icons.flag, size: 32)</a:t>
            </a:r>
          </a:p>
          <a:p>
            <a:pPr>
              <a:lnSpc>
                <a:spcPct val="100000"/>
              </a:lnSpc>
            </a:pPr>
            <a:r>
              <a:rPr sz="1100">
                <a:solidFill>
                  <a:srgbClr val="E6E8EE"/>
                </a:solidFill>
                <a:latin typeface="Consolas"/>
              </a:rPr>
              <a:t/>
            </a:r>
          </a:p>
        </p:txBody>
      </p:sp>
      <p:sp>
        <p:nvSpPr>
          <p:cNvPr id="5" name="TextBox 4"/>
          <p:cNvSpPr txBox="1"/>
          <p:nvPr/>
        </p:nvSpPr>
        <p:spPr>
          <a:xfrm>
            <a:off x="804671" y="211226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Beribu-ribu ikon Material terbina-dalam — tiada muat turun aset</a:t>
            </a:r>
          </a:p>
        </p:txBody>
      </p:sp>
      <p:sp>
        <p:nvSpPr>
          <p:cNvPr id="6" name="TextBox 5"/>
          <p:cNvSpPr txBox="1"/>
          <p:nvPr/>
        </p:nvSpPr>
        <p:spPr>
          <a:xfrm>
            <a:off x="804671" y="233629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Katalog penuh: fonts.google.com/icons</a:t>
            </a:r>
          </a:p>
        </p:txBody>
      </p:sp>
      <p:sp>
        <p:nvSpPr>
          <p:cNvPr id="7" name="TextBox 6"/>
          <p:cNvSpPr txBox="1"/>
          <p:nvPr/>
        </p:nvSpPr>
        <p:spPr>
          <a:xfrm>
            <a:off x="804671" y="256032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Color(0xFF1A2B5C) = navy — warna tema KptTheme kursus ini</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Widget Asas 3/3 — Image</a:t>
            </a:r>
          </a:p>
        </p:txBody>
      </p:sp>
      <p:sp>
        <p:nvSpPr>
          <p:cNvPr id="3" name="Rounded Rectangle 2"/>
          <p:cNvSpPr/>
          <p:nvPr/>
        </p:nvSpPr>
        <p:spPr>
          <a:xfrm>
            <a:off x="640080" y="1051560"/>
            <a:ext cx="10911535" cy="207568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89280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Cara 1: Image.network — muat imej terus dari URL</a:t>
            </a:r>
          </a:p>
          <a:p>
            <a:pPr>
              <a:lnSpc>
                <a:spcPct val="100000"/>
              </a:lnSpc>
            </a:pPr>
            <a:r>
              <a:rPr sz="1100">
                <a:solidFill>
                  <a:srgbClr val="E6E8EE"/>
                </a:solidFill>
                <a:latin typeface="Consolas"/>
              </a:rPr>
              <a:t>Image.network(</a:t>
            </a:r>
          </a:p>
          <a:p>
            <a:pPr>
              <a:lnSpc>
                <a:spcPct val="100000"/>
              </a:lnSpc>
            </a:pPr>
            <a:r>
              <a:rPr sz="1100">
                <a:solidFill>
                  <a:srgbClr val="E6E8EE"/>
                </a:solidFill>
                <a:latin typeface="Consolas"/>
              </a:rPr>
              <a:t>  'https://flutter.github.io/assets-for-api-docs/assets/widgets/owl.jpg',</a:t>
            </a:r>
          </a:p>
          <a:p>
            <a:pPr>
              <a:lnSpc>
                <a:spcPct val="100000"/>
              </a:lnSpc>
            </a:pPr>
            <a:r>
              <a:rPr sz="1100">
                <a:solidFill>
                  <a:srgbClr val="E6E8EE"/>
                </a:solidFill>
                <a:latin typeface="Consolas"/>
              </a:rPr>
              <a:t>  height: 120,</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Cara 2: emoji bendera sebagai Text — ringan untuk negara</a:t>
            </a:r>
          </a:p>
          <a:p>
            <a:pPr>
              <a:lnSpc>
                <a:spcPct val="100000"/>
              </a:lnSpc>
            </a:pPr>
            <a:r>
              <a:rPr sz="1100">
                <a:solidFill>
                  <a:srgbClr val="E6E8EE"/>
                </a:solidFill>
                <a:latin typeface="Consolas"/>
              </a:rPr>
              <a:t>const Text('🇪🇬', style: TextStyle(fontSize: 40)) // Mesir (Egypt)</a:t>
            </a:r>
          </a:p>
          <a:p>
            <a:pPr>
              <a:lnSpc>
                <a:spcPct val="100000"/>
              </a:lnSpc>
            </a:pPr>
            <a:r>
              <a:rPr sz="1100">
                <a:solidFill>
                  <a:srgbClr val="E6E8EE"/>
                </a:solidFill>
                <a:latin typeface="Consolas"/>
              </a:rPr>
              <a:t/>
            </a:r>
          </a:p>
        </p:txBody>
      </p:sp>
      <p:sp>
        <p:nvSpPr>
          <p:cNvPr id="5" name="Rounded Rectangle 4"/>
          <p:cNvSpPr/>
          <p:nvPr/>
        </p:nvSpPr>
        <p:spPr>
          <a:xfrm>
            <a:off x="640080" y="3236976"/>
            <a:ext cx="10911535" cy="658368"/>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3236976"/>
            <a:ext cx="54864" cy="658368"/>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310128"/>
            <a:ext cx="10600639" cy="512063"/>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Model sebenar Programme ada getter flagEmoji — memetakan country ('Egypt'/'Morocco') ke 🇪🇬/🇲🇦 tanpa fail imej. Kita guna corak ini semula Hari 2.</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Container — Kotak Serba Boleh</a:t>
            </a:r>
          </a:p>
        </p:txBody>
      </p:sp>
      <p:sp>
        <p:nvSpPr>
          <p:cNvPr id="3" name="Rounded Rectangle 2"/>
          <p:cNvSpPr/>
          <p:nvPr/>
        </p:nvSpPr>
        <p:spPr>
          <a:xfrm>
            <a:off x="640080" y="1051560"/>
            <a:ext cx="10911535" cy="207568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89280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Container(</a:t>
            </a:r>
          </a:p>
          <a:p>
            <a:pPr>
              <a:lnSpc>
                <a:spcPct val="100000"/>
              </a:lnSpc>
            </a:pPr>
            <a:r>
              <a:rPr sz="1100">
                <a:solidFill>
                  <a:srgbClr val="E6E8EE"/>
                </a:solidFill>
                <a:latin typeface="Consolas"/>
              </a:rPr>
              <a:t>  padding: const EdgeInsets.all(16),</a:t>
            </a:r>
          </a:p>
          <a:p>
            <a:pPr>
              <a:lnSpc>
                <a:spcPct val="100000"/>
              </a:lnSpc>
            </a:pPr>
            <a:r>
              <a:rPr sz="1100">
                <a:solidFill>
                  <a:srgbClr val="E6E8EE"/>
                </a:solidFill>
                <a:latin typeface="Consolas"/>
              </a:rPr>
              <a:t>  decoration: BoxDecoration(</a:t>
            </a:r>
          </a:p>
          <a:p>
            <a:pPr>
              <a:lnSpc>
                <a:spcPct val="100000"/>
              </a:lnSpc>
            </a:pPr>
            <a:r>
              <a:rPr sz="1100">
                <a:solidFill>
                  <a:srgbClr val="E6E8EE"/>
                </a:solidFill>
                <a:latin typeface="Consolas"/>
              </a:rPr>
              <a:t>    color: const Color(0xFF1A2B5C), // navy — warna tema KptTheme</a:t>
            </a:r>
          </a:p>
          <a:p>
            <a:pPr>
              <a:lnSpc>
                <a:spcPct val="100000"/>
              </a:lnSpc>
            </a:pPr>
            <a:r>
              <a:rPr sz="1100">
                <a:solidFill>
                  <a:srgbClr val="E6E8EE"/>
                </a:solidFill>
                <a:latin typeface="Consolas"/>
              </a:rPr>
              <a:t>    borderRadius: BorderRadius.circular(12),</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child: const Text('Kotak navy', style: TextStyle(color: Colors.white)),</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323697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Warna latar, saiz, sempadan, sudut bulat, padding &amp; margin — semua dalam satu widget</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Padding vs Margin</a:t>
            </a:r>
          </a:p>
        </p:txBody>
      </p:sp>
      <p:graphicFrame>
        <p:nvGraphicFramePr>
          <p:cNvPr id="3" name="Table 2"/>
          <p:cNvGraphicFramePr>
            <a:graphicFrameLocks noGrp="1"/>
          </p:cNvGraphicFramePr>
          <p:nvPr/>
        </p:nvGraphicFramePr>
        <p:xfrm>
          <a:off x="640080" y="1051560"/>
          <a:ext cx="10911535" cy="137160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txBody>
                  <a:tcPr marL="63500" marR="63500" marT="25400" marB="25400">
                    <a:solidFill>
                      <a:srgbClr val="1A2B5C"/>
                    </a:solidFill>
                  </a:tcPr>
                </a:tc>
                <a:tc>
                  <a:txBody>
                    <a:bodyPr/>
                    <a:lstStyle/>
                    <a:p>
                      <a:r>
                        <a:rPr sz="1100" b="1">
                          <a:solidFill>
                            <a:srgbClr val="FFFFFF"/>
                          </a:solidFill>
                          <a:latin typeface="Segoe UI"/>
                        </a:rPr>
                        <a:t>Padding</a:t>
                      </a:r>
                    </a:p>
                  </a:txBody>
                  <a:tcPr marL="63500" marR="63500" marT="25400" marB="25400">
                    <a:solidFill>
                      <a:srgbClr val="1A2B5C"/>
                    </a:solidFill>
                  </a:tcPr>
                </a:tc>
                <a:tc>
                  <a:txBody>
                    <a:bodyPr/>
                    <a:lstStyle/>
                    <a:p>
                      <a:r>
                        <a:rPr sz="1100" b="1">
                          <a:solidFill>
                            <a:srgbClr val="FFFFFF"/>
                          </a:solidFill>
                          <a:latin typeface="Segoe UI"/>
                        </a:rPr>
                        <a:t>Margin</a:t>
                      </a:r>
                    </a:p>
                  </a:txBody>
                  <a:tcPr marL="63500" marR="63500" marT="25400" marB="25400">
                    <a:solidFill>
                      <a:srgbClr val="1A2B5C"/>
                    </a:solidFill>
                  </a:tcPr>
                </a:tc>
              </a:tr>
              <a:tr h="274320">
                <a:tc>
                  <a:txBody>
                    <a:bodyPr/>
                    <a:lstStyle/>
                    <a:p>
                      <a:r>
                        <a:rPr sz="1100" b="0">
                          <a:solidFill>
                            <a:srgbClr val="566371"/>
                          </a:solidFill>
                          <a:latin typeface="Segoe UI"/>
                        </a:rPr>
                        <a:t>Maksud</a:t>
                      </a:r>
                    </a:p>
                  </a:txBody>
                  <a:tcPr marL="63500" marR="63500" marT="25400" marB="25400">
                    <a:solidFill>
                      <a:srgbClr val="FFFFFF"/>
                    </a:solidFill>
                  </a:tcPr>
                </a:tc>
                <a:tc>
                  <a:txBody>
                    <a:bodyPr/>
                    <a:lstStyle/>
                    <a:p>
                      <a:r>
                        <a:rPr sz="1100" b="0">
                          <a:solidFill>
                            <a:srgbClr val="566371"/>
                          </a:solidFill>
                          <a:latin typeface="Segoe UI"/>
                        </a:rPr>
                        <a:t>Jarak DALAM — sempadan widget ↔ kandungannya</a:t>
                      </a:r>
                    </a:p>
                  </a:txBody>
                  <a:tcPr marL="63500" marR="63500" marT="25400" marB="25400">
                    <a:solidFill>
                      <a:srgbClr val="FFFFFF"/>
                    </a:solidFill>
                  </a:tcPr>
                </a:tc>
                <a:tc>
                  <a:txBody>
                    <a:bodyPr/>
                    <a:lstStyle/>
                    <a:p>
                      <a:r>
                        <a:rPr sz="1100" b="0">
                          <a:solidFill>
                            <a:srgbClr val="566371"/>
                          </a:solidFill>
                          <a:latin typeface="Segoe UI"/>
                        </a:rPr>
                        <a:t>Jarak LUAR — sempadan widget ↔ sekelilingnya</a:t>
                      </a:r>
                    </a:p>
                  </a:txBody>
                  <a:tcPr marL="63500" marR="63500" marT="25400" marB="25400">
                    <a:solidFill>
                      <a:srgbClr val="FFFFFF"/>
                    </a:solidFill>
                  </a:tcPr>
                </a:tc>
              </a:tr>
              <a:tr h="274320">
                <a:tc>
                  <a:txBody>
                    <a:bodyPr/>
                    <a:lstStyle/>
                    <a:p>
                      <a:r>
                        <a:rPr sz="1100" b="0">
                          <a:solidFill>
                            <a:srgbClr val="566371"/>
                          </a:solidFill>
                          <a:latin typeface="Segoe UI"/>
                        </a:rPr>
                        <a:t>Analogi</a:t>
                      </a:r>
                    </a:p>
                  </a:txBody>
                  <a:tcPr marL="63500" marR="63500" marT="25400" marB="25400">
                    <a:solidFill>
                      <a:srgbClr val="FFFFFF"/>
                    </a:solidFill>
                  </a:tcPr>
                </a:tc>
                <a:tc>
                  <a:txBody>
                    <a:bodyPr/>
                    <a:lstStyle/>
                    <a:p>
                      <a:r>
                        <a:rPr sz="1100" b="0">
                          <a:solidFill>
                            <a:srgbClr val="566371"/>
                          </a:solidFill>
                          <a:latin typeface="Segoe UI"/>
                        </a:rPr>
                        <a:t>Ruang dalam bingkai gambar, sekitar gambar</a:t>
                      </a:r>
                    </a:p>
                  </a:txBody>
                  <a:tcPr marL="63500" marR="63500" marT="25400" marB="25400">
                    <a:solidFill>
                      <a:srgbClr val="FFFFFF"/>
                    </a:solidFill>
                  </a:tcPr>
                </a:tc>
                <a:tc>
                  <a:txBody>
                    <a:bodyPr/>
                    <a:lstStyle/>
                    <a:p>
                      <a:r>
                        <a:rPr sz="1100" b="0">
                          <a:solidFill>
                            <a:srgbClr val="566371"/>
                          </a:solidFill>
                          <a:latin typeface="Segoe UI"/>
                        </a:rPr>
                        <a:t>Ruang di luar bingkai, sebelum dinding</a:t>
                      </a:r>
                    </a:p>
                  </a:txBody>
                  <a:tcPr marL="63500" marR="63500" marT="25400" marB="25400">
                    <a:solidFill>
                      <a:srgbClr val="FFFFFF"/>
                    </a:solidFill>
                  </a:tcPr>
                </a:tc>
              </a:tr>
              <a:tr h="274320">
                <a:tc>
                  <a:txBody>
                    <a:bodyPr/>
                    <a:lstStyle/>
                    <a:p>
                      <a:r>
                        <a:rPr sz="1100" b="0">
                          <a:solidFill>
                            <a:srgbClr val="566371"/>
                          </a:solidFill>
                          <a:latin typeface="Segoe UI"/>
                        </a:rPr>
                        <a:t>Dalam Container</a:t>
                      </a:r>
                    </a:p>
                  </a:txBody>
                  <a:tcPr marL="63500" marR="63500" marT="25400" marB="25400">
                    <a:solidFill>
                      <a:srgbClr val="FFFFFF"/>
                    </a:solidFill>
                  </a:tcPr>
                </a:tc>
                <a:tc>
                  <a:txBody>
                    <a:bodyPr/>
                    <a:lstStyle/>
                    <a:p>
                      <a:r>
                        <a:rPr sz="1100" b="0">
                          <a:solidFill>
                            <a:srgbClr val="566371"/>
                          </a:solidFill>
                          <a:latin typeface="Segoe UI"/>
                        </a:rPr>
                        <a:t>padding: EdgeInsets.all(16)</a:t>
                      </a:r>
                    </a:p>
                  </a:txBody>
                  <a:tcPr marL="63500" marR="63500" marT="25400" marB="25400">
                    <a:solidFill>
                      <a:srgbClr val="FFFFFF"/>
                    </a:solidFill>
                  </a:tcPr>
                </a:tc>
                <a:tc>
                  <a:txBody>
                    <a:bodyPr/>
                    <a:lstStyle/>
                    <a:p>
                      <a:r>
                        <a:rPr sz="1100" b="0">
                          <a:solidFill>
                            <a:srgbClr val="566371"/>
                          </a:solidFill>
                          <a:latin typeface="Segoe UI"/>
                        </a:rPr>
                        <a:t>margin: EdgeInsets.all(16)</a:t>
                      </a:r>
                    </a:p>
                  </a:txBody>
                  <a:tcPr marL="63500" marR="63500" marT="25400" marB="25400">
                    <a:solidFill>
                      <a:srgbClr val="FFFFFF"/>
                    </a:solidFill>
                  </a:tcPr>
                </a:tc>
              </a:tr>
              <a:tr h="274320">
                <a:tc>
                  <a:txBody>
                    <a:bodyPr/>
                    <a:lstStyle/>
                    <a:p>
                      <a:r>
                        <a:rPr sz="1100" b="0">
                          <a:solidFill>
                            <a:srgbClr val="566371"/>
                          </a:solidFill>
                          <a:latin typeface="Segoe UI"/>
                        </a:rPr>
                        <a:t>Widget berasingan?</a:t>
                      </a:r>
                    </a:p>
                  </a:txBody>
                  <a:tcPr marL="63500" marR="63500" marT="25400" marB="25400">
                    <a:solidFill>
                      <a:srgbClr val="FFFFFF"/>
                    </a:solidFill>
                  </a:tcPr>
                </a:tc>
                <a:tc>
                  <a:txBody>
                    <a:bodyPr/>
                    <a:lstStyle/>
                    <a:p>
                      <a:r>
                        <a:rPr sz="1100" b="0">
                          <a:solidFill>
                            <a:srgbClr val="566371"/>
                          </a:solidFill>
                          <a:latin typeface="Segoe UI"/>
                        </a:rPr>
                        <a:t>Ya — Padding(padding: ..., child: ...)</a:t>
                      </a:r>
                    </a:p>
                  </a:txBody>
                  <a:tcPr marL="63500" marR="63500" marT="25400" marB="25400">
                    <a:solidFill>
                      <a:srgbClr val="FFFFFF"/>
                    </a:solidFill>
                  </a:tcPr>
                </a:tc>
                <a:tc>
                  <a:txBody>
                    <a:bodyPr/>
                    <a:lstStyle/>
                    <a:p>
                      <a:r>
                        <a:rPr sz="1100" b="0">
                          <a:solidFill>
                            <a:srgbClr val="566371"/>
                          </a:solidFill>
                          <a:latin typeface="Segoe UI"/>
                        </a:rPr>
                        <a:t>Tiada widget Margin — parameter sahaja</a:t>
                      </a:r>
                    </a:p>
                  </a:txBody>
                  <a:tcPr marL="63500" marR="63500" marT="25400" marB="25400">
                    <a:solidFill>
                      <a:srgbClr val="FFFFFF"/>
                    </a:solidFill>
                  </a:tcPr>
                </a:tc>
              </a:tr>
            </a:tbl>
          </a:graphicData>
        </a:graphic>
      </p:graphicFrame>
      <p:sp>
        <p:nvSpPr>
          <p:cNvPr id="4" name="Rounded Rectangle 3"/>
          <p:cNvSpPr/>
          <p:nvPr/>
        </p:nvSpPr>
        <p:spPr>
          <a:xfrm>
            <a:off x="640080" y="2551176"/>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40080" y="2551176"/>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624328"/>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EdgeInsets.all(16) · EdgeInsets.symmetric(horizontal: 12, vertical: 8) · EdgeInsets.only(top: 8, left: 16)</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SizedBox — Jarak &amp; Saiz Tepat</a:t>
            </a:r>
          </a:p>
        </p:txBody>
      </p:sp>
      <p:sp>
        <p:nvSpPr>
          <p:cNvPr id="3" name="Rounded Rectangle 2"/>
          <p:cNvSpPr/>
          <p:nvPr/>
        </p:nvSpPr>
        <p:spPr>
          <a:xfrm>
            <a:off x="640080" y="1051560"/>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Column(</a:t>
            </a:r>
          </a:p>
          <a:p>
            <a:pPr>
              <a:lnSpc>
                <a:spcPct val="100000"/>
              </a:lnSpc>
            </a:pPr>
            <a:r>
              <a:rPr sz="1100">
                <a:solidFill>
                  <a:srgbClr val="E6E8EE"/>
                </a:solidFill>
                <a:latin typeface="Consolas"/>
              </a:rPr>
              <a:t>  children: const [</a:t>
            </a:r>
          </a:p>
          <a:p>
            <a:pPr>
              <a:lnSpc>
                <a:spcPct val="100000"/>
              </a:lnSpc>
            </a:pPr>
            <a:r>
              <a:rPr sz="1100">
                <a:solidFill>
                  <a:srgbClr val="E6E8EE"/>
                </a:solidFill>
                <a:latin typeface="Consolas"/>
              </a:rPr>
              <a:t>    Text('Universiti Al-Azhar'),</a:t>
            </a:r>
          </a:p>
          <a:p>
            <a:pPr>
              <a:lnSpc>
                <a:spcPct val="100000"/>
              </a:lnSpc>
            </a:pPr>
            <a:r>
              <a:rPr sz="1100">
                <a:solidFill>
                  <a:srgbClr val="E6E8EE"/>
                </a:solidFill>
                <a:latin typeface="Consolas"/>
              </a:rPr>
              <a:t>    SizedBox(height: 12), // jarak kosong 12px</a:t>
            </a:r>
          </a:p>
          <a:p>
            <a:pPr>
              <a:lnSpc>
                <a:spcPct val="100000"/>
              </a:lnSpc>
            </a:pPr>
            <a:r>
              <a:rPr sz="1100">
                <a:solidFill>
                  <a:srgbClr val="E6E8EE"/>
                </a:solidFill>
                <a:latin typeface="Consolas"/>
              </a:rPr>
              <a:t>    Text('Kaherah (Cairo), Mesir'),</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304952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Kegunaan paling lazim: spacer ringkas antara widget dalam Column/Row</a:t>
            </a:r>
          </a:p>
        </p:txBody>
      </p:sp>
      <p:sp>
        <p:nvSpPr>
          <p:cNvPr id="6" name="TextBox 5"/>
          <p:cNvSpPr txBox="1"/>
          <p:nvPr/>
        </p:nvSpPr>
        <p:spPr>
          <a:xfrm>
            <a:off x="804671" y="327355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Boleh juga paksa saiz tepat: SizedBox(width: 200, height: 50, child: ...)</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Latihan Bengkel: Kad Info Program (Statik)</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Container(</a:t>
            </a:r>
          </a:p>
          <a:p>
            <a:pPr>
              <a:lnSpc>
                <a:spcPct val="100000"/>
              </a:lnSpc>
            </a:pPr>
            <a:r>
              <a:rPr sz="1100">
                <a:solidFill>
                  <a:srgbClr val="E6E8EE"/>
                </a:solidFill>
                <a:latin typeface="Consolas"/>
              </a:rPr>
              <a:t>  margin: const EdgeInsets.symmetric(horizontal: 16, vertical: 8),</a:t>
            </a:r>
          </a:p>
          <a:p>
            <a:pPr>
              <a:lnSpc>
                <a:spcPct val="100000"/>
              </a:lnSpc>
            </a:pPr>
            <a:r>
              <a:rPr sz="1100">
                <a:solidFill>
                  <a:srgbClr val="E6E8EE"/>
                </a:solidFill>
                <a:latin typeface="Consolas"/>
              </a:rPr>
              <a:t>  padding: const EdgeInsets.all(16),</a:t>
            </a:r>
          </a:p>
          <a:p>
            <a:pPr>
              <a:lnSpc>
                <a:spcPct val="100000"/>
              </a:lnSpc>
            </a:pPr>
            <a:r>
              <a:rPr sz="1100">
                <a:solidFill>
                  <a:srgbClr val="E6E8EE"/>
                </a:solidFill>
                <a:latin typeface="Consolas"/>
              </a:rPr>
              <a:t>  decoration: BoxDecoration(</a:t>
            </a:r>
          </a:p>
          <a:p>
            <a:pPr>
              <a:lnSpc>
                <a:spcPct val="100000"/>
              </a:lnSpc>
            </a:pPr>
            <a:r>
              <a:rPr sz="1100">
                <a:solidFill>
                  <a:srgbClr val="E6E8EE"/>
                </a:solidFill>
                <a:latin typeface="Consolas"/>
              </a:rPr>
              <a:t>    color: Colors.white,</a:t>
            </a:r>
          </a:p>
          <a:p>
            <a:pPr>
              <a:lnSpc>
                <a:spcPct val="100000"/>
              </a:lnSpc>
            </a:pPr>
            <a:r>
              <a:rPr sz="1100">
                <a:solidFill>
                  <a:srgbClr val="E6E8EE"/>
                </a:solidFill>
                <a:latin typeface="Consolas"/>
              </a:rPr>
              <a:t>    borderRadius: BorderRadius.circular(14),</a:t>
            </a:r>
          </a:p>
          <a:p>
            <a:pPr>
              <a:lnSpc>
                <a:spcPct val="100000"/>
              </a:lnSpc>
            </a:pPr>
            <a:r>
              <a:rPr sz="1100">
                <a:solidFill>
                  <a:srgbClr val="E6E8EE"/>
                </a:solidFill>
                <a:latin typeface="Consolas"/>
              </a:rPr>
              <a:t>    border: Border.all(color: Colors.grey.shade300),</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child: Column(</a:t>
            </a:r>
          </a:p>
          <a:p>
            <a:pPr>
              <a:lnSpc>
                <a:spcPct val="100000"/>
              </a:lnSpc>
            </a:pPr>
            <a:r>
              <a:rPr sz="1100">
                <a:solidFill>
                  <a:srgbClr val="E6E8EE"/>
                </a:solidFill>
                <a:latin typeface="Consolas"/>
              </a:rPr>
              <a:t>    crossAxisAlignment: CrossAxisAlignment.start,</a:t>
            </a:r>
          </a:p>
          <a:p>
            <a:pPr>
              <a:lnSpc>
                <a:spcPct val="100000"/>
              </a:lnSpc>
            </a:pPr>
            <a:r>
              <a:rPr sz="1100">
                <a:solidFill>
                  <a:srgbClr val="E6E8EE"/>
                </a:solidFill>
                <a:latin typeface="Consolas"/>
              </a:rPr>
              <a:t>    children: const [</a:t>
            </a:r>
          </a:p>
          <a:p>
            <a:pPr>
              <a:lnSpc>
                <a:spcPct val="100000"/>
              </a:lnSpc>
            </a:pPr>
            <a:r>
              <a:rPr sz="1100">
                <a:solidFill>
                  <a:srgbClr val="E6E8EE"/>
                </a:solidFill>
                <a:latin typeface="Consolas"/>
              </a:rPr>
              <a:t>      Text('🇪🇬  Universiti Al-Azhar',</a:t>
            </a:r>
          </a:p>
          <a:p>
            <a:pPr>
              <a:lnSpc>
                <a:spcPct val="100000"/>
              </a:lnSpc>
            </a:pPr>
            <a:r>
              <a:rPr sz="1100">
                <a:solidFill>
                  <a:srgbClr val="E6E8EE"/>
                </a:solidFill>
                <a:latin typeface="Consolas"/>
              </a:rPr>
              <a:t>        style: TextStyle(fontSize: 16, fontWeight: FontWeight.bold,</a:t>
            </a:r>
          </a:p>
          <a:p>
            <a:pPr>
              <a:lnSpc>
                <a:spcPct val="100000"/>
              </a:lnSpc>
            </a:pPr>
            <a:r>
              <a:rPr sz="1100">
                <a:solidFill>
                  <a:srgbClr val="E6E8EE"/>
                </a:solidFill>
                <a:latin typeface="Consolas"/>
              </a:rPr>
              <a:t>          color: Color(0xFF1A2B5C))),</a:t>
            </a:r>
          </a:p>
          <a:p>
            <a:pPr>
              <a:lnSpc>
                <a:spcPct val="100000"/>
              </a:lnSpc>
            </a:pPr>
            <a:r>
              <a:rPr sz="1100">
                <a:solidFill>
                  <a:srgbClr val="E6E8EE"/>
                </a:solidFill>
                <a:latin typeface="Consolas"/>
              </a:rPr>
              <a:t>      SizedBox(height: 4),</a:t>
            </a:r>
          </a:p>
          <a:p>
            <a:pPr>
              <a:lnSpc>
                <a:spcPct val="100000"/>
              </a:lnSpc>
            </a:pPr>
            <a:r>
              <a:rPr sz="1100">
                <a:solidFill>
                  <a:srgbClr val="E6E8EE"/>
                </a:solidFill>
                <a:latin typeface="Consolas"/>
              </a:rPr>
              <a:t>      Text('Kaherah (Cairo), Mesir', style: TextStyle(color: Colors.grey)),</a:t>
            </a:r>
          </a:p>
          <a:p>
            <a:pPr>
              <a:lnSpc>
                <a:spcPct val="100000"/>
              </a:lnSpc>
            </a:pPr>
            <a:r>
              <a:rPr sz="1100">
                <a:solidFill>
                  <a:srgbClr val="E6E8EE"/>
                </a:solidFill>
                <a:latin typeface="Consolas"/>
              </a:rPr>
              <a:t>      SizedBox(height: 12),</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StatelessWidget vs StatefulWidget</a:t>
            </a:r>
          </a:p>
        </p:txBody>
      </p:sp>
      <p:graphicFrame>
        <p:nvGraphicFramePr>
          <p:cNvPr id="3" name="Table 2"/>
          <p:cNvGraphicFramePr>
            <a:graphicFrameLocks noGrp="1"/>
          </p:cNvGraphicFramePr>
          <p:nvPr/>
        </p:nvGraphicFramePr>
        <p:xfrm>
          <a:off x="640080" y="1051560"/>
          <a:ext cx="10911535" cy="109728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txBody>
                  <a:tcPr marL="63500" marR="63500" marT="25400" marB="25400">
                    <a:solidFill>
                      <a:srgbClr val="1A2B5C"/>
                    </a:solidFill>
                  </a:tcPr>
                </a:tc>
                <a:tc>
                  <a:txBody>
                    <a:bodyPr/>
                    <a:lstStyle/>
                    <a:p>
                      <a:r>
                        <a:rPr sz="1100" b="1">
                          <a:solidFill>
                            <a:srgbClr val="FFFFFF"/>
                          </a:solidFill>
                          <a:latin typeface="Segoe UI"/>
                        </a:rPr>
                        <a:t>StatelessWidget</a:t>
                      </a:r>
                    </a:p>
                  </a:txBody>
                  <a:tcPr marL="63500" marR="63500" marT="25400" marB="25400">
                    <a:solidFill>
                      <a:srgbClr val="1A2B5C"/>
                    </a:solidFill>
                  </a:tcPr>
                </a:tc>
                <a:tc>
                  <a:txBody>
                    <a:bodyPr/>
                    <a:lstStyle/>
                    <a:p>
                      <a:r>
                        <a:rPr sz="1100" b="1">
                          <a:solidFill>
                            <a:srgbClr val="FFFFFF"/>
                          </a:solidFill>
                          <a:latin typeface="Segoe UI"/>
                        </a:rPr>
                        <a:t>StatefulWidget</a:t>
                      </a:r>
                    </a:p>
                  </a:txBody>
                  <a:tcPr marL="63500" marR="63500" marT="25400" marB="25400">
                    <a:solidFill>
                      <a:srgbClr val="1A2B5C"/>
                    </a:solidFill>
                  </a:tcPr>
                </a:tc>
              </a:tr>
              <a:tr h="274320">
                <a:tc>
                  <a:txBody>
                    <a:bodyPr/>
                    <a:lstStyle/>
                    <a:p>
                      <a:r>
                        <a:rPr sz="1100" b="0">
                          <a:solidFill>
                            <a:srgbClr val="566371"/>
                          </a:solidFill>
                          <a:latin typeface="Segoe UI"/>
                        </a:rPr>
                        <a:t>Bila guna</a:t>
                      </a:r>
                    </a:p>
                  </a:txBody>
                  <a:tcPr marL="63500" marR="63500" marT="25400" marB="25400">
                    <a:solidFill>
                      <a:srgbClr val="FFFFFF"/>
                    </a:solidFill>
                  </a:tcPr>
                </a:tc>
                <a:tc>
                  <a:txBody>
                    <a:bodyPr/>
                    <a:lstStyle/>
                    <a:p>
                      <a:r>
                        <a:rPr sz="1100" b="0">
                          <a:solidFill>
                            <a:srgbClr val="566371"/>
                          </a:solidFill>
                          <a:latin typeface="Segoe UI"/>
                        </a:rPr>
                        <a:t>UI tidak berubah selepas dibina</a:t>
                      </a:r>
                    </a:p>
                  </a:txBody>
                  <a:tcPr marL="63500" marR="63500" marT="25400" marB="25400">
                    <a:solidFill>
                      <a:srgbClr val="FFFFFF"/>
                    </a:solidFill>
                  </a:tcPr>
                </a:tc>
                <a:tc>
                  <a:txBody>
                    <a:bodyPr/>
                    <a:lstStyle/>
                    <a:p>
                      <a:r>
                        <a:rPr sz="1100" b="0">
                          <a:solidFill>
                            <a:srgbClr val="566371"/>
                          </a:solidFill>
                          <a:latin typeface="Segoe UI"/>
                        </a:rPr>
                        <a:t>UI perlu berubah — interaksi pengguna / data dalaman</a:t>
                      </a:r>
                    </a:p>
                  </a:txBody>
                  <a:tcPr marL="63500" marR="63500" marT="25400" marB="25400">
                    <a:solidFill>
                      <a:srgbClr val="FFFFFF"/>
                    </a:solidFill>
                  </a:tcPr>
                </a:tc>
              </a:tr>
              <a:tr h="274320">
                <a:tc>
                  <a:txBody>
                    <a:bodyPr/>
                    <a:lstStyle/>
                    <a:p>
                      <a:r>
                        <a:rPr sz="1100" b="0">
                          <a:solidFill>
                            <a:srgbClr val="566371"/>
                          </a:solidFill>
                          <a:latin typeface="Segoe UI"/>
                        </a:rPr>
                        <a:t>Contoh projek</a:t>
                      </a:r>
                    </a:p>
                  </a:txBody>
                  <a:tcPr marL="63500" marR="63500" marT="25400" marB="25400">
                    <a:solidFill>
                      <a:srgbClr val="FFFFFF"/>
                    </a:solidFill>
                  </a:tcPr>
                </a:tc>
                <a:tc>
                  <a:txBody>
                    <a:bodyPr/>
                    <a:lstStyle/>
                    <a:p>
                      <a:r>
                        <a:rPr sz="1100" b="0">
                          <a:solidFill>
                            <a:srgbClr val="566371"/>
                          </a:solidFill>
                          <a:latin typeface="Segoe UI"/>
                        </a:rPr>
                        <a:t>ProgrammeCard (papar sahaja — Hari 2)</a:t>
                      </a:r>
                    </a:p>
                  </a:txBody>
                  <a:tcPr marL="63500" marR="63500" marT="25400" marB="25400">
                    <a:solidFill>
                      <a:srgbClr val="FFFFFF"/>
                    </a:solidFill>
                  </a:tcPr>
                </a:tc>
                <a:tc>
                  <a:txBody>
                    <a:bodyPr/>
                    <a:lstStyle/>
                    <a:p>
                      <a:r>
                        <a:rPr sz="1100" b="0">
                          <a:solidFill>
                            <a:srgbClr val="566371"/>
                          </a:solidFill>
                          <a:latin typeface="Segoe UI"/>
                        </a:rPr>
                        <a:t>Kaunter, borang permohonan (Hari 3)</a:t>
                      </a:r>
                    </a:p>
                  </a:txBody>
                  <a:tcPr marL="63500" marR="63500" marT="25400" marB="25400">
                    <a:solidFill>
                      <a:srgbClr val="FFFFFF"/>
                    </a:solidFill>
                  </a:tcPr>
                </a:tc>
              </a:tr>
              <a:tr h="274320">
                <a:tc>
                  <a:txBody>
                    <a:bodyPr/>
                    <a:lstStyle/>
                    <a:p>
                      <a:r>
                        <a:rPr sz="1100" b="0">
                          <a:solidFill>
                            <a:srgbClr val="566371"/>
                          </a:solidFill>
                          <a:latin typeface="Segoe UI"/>
                        </a:rPr>
                        <a:t>Cara berfungsi</a:t>
                      </a:r>
                    </a:p>
                  </a:txBody>
                  <a:tcPr marL="63500" marR="63500" marT="25400" marB="25400">
                    <a:solidFill>
                      <a:srgbClr val="FFFFFF"/>
                    </a:solidFill>
                  </a:tcPr>
                </a:tc>
                <a:tc>
                  <a:txBody>
                    <a:bodyPr/>
                    <a:lstStyle/>
                    <a:p>
                      <a:r>
                        <a:rPr sz="1100" b="0">
                          <a:solidFill>
                            <a:srgbClr val="566371"/>
                          </a:solidFill>
                          <a:latin typeface="Segoe UI"/>
                        </a:rPr>
                        <a:t>Satu kaedah build() sahaja</a:t>
                      </a:r>
                    </a:p>
                  </a:txBody>
                  <a:tcPr marL="63500" marR="63500" marT="25400" marB="25400">
                    <a:solidFill>
                      <a:srgbClr val="FFFFFF"/>
                    </a:solidFill>
                  </a:tcPr>
                </a:tc>
                <a:tc>
                  <a:txBody>
                    <a:bodyPr/>
                    <a:lstStyle/>
                    <a:p>
                      <a:r>
                        <a:rPr sz="1100" b="0">
                          <a:solidFill>
                            <a:srgbClr val="566371"/>
                          </a:solidFill>
                          <a:latin typeface="Segoe UI"/>
                        </a:rPr>
                        <a:t>Objek State berasingan + setState()</a:t>
                      </a:r>
                    </a:p>
                  </a:txBody>
                  <a:tcPr marL="63500" marR="63500" marT="25400" marB="25400">
                    <a:solidFill>
                      <a:srgbClr val="FFFFFF"/>
                    </a:solidFill>
                  </a:tcPr>
                </a:tc>
              </a:tr>
            </a:tbl>
          </a:graphicData>
        </a:graphic>
      </p:graphicFrame>
      <p:sp>
        <p:nvSpPr>
          <p:cNvPr id="4" name="Rounded Rectangle 3"/>
          <p:cNvSpPr/>
          <p:nvPr/>
        </p:nvSpPr>
        <p:spPr>
          <a:xfrm>
            <a:off x="640080" y="2276856"/>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40080" y="2276856"/>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350008"/>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Analogi: StatelessWidget = gambar bercetak (tak berubah). StatefulWidget = papan tanda LED (boleh dikemas kini bila-bila masa).</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Teaser: setState() — Kaunter "Simpan Program"</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class _SavedProgrammeCounterState</a:t>
            </a:r>
          </a:p>
          <a:p>
            <a:pPr>
              <a:lnSpc>
                <a:spcPct val="100000"/>
              </a:lnSpc>
            </a:pPr>
            <a:r>
              <a:rPr sz="1100">
                <a:solidFill>
                  <a:srgbClr val="E6E8EE"/>
                </a:solidFill>
                <a:latin typeface="Consolas"/>
              </a:rPr>
              <a:t>    extends State&lt;SavedProgrammeCounter&gt; {</a:t>
            </a:r>
          </a:p>
          <a:p>
            <a:pPr>
              <a:lnSpc>
                <a:spcPct val="100000"/>
              </a:lnSpc>
            </a:pPr>
            <a:r>
              <a:rPr sz="1100">
                <a:solidFill>
                  <a:srgbClr val="E6E8EE"/>
                </a:solidFill>
                <a:latin typeface="Consolas"/>
              </a:rPr>
              <a:t>  int _savedCount = 0; // data yang boleh BERUBAH</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void _addProgramme() {</a:t>
            </a:r>
          </a:p>
          <a:p>
            <a:pPr>
              <a:lnSpc>
                <a:spcPct val="100000"/>
              </a:lnSpc>
            </a:pPr>
            <a:r>
              <a:rPr sz="1100">
                <a:solidFill>
                  <a:srgbClr val="E6E8EE"/>
                </a:solidFill>
                <a:latin typeface="Consolas"/>
              </a:rPr>
              <a:t>    setState(() {</a:t>
            </a:r>
          </a:p>
          <a:p>
            <a:pPr>
              <a:lnSpc>
                <a:spcPct val="100000"/>
              </a:lnSpc>
            </a:pPr>
            <a:r>
              <a:rPr sz="1100">
                <a:solidFill>
                  <a:srgbClr val="E6E8EE"/>
                </a:solidFill>
                <a:latin typeface="Consolas"/>
              </a:rPr>
              <a:t>      _savedCount++; // "data berubah, lukis semula build()"</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@override</a:t>
            </a:r>
          </a:p>
          <a:p>
            <a:pPr>
              <a:lnSpc>
                <a:spcPct val="100000"/>
              </a:lnSpc>
            </a:pPr>
            <a:r>
              <a:rPr sz="1100">
                <a:solidFill>
                  <a:srgbClr val="E6E8EE"/>
                </a:solidFill>
                <a:latin typeface="Consolas"/>
              </a:rPr>
              <a:t>  Widget build(BuildContext context) {</a:t>
            </a:r>
          </a:p>
          <a:p>
            <a:pPr>
              <a:lnSpc>
                <a:spcPct val="100000"/>
              </a:lnSpc>
            </a:pPr>
            <a:r>
              <a:rPr sz="1100">
                <a:solidFill>
                  <a:srgbClr val="E6E8EE"/>
                </a:solidFill>
                <a:latin typeface="Consolas"/>
              </a:rPr>
              <a:t>    return Column(</a:t>
            </a:r>
          </a:p>
          <a:p>
            <a:pPr>
              <a:lnSpc>
                <a:spcPct val="100000"/>
              </a:lnSpc>
            </a:pPr>
            <a:r>
              <a:rPr sz="1100">
                <a:solidFill>
                  <a:srgbClr val="E6E8EE"/>
                </a:solidFill>
                <a:latin typeface="Consolas"/>
              </a:rPr>
              <a:t>      mainAxisSize: MainAxisSize.min,</a:t>
            </a:r>
          </a:p>
          <a:p>
            <a:pPr>
              <a:lnSpc>
                <a:spcPct val="100000"/>
              </a:lnSpc>
            </a:pPr>
            <a:r>
              <a:rPr sz="1100">
                <a:solidFill>
                  <a:srgbClr val="E6E8EE"/>
                </a:solidFill>
                <a:latin typeface="Consolas"/>
              </a:rPr>
              <a:t>      children: [</a:t>
            </a:r>
          </a:p>
          <a:p>
            <a:pPr>
              <a:lnSpc>
                <a:spcPct val="100000"/>
              </a:lnSpc>
            </a:pPr>
            <a:r>
              <a:rPr sz="1100">
                <a:solidFill>
                  <a:srgbClr val="E6E8EE"/>
                </a:solidFill>
                <a:latin typeface="Consolas"/>
              </a:rPr>
              <a:t>        Text('Program disimpan: $_savedCount'),</a:t>
            </a:r>
          </a:p>
          <a:p>
            <a:pPr>
              <a:lnSpc>
                <a:spcPct val="100000"/>
              </a:lnSpc>
            </a:pPr>
            <a:r>
              <a:rPr sz="1100">
                <a:solidFill>
                  <a:srgbClr val="E6E8EE"/>
                </a:solidFill>
                <a:latin typeface="Consolas"/>
              </a:rPr>
              <a:t>        const SizedBox(height: 8),</a:t>
            </a:r>
          </a:p>
          <a:p>
            <a:pPr>
              <a:lnSpc>
                <a:spcPct val="100000"/>
              </a:lnSpc>
            </a:pPr>
            <a:r>
              <a:rPr sz="1100">
                <a:solidFill>
                  <a:srgbClr val="E6E8EE"/>
                </a:solidFill>
                <a:latin typeface="Consolas"/>
              </a:rPr>
              <a:t>…</a:t>
            </a:r>
          </a:p>
        </p:txBody>
      </p:sp>
      <p:sp>
        <p:nvSpPr>
          <p:cNvPr id="5" name="Rounded Rectangle 4"/>
          <p:cNvSpPr/>
          <p:nvPr/>
        </p:nvSpPr>
        <p:spPr>
          <a:xfrm>
            <a:off x="640080" y="4924044"/>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4924044"/>
            <a:ext cx="54864" cy="42062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4997196"/>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Pratonton sahaja — kitaran hayat penuh StatefulWidget (initState(), dispose(), dsb.) dibedah di SESI 5 (Hari 3).</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Ringkasan Hari 1 &amp; Langkah Seterusnya</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Operators, if/else, switch</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for/while &amp; function (jumlah kuota: 340)</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Text, Icon, Image</a:t>
            </a:r>
          </a:p>
        </p:txBody>
      </p:sp>
      <p:sp>
        <p:nvSpPr>
          <p:cNvPr id="6" name="TextBox 5"/>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Container, Padding vs Margin, SizedBox — kad program statik</a:t>
            </a:r>
          </a:p>
        </p:txBody>
      </p:sp>
      <p:sp>
        <p:nvSpPr>
          <p:cNvPr id="7" name="TextBox 6"/>
          <p:cNvSpPr txBox="1"/>
          <p:nvPr/>
        </p:nvSpPr>
        <p:spPr>
          <a:xfrm>
            <a:off x="804671" y="19476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StatelessWidget vs StatefulWidget + teaser setState()</a:t>
            </a:r>
          </a:p>
        </p:txBody>
      </p:sp>
      <p:sp>
        <p:nvSpPr>
          <p:cNvPr id="8" name="Rounded Rectangle 7"/>
          <p:cNvSpPr/>
          <p:nvPr/>
        </p:nvSpPr>
        <p:spPr>
          <a:xfrm>
            <a:off x="640080" y="2244852"/>
            <a:ext cx="10911535" cy="113842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2336292"/>
            <a:ext cx="10655503" cy="95554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git init</a:t>
            </a:r>
          </a:p>
          <a:p>
            <a:pPr>
              <a:lnSpc>
                <a:spcPct val="100000"/>
              </a:lnSpc>
            </a:pPr>
            <a:r>
              <a:rPr sz="1100">
                <a:solidFill>
                  <a:srgbClr val="E6E8EE"/>
                </a:solidFill>
                <a:latin typeface="Consolas"/>
              </a:rPr>
              <a:t>git add .</a:t>
            </a:r>
          </a:p>
          <a:p>
            <a:pPr>
              <a:lnSpc>
                <a:spcPct val="100000"/>
              </a:lnSpc>
            </a:pPr>
            <a:r>
              <a:rPr sz="1100">
                <a:solidFill>
                  <a:srgbClr val="E6E8EE"/>
                </a:solidFill>
                <a:latin typeface="Consolas"/>
              </a:rPr>
              <a:t>git commit -m "Hari 1: aliran kawalan Dart, widget asas"</a:t>
            </a:r>
          </a:p>
          <a:p>
            <a:pPr>
              <a:lnSpc>
                <a:spcPct val="100000"/>
              </a:lnSpc>
            </a:pPr>
            <a:r>
              <a:rPr sz="1100">
                <a:solidFill>
                  <a:srgbClr val="E6E8EE"/>
                </a:solidFill>
                <a:latin typeface="Consolas"/>
              </a:rPr>
              <a:t/>
            </a:r>
          </a:p>
        </p:txBody>
      </p:sp>
      <p:sp>
        <p:nvSpPr>
          <p:cNvPr id="10" name="Rounded Rectangle 9"/>
          <p:cNvSpPr/>
          <p:nvPr/>
        </p:nvSpPr>
        <p:spPr>
          <a:xfrm>
            <a:off x="640080" y="3493008"/>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40080" y="3493008"/>
            <a:ext cx="54864" cy="420624"/>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566160"/>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Esok (SESI 2 &amp; 3): seni bina layout — Row, Column, Stack, Scaffold — kemudian senarai dinamik 8 program &amp; ThemeData.</a:t>
            </a:r>
          </a:p>
        </p:txBody>
      </p:sp>
      <p:sp>
        <p:nvSpPr>
          <p:cNvPr id="13" name="TextBox 12"/>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2B5C"/>
        </a:solidFill>
        <a:effectLst/>
      </p:bgPr>
    </p:bg>
    <p:spTree>
      <p:nvGrpSpPr>
        <p:cNvPr id="1" name=""/>
        <p:cNvGrpSpPr/>
        <p:nvPr/>
      </p:nvGrpSpPr>
      <p:grpSpPr/>
      <p:sp>
        <p:nvSpPr>
          <p:cNvPr id="2" name="TextBox 1"/>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300" b="1">
                <a:solidFill>
                  <a:srgbClr val="D4A017"/>
                </a:solidFill>
                <a:latin typeface="Segoe UI"/>
              </a:rPr>
              <a:t>HARI 2 — 21 JULAI 2026 (SELASA)</a:t>
            </a:r>
          </a:p>
        </p:txBody>
      </p:sp>
      <p:sp>
        <p:nvSpPr>
          <p:cNvPr id="3" name="TextBox 2"/>
          <p:cNvSpPr txBox="1"/>
          <p:nvPr/>
        </p:nvSpPr>
        <p:spPr>
          <a:xfrm>
            <a:off x="640080" y="1554480"/>
            <a:ext cx="10911535" cy="566928"/>
          </a:xfrm>
          <a:prstGeom prst="rect">
            <a:avLst/>
          </a:prstGeom>
          <a:noFill/>
        </p:spPr>
        <p:txBody>
          <a:bodyPr wrap="square" anchor="t" lIns="38100" rIns="38100" tIns="25400" bIns="25400">
            <a:spAutoFit/>
          </a:bodyPr>
          <a:lstStyle/>
          <a:p>
            <a:pPr algn="l">
              <a:lnSpc>
                <a:spcPct val="105000"/>
              </a:lnSpc>
            </a:pPr>
            <a:r>
              <a:rPr sz="3400" b="1">
                <a:solidFill>
                  <a:srgbClr val="FFFFFF"/>
                </a:solidFill>
                <a:latin typeface="Segoe UI"/>
              </a:rPr>
              <a:t>Layout, Senarai Dinamik &amp; Styling</a:t>
            </a:r>
          </a:p>
        </p:txBody>
      </p:sp>
      <p:sp>
        <p:nvSpPr>
          <p:cNvPr id="4" name="TextBox 3"/>
          <p:cNvSpPr txBox="1"/>
          <p:nvPr/>
        </p:nvSpPr>
        <p:spPr>
          <a:xfrm>
            <a:off x="640080" y="2231136"/>
            <a:ext cx="10911535" cy="384048"/>
          </a:xfrm>
          <a:prstGeom prst="rect">
            <a:avLst/>
          </a:prstGeom>
          <a:noFill/>
        </p:spPr>
        <p:txBody>
          <a:bodyPr wrap="square" anchor="t" lIns="38100" rIns="38100" tIns="25400" bIns="25400">
            <a:spAutoFit/>
          </a:bodyPr>
          <a:lstStyle/>
          <a:p>
            <a:pPr algn="l">
              <a:lnSpc>
                <a:spcPct val="105000"/>
              </a:lnSpc>
            </a:pPr>
            <a:r>
              <a:rPr sz="1800" b="1">
                <a:solidFill>
                  <a:srgbClr val="D4A017"/>
                </a:solidFill>
                <a:latin typeface="Segoe UI"/>
              </a:rPr>
              <a:t>SESI 2: Seni bina layout &amp; struktur UI · SESI 3: Senarai dinamik &amp; kemasan</a:t>
            </a:r>
          </a:p>
        </p:txBody>
      </p:sp>
      <p:sp>
        <p:nvSpPr>
          <p:cNvPr id="5" name="TextBox 4"/>
          <p:cNvSpPr txBox="1"/>
          <p:nvPr/>
        </p:nvSpPr>
        <p:spPr>
          <a:xfrm>
            <a:off x="731519" y="268833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Row, Column, Expanded, Flexible</a:t>
            </a:r>
          </a:p>
        </p:txBody>
      </p:sp>
      <p:sp>
        <p:nvSpPr>
          <p:cNvPr id="6" name="TextBox 5"/>
          <p:cNvSpPr txBox="1"/>
          <p:nvPr/>
        </p:nvSpPr>
        <p:spPr>
          <a:xfrm>
            <a:off x="731519" y="296265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Stack, Positioned, Align, Center · Scaffold &amp; AppBar</a:t>
            </a:r>
          </a:p>
        </p:txBody>
      </p:sp>
      <p:sp>
        <p:nvSpPr>
          <p:cNvPr id="7" name="TextBox 6"/>
          <p:cNvSpPr txBox="1"/>
          <p:nvPr/>
        </p:nvSpPr>
        <p:spPr>
          <a:xfrm>
            <a:off x="731519" y="323697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BottomNavigationBar &amp; Drawer · ListView, GridView</a:t>
            </a:r>
          </a:p>
        </p:txBody>
      </p:sp>
      <p:sp>
        <p:nvSpPr>
          <p:cNvPr id="8" name="TextBox 7"/>
          <p:cNvSpPr txBox="1"/>
          <p:nvPr/>
        </p:nvSpPr>
        <p:spPr>
          <a:xfrm>
            <a:off x="731519" y="351129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Card &amp; ListTile · TextStyle, warna, font &amp; ThemeData</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Jadual Sesi Hari Ini</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3637178"/>
                <a:gridCol w="3637178"/>
                <a:gridCol w="3637179"/>
              </a:tblGrid>
              <a:tr h="274319">
                <a:tc>
                  <a:txBody>
                    <a:bodyPr/>
                    <a:lstStyle/>
                    <a:p>
                      <a:r>
                        <a:rPr sz="1100" b="1">
                          <a:solidFill>
                            <a:srgbClr val="FFFFFF"/>
                          </a:solidFill>
                          <a:latin typeface="Segoe UI"/>
                        </a:rPr>
                        <a:t>Masa</a:t>
                      </a:r>
                    </a:p>
                  </a:txBody>
                  <a:tcPr marL="63500" marR="63500" marT="25400" marB="25400">
                    <a:solidFill>
                      <a:srgbClr val="1A2B5C"/>
                    </a:solidFill>
                  </a:tcPr>
                </a:tc>
                <a:tc>
                  <a:txBody>
                    <a:bodyPr/>
                    <a:lstStyle/>
                    <a:p>
                      <a:r>
                        <a:rPr sz="1100" b="1">
                          <a:solidFill>
                            <a:srgbClr val="FFFFFF"/>
                          </a:solidFill>
                          <a:latin typeface="Segoe UI"/>
                        </a:rPr>
                        <a:t>Sesi</a:t>
                      </a:r>
                    </a:p>
                  </a:txBody>
                  <a:tcPr marL="63500" marR="63500" marT="25400" marB="25400">
                    <a:solidFill>
                      <a:srgbClr val="1A2B5C"/>
                    </a:solidFill>
                  </a:tcPr>
                </a:tc>
                <a:tc>
                  <a:txBody>
                    <a:bodyPr/>
                    <a:lstStyle/>
                    <a:p>
                      <a:r>
                        <a:rPr sz="1100" b="1">
                          <a:solidFill>
                            <a:srgbClr val="FFFFFF"/>
                          </a:solidFill>
                          <a:latin typeface="Segoe UI"/>
                        </a:rPr>
                        <a:t>Agenda</a:t>
                      </a:r>
                    </a:p>
                  </a:txBody>
                  <a:tcPr marL="63500" marR="63500" marT="25400" marB="25400">
                    <a:solidFill>
                      <a:srgbClr val="1A2B5C"/>
                    </a:solidFill>
                  </a:tcPr>
                </a:tc>
              </a:tr>
              <a:tr h="274319">
                <a:tc>
                  <a:txBody>
                    <a:bodyPr/>
                    <a:lstStyle/>
                    <a:p>
                      <a:r>
                        <a:rPr sz="1100" b="0">
                          <a:solidFill>
                            <a:srgbClr val="566371"/>
                          </a:solidFill>
                          <a:latin typeface="Segoe UI"/>
                        </a:rPr>
                        <a:t>8.30 – 9.00 pagi</a:t>
                      </a:r>
                    </a:p>
                  </a:txBody>
                  <a:tcPr marL="63500" marR="63500" marT="25400" marB="25400">
                    <a:solidFill>
                      <a:srgbClr val="FFFFFF"/>
                    </a:solidFill>
                  </a:tcPr>
                </a:tc>
                <a:tc>
                  <a:txBody>
                    <a:bodyPr/>
                    <a:lstStyle/>
                    <a:p>
                      <a:r>
                        <a:rPr sz="1100" b="0">
                          <a:solidFill>
                            <a:srgbClr val="566371"/>
                          </a:solidFill>
                          <a:latin typeface="Segoe UI"/>
                        </a:rPr>
                        <a:t>—</a:t>
                      </a:r>
                    </a:p>
                  </a:txBody>
                  <a:tcPr marL="63500" marR="63500" marT="25400" marB="25400">
                    <a:solidFill>
                      <a:srgbClr val="FFFFFF"/>
                    </a:solidFill>
                  </a:tcPr>
                </a:tc>
                <a:tc>
                  <a:txBody>
                    <a:bodyPr/>
                    <a:lstStyle/>
                    <a:p>
                      <a:r>
                        <a:rPr sz="1100" b="0">
                          <a:solidFill>
                            <a:srgbClr val="566371"/>
                          </a:solidFill>
                          <a:latin typeface="Segoe UI"/>
                        </a:rPr>
                        <a:t>Pendaftaran &amp; Minum Pagi</a:t>
                      </a:r>
                    </a:p>
                  </a:txBody>
                  <a:tcPr marL="63500" marR="63500" marT="25400" marB="25400">
                    <a:solidFill>
                      <a:srgbClr val="FFFFFF"/>
                    </a:solidFill>
                  </a:tcPr>
                </a:tc>
              </a:tr>
              <a:tr h="274319">
                <a:tc>
                  <a:txBody>
                    <a:bodyPr/>
                    <a:lstStyle/>
                    <a:p>
                      <a:r>
                        <a:rPr sz="1100" b="0">
                          <a:solidFill>
                            <a:srgbClr val="566371"/>
                          </a:solidFill>
                          <a:latin typeface="Segoe UI"/>
                        </a:rPr>
                        <a:t>9.00 pagi – 1.00 petang</a:t>
                      </a:r>
                    </a:p>
                  </a:txBody>
                  <a:tcPr marL="63500" marR="63500" marT="25400" marB="25400">
                    <a:solidFill>
                      <a:srgbClr val="FFFFFF"/>
                    </a:solidFill>
                  </a:tcPr>
                </a:tc>
                <a:tc>
                  <a:txBody>
                    <a:bodyPr/>
                    <a:lstStyle/>
                    <a:p>
                      <a:r>
                        <a:rPr sz="1100" b="0">
                          <a:solidFill>
                            <a:srgbClr val="566371"/>
                          </a:solidFill>
                          <a:latin typeface="Segoe UI"/>
                        </a:rPr>
                        <a:t>SESI 2</a:t>
                      </a:r>
                    </a:p>
                  </a:txBody>
                  <a:tcPr marL="63500" marR="63500" marT="25400" marB="25400">
                    <a:solidFill>
                      <a:srgbClr val="FFFFFF"/>
                    </a:solidFill>
                  </a:tcPr>
                </a:tc>
                <a:tc>
                  <a:txBody>
                    <a:bodyPr/>
                    <a:lstStyle/>
                    <a:p>
                      <a:r>
                        <a:rPr sz="1100" b="0">
                          <a:solidFill>
                            <a:srgbClr val="566371"/>
                          </a:solidFill>
                          <a:latin typeface="Segoe UI"/>
                        </a:rPr>
                        <a:t>Row, Column, Expanded, Flexible · Stack, Positioned, Align, Center · Scaffold, AppBar</a:t>
                      </a:r>
                    </a:p>
                  </a:txBody>
                  <a:tcPr marL="63500" marR="63500" marT="25400" marB="25400">
                    <a:solidFill>
                      <a:srgbClr val="FFFFFF"/>
                    </a:solidFill>
                  </a:tcPr>
                </a:tc>
              </a:tr>
              <a:tr h="274319">
                <a:tc>
                  <a:txBody>
                    <a:bodyPr/>
                    <a:lstStyle/>
                    <a:p>
                      <a:r>
                        <a:rPr sz="1100" b="0">
                          <a:solidFill>
                            <a:srgbClr val="566371"/>
                          </a:solidFill>
                          <a:latin typeface="Segoe UI"/>
                        </a:rPr>
                        <a:t>1.00 – 2.30 petang</a:t>
                      </a:r>
                    </a:p>
                  </a:txBody>
                  <a:tcPr marL="63500" marR="63500" marT="25400" marB="25400">
                    <a:solidFill>
                      <a:srgbClr val="FFFFFF"/>
                    </a:solidFill>
                  </a:tcPr>
                </a:tc>
                <a:tc>
                  <a:txBody>
                    <a:bodyPr/>
                    <a:lstStyle/>
                    <a:p>
                      <a:r>
                        <a:rPr sz="1100" b="0">
                          <a:solidFill>
                            <a:srgbClr val="566371"/>
                          </a:solidFill>
                          <a:latin typeface="Segoe UI"/>
                        </a:rPr>
                        <a:t>—</a:t>
                      </a:r>
                    </a:p>
                  </a:txBody>
                  <a:tcPr marL="63500" marR="63500" marT="25400" marB="25400">
                    <a:solidFill>
                      <a:srgbClr val="FFFFFF"/>
                    </a:solidFill>
                  </a:tcPr>
                </a:tc>
                <a:tc>
                  <a:txBody>
                    <a:bodyPr/>
                    <a:lstStyle/>
                    <a:p>
                      <a:r>
                        <a:rPr sz="1100" b="0">
                          <a:solidFill>
                            <a:srgbClr val="566371"/>
                          </a:solidFill>
                          <a:latin typeface="Segoe UI"/>
                        </a:rPr>
                        <a:t>Rehat &amp; Makan Tengah Hari</a:t>
                      </a:r>
                    </a:p>
                  </a:txBody>
                  <a:tcPr marL="63500" marR="63500" marT="25400" marB="25400">
                    <a:solidFill>
                      <a:srgbClr val="FFFFFF"/>
                    </a:solidFill>
                  </a:tcPr>
                </a:tc>
              </a:tr>
              <a:tr h="274319">
                <a:tc>
                  <a:txBody>
                    <a:bodyPr/>
                    <a:lstStyle/>
                    <a:p>
                      <a:r>
                        <a:rPr sz="1100" b="0">
                          <a:solidFill>
                            <a:srgbClr val="566371"/>
                          </a:solidFill>
                          <a:latin typeface="Segoe UI"/>
                        </a:rPr>
                        <a:t>2.00 – 5.00 petang</a:t>
                      </a:r>
                    </a:p>
                  </a:txBody>
                  <a:tcPr marL="63500" marR="63500" marT="25400" marB="25400">
                    <a:solidFill>
                      <a:srgbClr val="FFFFFF"/>
                    </a:solidFill>
                  </a:tcPr>
                </a:tc>
                <a:tc>
                  <a:txBody>
                    <a:bodyPr/>
                    <a:lstStyle/>
                    <a:p>
                      <a:r>
                        <a:rPr sz="1100" b="0">
                          <a:solidFill>
                            <a:srgbClr val="566371"/>
                          </a:solidFill>
                          <a:latin typeface="Segoe UI"/>
                        </a:rPr>
                        <a:t>SESI 3</a:t>
                      </a:r>
                    </a:p>
                  </a:txBody>
                  <a:tcPr marL="63500" marR="63500" marT="25400" marB="25400">
                    <a:solidFill>
                      <a:srgbClr val="FFFFFF"/>
                    </a:solidFill>
                  </a:tcPr>
                </a:tc>
                <a:tc>
                  <a:txBody>
                    <a:bodyPr/>
                    <a:lstStyle/>
                    <a:p>
                      <a:r>
                        <a:rPr sz="1100" b="0">
                          <a:solidFill>
                            <a:srgbClr val="566371"/>
                          </a:solidFill>
                          <a:latin typeface="Segoe UI"/>
                        </a:rPr>
                        <a:t>BottomNavigationBar &amp; Drawer · ListView, ListView.builder, GridView · Card &amp; ListTile · TextStyle, Warna, Font &amp; ThemeData</a:t>
                      </a:r>
                    </a:p>
                  </a:txBody>
                  <a:tcPr marL="63500" marR="63500" marT="25400" marB="25400">
                    <a:solidFill>
                      <a:srgbClr val="FFFFFF"/>
                    </a:solidFill>
                  </a:tcPr>
                </a:tc>
              </a:tr>
              <a:tr h="274324">
                <a:tc>
                  <a:txBody>
                    <a:bodyPr/>
                    <a:lstStyle/>
                    <a:p>
                      <a:r>
                        <a:rPr sz="1100" b="0">
                          <a:solidFill>
                            <a:srgbClr val="566371"/>
                          </a:solidFill>
                          <a:latin typeface="Segoe UI"/>
                        </a:rPr>
                        <a:t>5.00 petang</a:t>
                      </a:r>
                    </a:p>
                  </a:txBody>
                  <a:tcPr marL="63500" marR="63500" marT="25400" marB="25400">
                    <a:solidFill>
                      <a:srgbClr val="FFFFFF"/>
                    </a:solidFill>
                  </a:tcPr>
                </a:tc>
                <a:tc>
                  <a:txBody>
                    <a:bodyPr/>
                    <a:lstStyle/>
                    <a:p>
                      <a:r>
                        <a:rPr sz="1100" b="0">
                          <a:solidFill>
                            <a:srgbClr val="566371"/>
                          </a:solidFill>
                          <a:latin typeface="Segoe UI"/>
                        </a:rPr>
                        <a:t>—</a:t>
                      </a:r>
                    </a:p>
                  </a:txBody>
                  <a:tcPr marL="63500" marR="63500" marT="25400" marB="25400">
                    <a:solidFill>
                      <a:srgbClr val="FFFFFF"/>
                    </a:solidFill>
                  </a:tcPr>
                </a:tc>
                <a:tc>
                  <a:txBody>
                    <a:bodyPr/>
                    <a:lstStyle/>
                    <a:p>
                      <a:r>
                        <a:rPr sz="1100" b="0">
                          <a:solidFill>
                            <a:srgbClr val="566371"/>
                          </a:solidFill>
                          <a:latin typeface="Segoe UI"/>
                        </a:rPr>
                        <a:t>Bersurai</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Imbas Kembali &amp; Skop Hari Ini</a:t>
            </a:r>
          </a:p>
        </p:txBody>
      </p:sp>
      <p:sp>
        <p:nvSpPr>
          <p:cNvPr id="3" name="TextBox 2"/>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Semalam (Hari 1)</a:t>
            </a:r>
          </a:p>
        </p:txBody>
      </p:sp>
      <p:sp>
        <p:nvSpPr>
          <p:cNvPr id="4" name="TextBox 3"/>
          <p:cNvSpPr txBox="1"/>
          <p:nvPr/>
        </p:nvSpPr>
        <p:spPr>
          <a:xfrm>
            <a:off x="804671" y="143560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Dart: operators, if/switch, loop, function</a:t>
            </a:r>
          </a:p>
        </p:txBody>
      </p:sp>
      <p:sp>
        <p:nvSpPr>
          <p:cNvPr id="5" name="TextBox 4"/>
          <p:cNvSpPr txBox="1"/>
          <p:nvPr/>
        </p:nvSpPr>
        <p:spPr>
          <a:xfrm>
            <a:off x="804671" y="165963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Text, Icon, Image</a:t>
            </a:r>
          </a:p>
        </p:txBody>
      </p:sp>
      <p:sp>
        <p:nvSpPr>
          <p:cNvPr id="6" name="TextBox 5"/>
          <p:cNvSpPr txBox="1"/>
          <p:nvPr/>
        </p:nvSpPr>
        <p:spPr>
          <a:xfrm>
            <a:off x="804671" y="188366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Container/Padding/SizedBox — kad program statik</a:t>
            </a:r>
          </a:p>
        </p:txBody>
      </p:sp>
      <p:sp>
        <p:nvSpPr>
          <p:cNvPr id="7" name="TextBox 6"/>
          <p:cNvSpPr txBox="1"/>
          <p:nvPr/>
        </p:nvSpPr>
        <p:spPr>
          <a:xfrm>
            <a:off x="804671" y="210769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StatelessWidget vs StatefulWidget</a:t>
            </a:r>
          </a:p>
        </p:txBody>
      </p:sp>
      <p:sp>
        <p:nvSpPr>
          <p:cNvPr id="8" name="TextBox 7"/>
          <p:cNvSpPr txBox="1"/>
          <p:nvPr/>
        </p:nvSpPr>
        <p:spPr>
          <a:xfrm>
            <a:off x="640080" y="2404872"/>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Belum hari ini</a:t>
            </a:r>
          </a:p>
        </p:txBody>
      </p:sp>
      <p:sp>
        <p:nvSpPr>
          <p:cNvPr id="9" name="TextBox 8"/>
          <p:cNvSpPr txBox="1"/>
          <p:nvPr/>
        </p:nvSpPr>
        <p:spPr>
          <a:xfrm>
            <a:off x="804671" y="278892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Navigator/routes antara skrin — Hari 3</a:t>
            </a:r>
          </a:p>
        </p:txBody>
      </p:sp>
      <p:sp>
        <p:nvSpPr>
          <p:cNvPr id="10" name="TextBox 9"/>
          <p:cNvSpPr txBox="1"/>
          <p:nvPr/>
        </p:nvSpPr>
        <p:spPr>
          <a:xfrm>
            <a:off x="804671" y="301294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Borang Form/TextFormField — Hari 3</a:t>
            </a:r>
          </a:p>
        </p:txBody>
      </p:sp>
      <p:sp>
        <p:nvSpPr>
          <p:cNvPr id="11" name="TextBox 10"/>
          <p:cNvSpPr txBox="1"/>
          <p:nvPr/>
        </p:nvSpPr>
        <p:spPr>
          <a:xfrm>
            <a:off x="804671" y="323697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Sambungan API — Hari 4</a:t>
            </a:r>
          </a:p>
        </p:txBody>
      </p:sp>
      <p:sp>
        <p:nvSpPr>
          <p:cNvPr id="12" name="TextBox 11"/>
          <p:cNvSpPr txBox="1"/>
          <p:nvPr/>
        </p:nvSpPr>
        <p:spPr>
          <a:xfrm>
            <a:off x="804671" y="346100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provider (kongsi data antara skrin) — mula Hari 3</a:t>
            </a:r>
          </a:p>
        </p:txBody>
      </p:sp>
      <p:sp>
        <p:nvSpPr>
          <p:cNvPr id="13" name="Rounded Rectangle 12"/>
          <p:cNvSpPr/>
          <p:nvPr/>
        </p:nvSpPr>
        <p:spPr>
          <a:xfrm>
            <a:off x="640080" y="3758184"/>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40080" y="3758184"/>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831336"/>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Teruskan projek ett_mobile semalam — jangan mulakan projek baharu.</a:t>
            </a:r>
          </a:p>
        </p:txBody>
      </p:sp>
      <p:sp>
        <p:nvSpPr>
          <p:cNvPr id="16" name="TextBox 1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Row &amp; Column — Susun Atur Asas</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Column — susun anak menegak (atas → bawah)</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Row — susun anak mendatar (kiri → kanan)</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Susun atur kompleks = menyarang (nesting) Row/Column berulang kali</a:t>
            </a:r>
          </a:p>
        </p:txBody>
      </p:sp>
      <p:sp>
        <p:nvSpPr>
          <p:cNvPr id="6" name="Rounded Rectangle 5"/>
          <p:cNvSpPr/>
          <p:nvPr/>
        </p:nvSpPr>
        <p:spPr>
          <a:xfrm>
            <a:off x="640080" y="1796796"/>
            <a:ext cx="10911535" cy="207568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1888236"/>
            <a:ext cx="10655503" cy="189280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Row(</a:t>
            </a:r>
          </a:p>
          <a:p>
            <a:pPr>
              <a:lnSpc>
                <a:spcPct val="100000"/>
              </a:lnSpc>
            </a:pPr>
            <a:r>
              <a:rPr sz="1100">
                <a:solidFill>
                  <a:srgbClr val="E6E8EE"/>
                </a:solidFill>
                <a:latin typeface="Consolas"/>
              </a:rPr>
              <a:t>  mainAxisAlignment:</a:t>
            </a:r>
          </a:p>
          <a:p>
            <a:pPr>
              <a:lnSpc>
                <a:spcPct val="100000"/>
              </a:lnSpc>
            </a:pPr>
            <a:r>
              <a:rPr sz="1100">
                <a:solidFill>
                  <a:srgbClr val="E6E8EE"/>
                </a:solidFill>
                <a:latin typeface="Consolas"/>
              </a:rPr>
              <a:t>      MainAxisAlignment.spaceBetween,</a:t>
            </a:r>
          </a:p>
          <a:p>
            <a:pPr>
              <a:lnSpc>
                <a:spcPct val="100000"/>
              </a:lnSpc>
            </a:pPr>
            <a:r>
              <a:rPr sz="1100">
                <a:solidFill>
                  <a:srgbClr val="E6E8EE"/>
                </a:solidFill>
                <a:latin typeface="Consolas"/>
              </a:rPr>
              <a:t>  children: [</a:t>
            </a:r>
          </a:p>
          <a:p>
            <a:pPr>
              <a:lnSpc>
                <a:spcPct val="100000"/>
              </a:lnSpc>
            </a:pPr>
            <a:r>
              <a:rPr sz="1100">
                <a:solidFill>
                  <a:srgbClr val="E6E8EE"/>
                </a:solidFill>
                <a:latin typeface="Consolas"/>
              </a:rPr>
              <a:t>    Text('Universiti Al-Azhar'),</a:t>
            </a:r>
          </a:p>
          <a:p>
            <a:pPr>
              <a:lnSpc>
                <a:spcPct val="100000"/>
              </a:lnSpc>
            </a:pPr>
            <a:r>
              <a:rPr sz="1100">
                <a:solidFill>
                  <a:srgbClr val="E6E8EE"/>
                </a:solidFill>
                <a:latin typeface="Consolas"/>
              </a:rPr>
              <a:t>    Text('🇪🇬'),</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MainAxisAlignment vs CrossAxisAlignment</a:t>
            </a:r>
          </a:p>
        </p:txBody>
      </p:sp>
      <p:graphicFrame>
        <p:nvGraphicFramePr>
          <p:cNvPr id="3" name="Table 2"/>
          <p:cNvGraphicFramePr>
            <a:graphicFrameLocks noGrp="1"/>
          </p:cNvGraphicFramePr>
          <p:nvPr/>
        </p:nvGraphicFramePr>
        <p:xfrm>
          <a:off x="640080" y="1051560"/>
          <a:ext cx="10911535" cy="822959"/>
        </p:xfrm>
        <a:graphic>
          <a:graphicData uri="http://schemas.openxmlformats.org/drawingml/2006/table">
            <a:tbl>
              <a:tblPr firstRow="1" bandRow="1">
                <a:tableStyleId>{5C22544A-7EE6-4342-B048-85BDC9FD1C3A}</a:tableStyleId>
              </a:tblPr>
              <a:tblGrid>
                <a:gridCol w="3637178"/>
                <a:gridCol w="3637178"/>
                <a:gridCol w="3637179"/>
              </a:tblGrid>
              <a:tr h="274319">
                <a:tc>
                  <a:txBody>
                    <a:bodyPr/>
                    <a:lstStyle/>
                    <a:p>
                      <a:r>
                        <a:rPr sz="1100" b="1">
                          <a:solidFill>
                            <a:srgbClr val="FFFFFF"/>
                          </a:solidFill>
                          <a:latin typeface="Segoe UI"/>
                        </a:rPr>
                        <a:t>Widget</a:t>
                      </a:r>
                    </a:p>
                  </a:txBody>
                  <a:tcPr marL="63500" marR="63500" marT="25400" marB="25400">
                    <a:solidFill>
                      <a:srgbClr val="1A2B5C"/>
                    </a:solidFill>
                  </a:tcPr>
                </a:tc>
                <a:tc>
                  <a:txBody>
                    <a:bodyPr/>
                    <a:lstStyle/>
                    <a:p>
                      <a:r>
                        <a:rPr sz="1100" b="1">
                          <a:solidFill>
                            <a:srgbClr val="FFFFFF"/>
                          </a:solidFill>
                          <a:latin typeface="Segoe UI"/>
                        </a:rPr>
                        <a:t>Paksi utama (main axis)</a:t>
                      </a:r>
                    </a:p>
                  </a:txBody>
                  <a:tcPr marL="63500" marR="63500" marT="25400" marB="25400">
                    <a:solidFill>
                      <a:srgbClr val="1A2B5C"/>
                    </a:solidFill>
                  </a:tcPr>
                </a:tc>
                <a:tc>
                  <a:txBody>
                    <a:bodyPr/>
                    <a:lstStyle/>
                    <a:p>
                      <a:r>
                        <a:rPr sz="1100" b="1">
                          <a:solidFill>
                            <a:srgbClr val="FFFFFF"/>
                          </a:solidFill>
                          <a:latin typeface="Segoe UI"/>
                        </a:rPr>
                        <a:t>Paksi silang (cross axis)</a:t>
                      </a:r>
                    </a:p>
                  </a:txBody>
                  <a:tcPr marL="63500" marR="63500" marT="25400" marB="25400">
                    <a:solidFill>
                      <a:srgbClr val="1A2B5C"/>
                    </a:solidFill>
                  </a:tcPr>
                </a:tc>
              </a:tr>
              <a:tr h="274319">
                <a:tc>
                  <a:txBody>
                    <a:bodyPr/>
                    <a:lstStyle/>
                    <a:p>
                      <a:r>
                        <a:rPr sz="1100" b="0">
                          <a:solidFill>
                            <a:srgbClr val="566371"/>
                          </a:solidFill>
                          <a:latin typeface="Segoe UI"/>
                        </a:rPr>
                        <a:t>Row</a:t>
                      </a:r>
                    </a:p>
                  </a:txBody>
                  <a:tcPr marL="63500" marR="63500" marT="25400" marB="25400">
                    <a:solidFill>
                      <a:srgbClr val="FFFFFF"/>
                    </a:solidFill>
                  </a:tcPr>
                </a:tc>
                <a:tc>
                  <a:txBody>
                    <a:bodyPr/>
                    <a:lstStyle/>
                    <a:p>
                      <a:r>
                        <a:rPr sz="1100" b="0">
                          <a:solidFill>
                            <a:srgbClr val="566371"/>
                          </a:solidFill>
                          <a:latin typeface="Segoe UI"/>
                        </a:rPr>
                        <a:t>mendatar (kiri↔kanan)</a:t>
                      </a:r>
                    </a:p>
                  </a:txBody>
                  <a:tcPr marL="63500" marR="63500" marT="25400" marB="25400">
                    <a:solidFill>
                      <a:srgbClr val="FFFFFF"/>
                    </a:solidFill>
                  </a:tcPr>
                </a:tc>
                <a:tc>
                  <a:txBody>
                    <a:bodyPr/>
                    <a:lstStyle/>
                    <a:p>
                      <a:r>
                        <a:rPr sz="1100" b="0">
                          <a:solidFill>
                            <a:srgbClr val="566371"/>
                          </a:solidFill>
                          <a:latin typeface="Segoe UI"/>
                        </a:rPr>
                        <a:t>menegak (atas↔bawah)</a:t>
                      </a:r>
                    </a:p>
                  </a:txBody>
                  <a:tcPr marL="63500" marR="63500" marT="25400" marB="25400">
                    <a:solidFill>
                      <a:srgbClr val="FFFFFF"/>
                    </a:solidFill>
                  </a:tcPr>
                </a:tc>
              </a:tr>
              <a:tr h="274321">
                <a:tc>
                  <a:txBody>
                    <a:bodyPr/>
                    <a:lstStyle/>
                    <a:p>
                      <a:r>
                        <a:rPr sz="1100" b="0">
                          <a:solidFill>
                            <a:srgbClr val="566371"/>
                          </a:solidFill>
                          <a:latin typeface="Segoe UI"/>
                        </a:rPr>
                        <a:t>Column</a:t>
                      </a:r>
                    </a:p>
                  </a:txBody>
                  <a:tcPr marL="63500" marR="63500" marT="25400" marB="25400">
                    <a:solidFill>
                      <a:srgbClr val="FFFFFF"/>
                    </a:solidFill>
                  </a:tcPr>
                </a:tc>
                <a:tc>
                  <a:txBody>
                    <a:bodyPr/>
                    <a:lstStyle/>
                    <a:p>
                      <a:r>
                        <a:rPr sz="1100" b="0">
                          <a:solidFill>
                            <a:srgbClr val="566371"/>
                          </a:solidFill>
                          <a:latin typeface="Segoe UI"/>
                        </a:rPr>
                        <a:t>menegak (atas↔bawah)</a:t>
                      </a:r>
                    </a:p>
                  </a:txBody>
                  <a:tcPr marL="63500" marR="63500" marT="25400" marB="25400">
                    <a:solidFill>
                      <a:srgbClr val="FFFFFF"/>
                    </a:solidFill>
                  </a:tcPr>
                </a:tc>
                <a:tc>
                  <a:txBody>
                    <a:bodyPr/>
                    <a:lstStyle/>
                    <a:p>
                      <a:r>
                        <a:rPr sz="1100" b="0">
                          <a:solidFill>
                            <a:srgbClr val="566371"/>
                          </a:solidFill>
                          <a:latin typeface="Segoe UI"/>
                        </a:rPr>
                        <a:t>mendatar (kiri↔kanan)</a:t>
                      </a:r>
                    </a:p>
                  </a:txBody>
                  <a:tcPr marL="63500" marR="63500" marT="25400" marB="25400">
                    <a:solidFill>
                      <a:srgbClr val="FFFFFF"/>
                    </a:solidFill>
                  </a:tcPr>
                </a:tc>
              </a:tr>
            </a:tbl>
          </a:graphicData>
        </a:graphic>
      </p:graphicFrame>
      <p:sp>
        <p:nvSpPr>
          <p:cNvPr id="4" name="TextBox 3"/>
          <p:cNvSpPr txBox="1"/>
          <p:nvPr/>
        </p:nvSpPr>
        <p:spPr>
          <a:xfrm>
            <a:off x="804671" y="200253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mainAxisAlignment: start, end, center, spaceBetween, spaceAround, spaceEvenly</a:t>
            </a:r>
          </a:p>
        </p:txBody>
      </p:sp>
      <p:sp>
        <p:nvSpPr>
          <p:cNvPr id="5" name="TextBox 4"/>
          <p:cNvSpPr txBox="1"/>
          <p:nvPr/>
        </p:nvSpPr>
        <p:spPr>
          <a:xfrm>
            <a:off x="804671" y="222656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crossAxisAlignment: start, end, center, stretch</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Kod Sebenar: Header ProgrammeCard</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Row(</a:t>
            </a:r>
          </a:p>
          <a:p>
            <a:pPr>
              <a:lnSpc>
                <a:spcPct val="100000"/>
              </a:lnSpc>
            </a:pPr>
            <a:r>
              <a:rPr sz="1100">
                <a:solidFill>
                  <a:srgbClr val="E6E8EE"/>
                </a:solidFill>
                <a:latin typeface="Consolas"/>
              </a:rPr>
              <a:t>  crossAxisAlignment: CrossAxisAlignment.start,</a:t>
            </a:r>
          </a:p>
          <a:p>
            <a:pPr>
              <a:lnSpc>
                <a:spcPct val="100000"/>
              </a:lnSpc>
            </a:pPr>
            <a:r>
              <a:rPr sz="1100">
                <a:solidFill>
                  <a:srgbClr val="E6E8EE"/>
                </a:solidFill>
                <a:latin typeface="Consolas"/>
              </a:rPr>
              <a:t>  children: [</a:t>
            </a:r>
          </a:p>
          <a:p>
            <a:pPr>
              <a:lnSpc>
                <a:spcPct val="100000"/>
              </a:lnSpc>
            </a:pPr>
            <a:r>
              <a:rPr sz="1100">
                <a:solidFill>
                  <a:srgbClr val="E6E8EE"/>
                </a:solidFill>
                <a:latin typeface="Consolas"/>
              </a:rPr>
              <a:t>    Text(programme.flagEmoji, style: const TextStyle(fontSize: 30)),</a:t>
            </a:r>
          </a:p>
          <a:p>
            <a:pPr>
              <a:lnSpc>
                <a:spcPct val="100000"/>
              </a:lnSpc>
            </a:pPr>
            <a:r>
              <a:rPr sz="1100">
                <a:solidFill>
                  <a:srgbClr val="E6E8EE"/>
                </a:solidFill>
                <a:latin typeface="Consolas"/>
              </a:rPr>
              <a:t>    const SizedBox(width: 12),</a:t>
            </a:r>
          </a:p>
          <a:p>
            <a:pPr>
              <a:lnSpc>
                <a:spcPct val="100000"/>
              </a:lnSpc>
            </a:pPr>
            <a:r>
              <a:rPr sz="1100">
                <a:solidFill>
                  <a:srgbClr val="E6E8EE"/>
                </a:solidFill>
                <a:latin typeface="Consolas"/>
              </a:rPr>
              <a:t>    Expanded(</a:t>
            </a:r>
          </a:p>
          <a:p>
            <a:pPr>
              <a:lnSpc>
                <a:spcPct val="100000"/>
              </a:lnSpc>
            </a:pPr>
            <a:r>
              <a:rPr sz="1100">
                <a:solidFill>
                  <a:srgbClr val="E6E8EE"/>
                </a:solidFill>
                <a:latin typeface="Consolas"/>
              </a:rPr>
              <a:t>      child: Column(</a:t>
            </a:r>
          </a:p>
          <a:p>
            <a:pPr>
              <a:lnSpc>
                <a:spcPct val="100000"/>
              </a:lnSpc>
            </a:pPr>
            <a:r>
              <a:rPr sz="1100">
                <a:solidFill>
                  <a:srgbClr val="E6E8EE"/>
                </a:solidFill>
                <a:latin typeface="Consolas"/>
              </a:rPr>
              <a:t>        crossAxisAlignment: CrossAxisAlignment.start,</a:t>
            </a:r>
          </a:p>
          <a:p>
            <a:pPr>
              <a:lnSpc>
                <a:spcPct val="100000"/>
              </a:lnSpc>
            </a:pPr>
            <a:r>
              <a:rPr sz="1100">
                <a:solidFill>
                  <a:srgbClr val="E6E8EE"/>
                </a:solidFill>
                <a:latin typeface="Consolas"/>
              </a:rPr>
              <a:t>        children: [</a:t>
            </a:r>
          </a:p>
          <a:p>
            <a:pPr>
              <a:lnSpc>
                <a:spcPct val="100000"/>
              </a:lnSpc>
            </a:pPr>
            <a:r>
              <a:rPr sz="1100">
                <a:solidFill>
                  <a:srgbClr val="E6E8EE"/>
                </a:solidFill>
                <a:latin typeface="Consolas"/>
              </a:rPr>
              <a:t>          Text(programme.universityName,</a:t>
            </a:r>
          </a:p>
          <a:p>
            <a:pPr>
              <a:lnSpc>
                <a:spcPct val="100000"/>
              </a:lnSpc>
            </a:pPr>
            <a:r>
              <a:rPr sz="1100">
                <a:solidFill>
                  <a:srgbClr val="E6E8EE"/>
                </a:solidFill>
                <a:latin typeface="Consolas"/>
              </a:rPr>
              <a:t>              style: const TextStyle(fontWeight: FontWeight.bold)),</a:t>
            </a:r>
          </a:p>
          <a:p>
            <a:pPr>
              <a:lnSpc>
                <a:spcPct val="100000"/>
              </a:lnSpc>
            </a:pPr>
            <a:r>
              <a:rPr sz="1100">
                <a:solidFill>
                  <a:srgbClr val="E6E8EE"/>
                </a:solidFill>
                <a:latin typeface="Consolas"/>
              </a:rPr>
              <a:t>          Text(programme.fieldOfStudy),</a:t>
            </a:r>
          </a:p>
          <a:p>
            <a:pPr>
              <a:lnSpc>
                <a:spcPct val="100000"/>
              </a:lnSpc>
            </a:pPr>
            <a:r>
              <a:rPr sz="1100">
                <a:solidFill>
                  <a:srgbClr val="E6E8EE"/>
                </a:solidFill>
                <a:latin typeface="Consolas"/>
              </a:rPr>
              <a:t>          Text('${programme.city}, ${programme.countryLabel}'),</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 ... kos anggaran tahunan RM di kanan</a:t>
            </a:r>
          </a:p>
          <a:p>
            <a:pPr>
              <a:lnSpc>
                <a:spcPct val="100000"/>
              </a:lnSpc>
            </a:pPr>
            <a:r>
              <a:rPr sz="1100">
                <a:solidFill>
                  <a:srgbClr val="E6E8EE"/>
                </a:solidFill>
                <a:latin typeface="Consolas"/>
              </a:rPr>
              <a:t>…</a:t>
            </a:r>
          </a:p>
        </p:txBody>
      </p:sp>
      <p:sp>
        <p:nvSpPr>
          <p:cNvPr id="5" name="TextBox 4"/>
          <p:cNvSpPr txBox="1"/>
          <p:nvPr/>
        </p:nvSpPr>
        <p:spPr>
          <a:xfrm>
            <a:off x="640080" y="4924044"/>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Daripada widgets/programme_card.dart — struktur: bendera | maklumat program | kos RM.</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Ralat Klasik: RenderFlex overflowed</a:t>
            </a:r>
          </a:p>
        </p:txBody>
      </p:sp>
      <p:sp>
        <p:nvSpPr>
          <p:cNvPr id="3" name="Rounded Rectangle 2"/>
          <p:cNvSpPr/>
          <p:nvPr/>
        </p:nvSpPr>
        <p:spPr>
          <a:xfrm>
            <a:off x="640080" y="1051560"/>
            <a:ext cx="10911535" cy="170078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51790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Row(</a:t>
            </a:r>
          </a:p>
          <a:p>
            <a:pPr>
              <a:lnSpc>
                <a:spcPct val="100000"/>
              </a:lnSpc>
            </a:pPr>
            <a:r>
              <a:rPr sz="1100">
                <a:solidFill>
                  <a:srgbClr val="E6E8EE"/>
                </a:solidFill>
                <a:latin typeface="Consolas"/>
              </a:rPr>
              <a:t>  children: [</a:t>
            </a:r>
          </a:p>
          <a:p>
            <a:pPr>
              <a:lnSpc>
                <a:spcPct val="100000"/>
              </a:lnSpc>
            </a:pPr>
            <a:r>
              <a:rPr sz="1100">
                <a:solidFill>
                  <a:srgbClr val="E6E8EE"/>
                </a:solidFill>
                <a:latin typeface="Consolas"/>
              </a:rPr>
              <a:t>    Text('Universite Al Quaraouiyine'),</a:t>
            </a:r>
          </a:p>
          <a:p>
            <a:pPr>
              <a:lnSpc>
                <a:spcPct val="100000"/>
              </a:lnSpc>
            </a:pPr>
            <a:r>
              <a:rPr sz="1100">
                <a:solidFill>
                  <a:srgbClr val="E6E8EE"/>
                </a:solidFill>
                <a:latin typeface="Consolas"/>
              </a:rPr>
              <a:t>    Text(' — Fes, Maghribi'),</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Rounded Rectangle 4"/>
          <p:cNvSpPr/>
          <p:nvPr/>
        </p:nvSpPr>
        <p:spPr>
          <a:xfrm>
            <a:off x="640080" y="2862072"/>
            <a:ext cx="10911535" cy="658368"/>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2862072"/>
            <a:ext cx="54864" cy="65836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935224"/>
            <a:ext cx="10600639" cy="512063"/>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Pada skrin sempit, jumlah lebar teks melebihi lebar skrin → jalur kuning-hitam bergaris di tepi + amaran merah di konsol. Ralat pemula Flutter paling biasa!</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Penyelesaian: Expanded</a:t>
            </a:r>
          </a:p>
        </p:txBody>
      </p:sp>
      <p:sp>
        <p:nvSpPr>
          <p:cNvPr id="3" name="Rounded Rectangle 2"/>
          <p:cNvSpPr/>
          <p:nvPr/>
        </p:nvSpPr>
        <p:spPr>
          <a:xfrm>
            <a:off x="640080" y="1051560"/>
            <a:ext cx="10911535" cy="263804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45516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Row(</a:t>
            </a:r>
          </a:p>
          <a:p>
            <a:pPr>
              <a:lnSpc>
                <a:spcPct val="100000"/>
              </a:lnSpc>
            </a:pPr>
            <a:r>
              <a:rPr sz="1100">
                <a:solidFill>
                  <a:srgbClr val="E6E8EE"/>
                </a:solidFill>
                <a:latin typeface="Consolas"/>
              </a:rPr>
              <a:t>  children: [</a:t>
            </a:r>
          </a:p>
          <a:p>
            <a:pPr>
              <a:lnSpc>
                <a:spcPct val="100000"/>
              </a:lnSpc>
            </a:pPr>
            <a:r>
              <a:rPr sz="1100">
                <a:solidFill>
                  <a:srgbClr val="E6E8EE"/>
                </a:solidFill>
                <a:latin typeface="Consolas"/>
              </a:rPr>
              <a:t>    Expanded(</a:t>
            </a:r>
          </a:p>
          <a:p>
            <a:pPr>
              <a:lnSpc>
                <a:spcPct val="100000"/>
              </a:lnSpc>
            </a:pPr>
            <a:r>
              <a:rPr sz="1100">
                <a:solidFill>
                  <a:srgbClr val="E6E8EE"/>
                </a:solidFill>
                <a:latin typeface="Consolas"/>
              </a:rPr>
              <a:t>      child: Text(</a:t>
            </a:r>
          </a:p>
          <a:p>
            <a:pPr>
              <a:lnSpc>
                <a:spcPct val="100000"/>
              </a:lnSpc>
            </a:pPr>
            <a:r>
              <a:rPr sz="1100">
                <a:solidFill>
                  <a:srgbClr val="E6E8EE"/>
                </a:solidFill>
                <a:latin typeface="Consolas"/>
              </a:rPr>
              <a:t>        'Universite Al Quaraouiyine',</a:t>
            </a:r>
          </a:p>
          <a:p>
            <a:pPr>
              <a:lnSpc>
                <a:spcPct val="100000"/>
              </a:lnSpc>
            </a:pPr>
            <a:r>
              <a:rPr sz="1100">
                <a:solidFill>
                  <a:srgbClr val="E6E8EE"/>
                </a:solidFill>
                <a:latin typeface="Consolas"/>
              </a:rPr>
              <a:t>        overflow: TextOverflow.ellipsis,</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const Text(' — Fes, Maghribi'),</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379933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Expanded: "isi baki ruang yang ada, jangan lebih"</a:t>
            </a:r>
          </a:p>
        </p:txBody>
      </p:sp>
      <p:sp>
        <p:nvSpPr>
          <p:cNvPr id="6" name="TextBox 5"/>
          <p:cNvSpPr txBox="1"/>
          <p:nvPr/>
        </p:nvSpPr>
        <p:spPr>
          <a:xfrm>
            <a:off x="804671" y="40233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TextOverflow.ellipsis memotong teks panjang dengan … — paparan terkawal, bukan ralat</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Layout Leceh? Minta AI</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Susun atur macam header ProgrammeCard memang leceh nak dapat elok kali pertama. Kalau buntu, cuba:</a:t>
            </a:r>
          </a:p>
        </p:txBody>
      </p:sp>
      <p:sp>
        <p:nvSpPr>
          <p:cNvPr id="4" name="Rounded Rectangle 3"/>
          <p:cNvSpPr/>
          <p:nvPr/>
        </p:nvSpPr>
        <p:spPr>
          <a:xfrm>
            <a:off x="640080" y="1371600"/>
            <a:ext cx="10911535" cy="113842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463040"/>
            <a:ext cx="10655503" cy="95554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Bina Row untuk ProgrammeCard: bendera negara, Column</a:t>
            </a:r>
          </a:p>
          <a:p>
            <a:pPr>
              <a:lnSpc>
                <a:spcPct val="100000"/>
              </a:lnSpc>
            </a:pPr>
            <a:r>
              <a:rPr sz="1100">
                <a:solidFill>
                  <a:srgbClr val="E6E8EE"/>
                </a:solidFill>
                <a:latin typeface="Consolas"/>
              </a:rPr>
              <a:t>(universityName, fieldOfStudy), Expanded, dan kos RM di hujung</a:t>
            </a:r>
          </a:p>
          <a:p>
            <a:pPr>
              <a:lnSpc>
                <a:spcPct val="100000"/>
              </a:lnSpc>
            </a:pPr>
            <a:r>
              <a:rPr sz="1100">
                <a:solidFill>
                  <a:srgbClr val="E6E8EE"/>
                </a:solidFill>
                <a:latin typeface="Consolas"/>
              </a:rPr>
              <a:t>kanan. Guna KptTheme.navy untuk tajuk.</a:t>
            </a:r>
          </a:p>
          <a:p>
            <a:pPr>
              <a:lnSpc>
                <a:spcPct val="100000"/>
              </a:lnSpc>
            </a:pPr>
            <a:r>
              <a:rPr sz="1100">
                <a:solidFill>
                  <a:srgbClr val="E6E8EE"/>
                </a:solidFill>
                <a:latin typeface="Consolas"/>
              </a:rPr>
              <a:t/>
            </a:r>
          </a:p>
        </p:txBody>
      </p:sp>
      <p:sp>
        <p:nvSpPr>
          <p:cNvPr id="6" name="TextBox 5"/>
          <p:cNvSpPr txBox="1"/>
          <p:nvPr/>
        </p:nvSpPr>
        <p:spPr>
          <a:xfrm>
            <a:off x="640080" y="2619756"/>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Semak hasilnya sebelum terima — pastikan const di tempat yang patut, dan jalankan flutter analyze untuk tangkap apa-apa yang tertinggal.</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Expanded vs Flexible</a:t>
            </a:r>
          </a:p>
        </p:txBody>
      </p:sp>
      <p:graphicFrame>
        <p:nvGraphicFramePr>
          <p:cNvPr id="3" name="Table 2"/>
          <p:cNvGraphicFramePr>
            <a:graphicFrameLocks noGrp="1"/>
          </p:cNvGraphicFramePr>
          <p:nvPr/>
        </p:nvGraphicFramePr>
        <p:xfrm>
          <a:off x="640080" y="1051560"/>
          <a:ext cx="10911535" cy="109728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txBody>
                  <a:tcPr marL="63500" marR="63500" marT="25400" marB="25400">
                    <a:solidFill>
                      <a:srgbClr val="1A2B5C"/>
                    </a:solidFill>
                  </a:tcPr>
                </a:tc>
                <a:tc>
                  <a:txBody>
                    <a:bodyPr/>
                    <a:lstStyle/>
                    <a:p>
                      <a:r>
                        <a:rPr sz="1100" b="1">
                          <a:solidFill>
                            <a:srgbClr val="FFFFFF"/>
                          </a:solidFill>
                          <a:latin typeface="Segoe UI"/>
                        </a:rPr>
                        <a:t>Expanded</a:t>
                      </a:r>
                    </a:p>
                  </a:txBody>
                  <a:tcPr marL="63500" marR="63500" marT="25400" marB="25400">
                    <a:solidFill>
                      <a:srgbClr val="1A2B5C"/>
                    </a:solidFill>
                  </a:tcPr>
                </a:tc>
                <a:tc>
                  <a:txBody>
                    <a:bodyPr/>
                    <a:lstStyle/>
                    <a:p>
                      <a:r>
                        <a:rPr sz="1100" b="1">
                          <a:solidFill>
                            <a:srgbClr val="FFFFFF"/>
                          </a:solidFill>
                          <a:latin typeface="Segoe UI"/>
                        </a:rPr>
                        <a:t>Flexible</a:t>
                      </a:r>
                    </a:p>
                  </a:txBody>
                  <a:tcPr marL="63500" marR="63500" marT="25400" marB="25400">
                    <a:solidFill>
                      <a:srgbClr val="1A2B5C"/>
                    </a:solidFill>
                  </a:tcPr>
                </a:tc>
              </a:tr>
              <a:tr h="274320">
                <a:tc>
                  <a:txBody>
                    <a:bodyPr/>
                    <a:lstStyle/>
                    <a:p>
                      <a:r>
                        <a:rPr sz="1100" b="0">
                          <a:solidFill>
                            <a:srgbClr val="566371"/>
                          </a:solidFill>
                          <a:latin typeface="Segoe UI"/>
                        </a:rPr>
                        <a:t>Definisi</a:t>
                      </a:r>
                    </a:p>
                  </a:txBody>
                  <a:tcPr marL="63500" marR="63500" marT="25400" marB="25400">
                    <a:solidFill>
                      <a:srgbClr val="FFFFFF"/>
                    </a:solidFill>
                  </a:tcPr>
                </a:tc>
                <a:tc>
                  <a:txBody>
                    <a:bodyPr/>
                    <a:lstStyle/>
                    <a:p>
                      <a:r>
                        <a:rPr sz="1100" b="0">
                          <a:solidFill>
                            <a:srgbClr val="566371"/>
                          </a:solidFill>
                          <a:latin typeface="Segoe UI"/>
                        </a:rPr>
                        <a:t>Flexible(fit: FlexFit.tight)</a:t>
                      </a:r>
                    </a:p>
                  </a:txBody>
                  <a:tcPr marL="63500" marR="63500" marT="25400" marB="25400">
                    <a:solidFill>
                      <a:srgbClr val="FFFFFF"/>
                    </a:solidFill>
                  </a:tcPr>
                </a:tc>
                <a:tc>
                  <a:txBody>
                    <a:bodyPr/>
                    <a:lstStyle/>
                    <a:p>
                      <a:r>
                        <a:rPr sz="1100" b="0">
                          <a:solidFill>
                            <a:srgbClr val="566371"/>
                          </a:solidFill>
                          <a:latin typeface="Segoe UI"/>
                        </a:rPr>
                        <a:t>fit: FlexFit.loose (lalai)</a:t>
                      </a:r>
                    </a:p>
                  </a:txBody>
                  <a:tcPr marL="63500" marR="63500" marT="25400" marB="25400">
                    <a:solidFill>
                      <a:srgbClr val="FFFFFF"/>
                    </a:solidFill>
                  </a:tcPr>
                </a:tc>
              </a:tr>
              <a:tr h="274320">
                <a:tc>
                  <a:txBody>
                    <a:bodyPr/>
                    <a:lstStyle/>
                    <a:p>
                      <a:r>
                        <a:rPr sz="1100" b="0">
                          <a:solidFill>
                            <a:srgbClr val="566371"/>
                          </a:solidFill>
                          <a:latin typeface="Segoe UI"/>
                        </a:rPr>
                        <a:t>Kelakuan</a:t>
                      </a:r>
                    </a:p>
                  </a:txBody>
                  <a:tcPr marL="63500" marR="63500" marT="25400" marB="25400">
                    <a:solidFill>
                      <a:srgbClr val="FFFFFF"/>
                    </a:solidFill>
                  </a:tcPr>
                </a:tc>
                <a:tc>
                  <a:txBody>
                    <a:bodyPr/>
                    <a:lstStyle/>
                    <a:p>
                      <a:r>
                        <a:rPr sz="1100" b="0">
                          <a:solidFill>
                            <a:srgbClr val="566371"/>
                          </a:solidFill>
                          <a:latin typeface="Segoe UI"/>
                        </a:rPr>
                        <a:t>Memaksa isi semua ruang baki</a:t>
                      </a:r>
                    </a:p>
                  </a:txBody>
                  <a:tcPr marL="63500" marR="63500" marT="25400" marB="25400">
                    <a:solidFill>
                      <a:srgbClr val="FFFFFF"/>
                    </a:solidFill>
                  </a:tcPr>
                </a:tc>
                <a:tc>
                  <a:txBody>
                    <a:bodyPr/>
                    <a:lstStyle/>
                    <a:p>
                      <a:r>
                        <a:rPr sz="1100" b="0">
                          <a:solidFill>
                            <a:srgbClr val="566371"/>
                          </a:solidFill>
                          <a:latin typeface="Segoe UI"/>
                        </a:rPr>
                        <a:t>Boleh isi ruang baki, tak wajib</a:t>
                      </a:r>
                    </a:p>
                  </a:txBody>
                  <a:tcPr marL="63500" marR="63500" marT="25400" marB="25400">
                    <a:solidFill>
                      <a:srgbClr val="FFFFFF"/>
                    </a:solidFill>
                  </a:tcPr>
                </a:tc>
              </a:tr>
              <a:tr h="274320">
                <a:tc>
                  <a:txBody>
                    <a:bodyPr/>
                    <a:lstStyle/>
                    <a:p>
                      <a:r>
                        <a:rPr sz="1100" b="0">
                          <a:solidFill>
                            <a:srgbClr val="566371"/>
                          </a:solidFill>
                          <a:latin typeface="Segoe UI"/>
                        </a:rPr>
                        <a:t>Bila guna</a:t>
                      </a:r>
                    </a:p>
                  </a:txBody>
                  <a:tcPr marL="63500" marR="63500" marT="25400" marB="25400">
                    <a:solidFill>
                      <a:srgbClr val="FFFFFF"/>
                    </a:solidFill>
                  </a:tcPr>
                </a:tc>
                <a:tc>
                  <a:txBody>
                    <a:bodyPr/>
                    <a:lstStyle/>
                    <a:p>
                      <a:r>
                        <a:rPr sz="1100" b="0">
                          <a:solidFill>
                            <a:srgbClr val="566371"/>
                          </a:solidFill>
                          <a:latin typeface="Segoe UI"/>
                        </a:rPr>
                        <a:t>Widget MESTI ambil ruang (Column maklumat kad)</a:t>
                      </a:r>
                    </a:p>
                  </a:txBody>
                  <a:tcPr marL="63500" marR="63500" marT="25400" marB="25400">
                    <a:solidFill>
                      <a:srgbClr val="FFFFFF"/>
                    </a:solidFill>
                  </a:tcPr>
                </a:tc>
                <a:tc>
                  <a:txBody>
                    <a:bodyPr/>
                    <a:lstStyle/>
                    <a:p>
                      <a:r>
                        <a:rPr sz="1100" b="0">
                          <a:solidFill>
                            <a:srgbClr val="566371"/>
                          </a:solidFill>
                          <a:latin typeface="Segoe UI"/>
                        </a:rPr>
                        <a:t>Widget boleh lebih kecil (ikon/label pendek)</a:t>
                      </a:r>
                    </a:p>
                  </a:txBody>
                  <a:tcPr marL="63500" marR="63500" marT="25400" marB="25400">
                    <a:solidFill>
                      <a:srgbClr val="FFFFFF"/>
                    </a:solidFill>
                  </a:tcPr>
                </a:tc>
              </a:tr>
            </a:tbl>
          </a:graphicData>
        </a:graphic>
      </p:graphicFrame>
      <p:sp>
        <p:nvSpPr>
          <p:cNvPr id="4" name="Rounded Rectangle 3"/>
          <p:cNvSpPr/>
          <p:nvPr/>
        </p:nvSpPr>
        <p:spPr>
          <a:xfrm>
            <a:off x="640080" y="2276856"/>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40080" y="2276856"/>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350008"/>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Peraturan mudah: tak pasti? Mula dengan Expanded. Nampak "terlalu meregang"? Tukar Flexible.</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Stack &amp; Positioned — Susun Atur Bertindan</a:t>
            </a:r>
          </a:p>
        </p:txBody>
      </p:sp>
      <p:sp>
        <p:nvSpPr>
          <p:cNvPr id="3" name="Rounded Rectangle 2"/>
          <p:cNvSpPr/>
          <p:nvPr/>
        </p:nvSpPr>
        <p:spPr>
          <a:xfrm>
            <a:off x="640080" y="1051560"/>
            <a:ext cx="10911535" cy="282549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64261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Stack(</a:t>
            </a:r>
          </a:p>
          <a:p>
            <a:pPr>
              <a:lnSpc>
                <a:spcPct val="100000"/>
              </a:lnSpc>
            </a:pPr>
            <a:r>
              <a:rPr sz="1100">
                <a:solidFill>
                  <a:srgbClr val="E6E8EE"/>
                </a:solidFill>
                <a:latin typeface="Consolas"/>
              </a:rPr>
              <a:t>  children: [</a:t>
            </a:r>
          </a:p>
          <a:p>
            <a:pPr>
              <a:lnSpc>
                <a:spcPct val="100000"/>
              </a:lnSpc>
            </a:pPr>
            <a:r>
              <a:rPr sz="1100">
                <a:solidFill>
                  <a:srgbClr val="E6E8EE"/>
                </a:solidFill>
                <a:latin typeface="Consolas"/>
              </a:rPr>
              <a:t>    // Anak pertama = lapisan paling BAWAH</a:t>
            </a:r>
          </a:p>
          <a:p>
            <a:pPr>
              <a:lnSpc>
                <a:spcPct val="100000"/>
              </a:lnSpc>
            </a:pPr>
            <a:r>
              <a:rPr sz="1100">
                <a:solidFill>
                  <a:srgbClr val="E6E8EE"/>
                </a:solidFill>
                <a:latin typeface="Consolas"/>
              </a:rPr>
              <a:t>    Container(height: 160, color: KptTheme.navy),</a:t>
            </a:r>
          </a:p>
          <a:p>
            <a:pPr>
              <a:lnSpc>
                <a:spcPct val="100000"/>
              </a:lnSpc>
            </a:pPr>
            <a:r>
              <a:rPr sz="1100">
                <a:solidFill>
                  <a:srgbClr val="E6E8EE"/>
                </a:solidFill>
                <a:latin typeface="Consolas"/>
              </a:rPr>
              <a:t>    // Anak seterusnya ditindan di ATAS</a:t>
            </a:r>
          </a:p>
          <a:p>
            <a:pPr>
              <a:lnSpc>
                <a:spcPct val="100000"/>
              </a:lnSpc>
            </a:pPr>
            <a:r>
              <a:rPr sz="1100">
                <a:solidFill>
                  <a:srgbClr val="E6E8EE"/>
                </a:solidFill>
                <a:latin typeface="Consolas"/>
              </a:rPr>
              <a:t>    Positioned(</a:t>
            </a:r>
          </a:p>
          <a:p>
            <a:pPr>
              <a:lnSpc>
                <a:spcPct val="100000"/>
              </a:lnSpc>
            </a:pPr>
            <a:r>
              <a:rPr sz="1100">
                <a:solidFill>
                  <a:srgbClr val="E6E8EE"/>
                </a:solidFill>
                <a:latin typeface="Consolas"/>
              </a:rPr>
              <a:t>      top: 12,</a:t>
            </a:r>
          </a:p>
          <a:p>
            <a:pPr>
              <a:lnSpc>
                <a:spcPct val="100000"/>
              </a:lnSpc>
            </a:pPr>
            <a:r>
              <a:rPr sz="1100">
                <a:solidFill>
                  <a:srgbClr val="E6E8EE"/>
                </a:solidFill>
                <a:latin typeface="Consolas"/>
              </a:rPr>
              <a:t>      right: 12,</a:t>
            </a:r>
          </a:p>
          <a:p>
            <a:pPr>
              <a:lnSpc>
                <a:spcPct val="100000"/>
              </a:lnSpc>
            </a:pPr>
            <a:r>
              <a:rPr sz="1100">
                <a:solidFill>
                  <a:srgbClr val="E6E8EE"/>
                </a:solidFill>
                <a:latin typeface="Consolas"/>
              </a:rPr>
              <a:t>      child: CategoryPill(category: programme.category),</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398678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Positioned hanya sah dalam Stack — jarak dari top/bottom/left/right</a:t>
            </a:r>
          </a:p>
        </p:txBody>
      </p:sp>
      <p:sp>
        <p:nvSpPr>
          <p:cNvPr id="6" name="TextBox 5"/>
          <p:cNvSpPr txBox="1"/>
          <p:nvPr/>
        </p:nvSpPr>
        <p:spPr>
          <a:xfrm>
            <a:off x="804671" y="421081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Anak bukan-Positioned memenuhi keseluruhan Stack secara lalai</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Latihan: ProgrammeBanner</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Stack(</a:t>
            </a:r>
          </a:p>
          <a:p>
            <a:pPr>
              <a:lnSpc>
                <a:spcPct val="100000"/>
              </a:lnSpc>
            </a:pPr>
            <a:r>
              <a:rPr sz="1100">
                <a:solidFill>
                  <a:srgbClr val="E6E8EE"/>
                </a:solidFill>
                <a:latin typeface="Consolas"/>
              </a:rPr>
              <a:t>  children: [</a:t>
            </a:r>
          </a:p>
          <a:p>
            <a:pPr>
              <a:lnSpc>
                <a:spcPct val="100000"/>
              </a:lnSpc>
            </a:pPr>
            <a:r>
              <a:rPr sz="1100">
                <a:solidFill>
                  <a:srgbClr val="E6E8EE"/>
                </a:solidFill>
                <a:latin typeface="Consolas"/>
              </a:rPr>
              <a:t>    Container(</a:t>
            </a:r>
          </a:p>
          <a:p>
            <a:pPr>
              <a:lnSpc>
                <a:spcPct val="100000"/>
              </a:lnSpc>
            </a:pPr>
            <a:r>
              <a:rPr sz="1100">
                <a:solidFill>
                  <a:srgbClr val="E6E8EE"/>
                </a:solidFill>
                <a:latin typeface="Consolas"/>
              </a:rPr>
              <a:t>      height: 160,</a:t>
            </a:r>
          </a:p>
          <a:p>
            <a:pPr>
              <a:lnSpc>
                <a:spcPct val="100000"/>
              </a:lnSpc>
            </a:pPr>
            <a:r>
              <a:rPr sz="1100">
                <a:solidFill>
                  <a:srgbClr val="E6E8EE"/>
                </a:solidFill>
                <a:latin typeface="Consolas"/>
              </a:rPr>
              <a:t>      width: double.infinity,</a:t>
            </a:r>
          </a:p>
          <a:p>
            <a:pPr>
              <a:lnSpc>
                <a:spcPct val="100000"/>
              </a:lnSpc>
            </a:pPr>
            <a:r>
              <a:rPr sz="1100">
                <a:solidFill>
                  <a:srgbClr val="E6E8EE"/>
                </a:solidFill>
                <a:latin typeface="Consolas"/>
              </a:rPr>
              <a:t>      decoration: BoxDecoration(</a:t>
            </a:r>
          </a:p>
          <a:p>
            <a:pPr>
              <a:lnSpc>
                <a:spcPct val="100000"/>
              </a:lnSpc>
            </a:pPr>
            <a:r>
              <a:rPr sz="1100">
                <a:solidFill>
                  <a:srgbClr val="E6E8EE"/>
                </a:solidFill>
                <a:latin typeface="Consolas"/>
              </a:rPr>
              <a:t>        color: KptTheme.navy,</a:t>
            </a:r>
          </a:p>
          <a:p>
            <a:pPr>
              <a:lnSpc>
                <a:spcPct val="100000"/>
              </a:lnSpc>
            </a:pPr>
            <a:r>
              <a:rPr sz="1100">
                <a:solidFill>
                  <a:srgbClr val="E6E8EE"/>
                </a:solidFill>
                <a:latin typeface="Consolas"/>
              </a:rPr>
              <a:t>        borderRadius: BorderRadius.circular(16),</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child: Center(</a:t>
            </a:r>
          </a:p>
          <a:p>
            <a:pPr>
              <a:lnSpc>
                <a:spcPct val="100000"/>
              </a:lnSpc>
            </a:pPr>
            <a:r>
              <a:rPr sz="1100">
                <a:solidFill>
                  <a:srgbClr val="E6E8EE"/>
                </a:solidFill>
                <a:latin typeface="Consolas"/>
              </a:rPr>
              <a:t>        child: Text(programme.flagEmoji,</a:t>
            </a:r>
          </a:p>
          <a:p>
            <a:pPr>
              <a:lnSpc>
                <a:spcPct val="100000"/>
              </a:lnSpc>
            </a:pPr>
            <a:r>
              <a:rPr sz="1100">
                <a:solidFill>
                  <a:srgbClr val="E6E8EE"/>
                </a:solidFill>
                <a:latin typeface="Consolas"/>
              </a:rPr>
              <a:t>            style: const TextStyle(fontSize: 56)),</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Positioned(</a:t>
            </a:r>
          </a:p>
          <a:p>
            <a:pPr>
              <a:lnSpc>
                <a:spcPct val="100000"/>
              </a:lnSpc>
            </a:pPr>
            <a:r>
              <a:rPr sz="1100">
                <a:solidFill>
                  <a:srgbClr val="E6E8EE"/>
                </a:solidFill>
                <a:latin typeface="Consolas"/>
              </a:rPr>
              <a:t>      left: 16,</a:t>
            </a:r>
          </a:p>
          <a:p>
            <a:pPr>
              <a:lnSpc>
                <a:spcPct val="100000"/>
              </a:lnSpc>
            </a:pPr>
            <a:r>
              <a:rPr sz="1100">
                <a:solidFill>
                  <a:srgbClr val="E6E8EE"/>
                </a:solidFill>
                <a:latin typeface="Consolas"/>
              </a:rPr>
              <a:t>      bottom: 14,</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Dah Selesa Dengan Stack? Lanjutkan</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Cuba minta AI jana kad "hero" yang lebih lengkap, berasaskan corak yang baru anda bina sendiri:</a:t>
            </a:r>
          </a:p>
        </p:txBody>
      </p:sp>
      <p:sp>
        <p:nvSpPr>
          <p:cNvPr id="4" name="Rounded Rectangle 3"/>
          <p:cNvSpPr/>
          <p:nvPr/>
        </p:nvSpPr>
        <p:spPr>
          <a:xfrm>
            <a:off x="640080" y="1371600"/>
            <a:ext cx="10911535" cy="301294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463040"/>
            <a:ext cx="10655503" cy="2830068"/>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Konteks: Projek Flutter "eTT Mobile". Tema: KptTheme.navy</a:t>
            </a:r>
          </a:p>
          <a:p>
            <a:pPr>
              <a:lnSpc>
                <a:spcPct val="100000"/>
              </a:lnSpc>
            </a:pPr>
            <a:r>
              <a:rPr sz="1100">
                <a:solidFill>
                  <a:srgbClr val="E6E8EE"/>
                </a:solidFill>
                <a:latin typeface="Consolas"/>
              </a:rPr>
              <a:t>(0xFF1A2B5C) + KptTheme.gold (0xFFD4A017). Model data: Programme</a:t>
            </a:r>
          </a:p>
          <a:p>
            <a:pPr>
              <a:lnSpc>
                <a:spcPct val="100000"/>
              </a:lnSpc>
            </a:pPr>
            <a:r>
              <a:rPr sz="1100">
                <a:solidFill>
                  <a:srgbClr val="E6E8EE"/>
                </a:solidFill>
                <a:latin typeface="Consolas"/>
              </a:rPr>
              <a:t>(universityName, country, city, fieldOfStudy, category,</a:t>
            </a:r>
          </a:p>
          <a:p>
            <a:pPr>
              <a:lnSpc>
                <a:spcPct val="100000"/>
              </a:lnSpc>
            </a:pPr>
            <a:r>
              <a:rPr sz="1100">
                <a:solidFill>
                  <a:srgbClr val="E6E8EE"/>
                </a:solidFill>
                <a:latin typeface="Consolas"/>
              </a:rPr>
              <a:t>estimatedAnnualCostMyr, quotaSeats).</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Tugas: Jana satu StatelessWidget bernama `ProgrammeHeroCard` —</a:t>
            </a:r>
          </a:p>
          <a:p>
            <a:pPr>
              <a:lnSpc>
                <a:spcPct val="100000"/>
              </a:lnSpc>
            </a:pPr>
            <a:r>
              <a:rPr sz="1100">
                <a:solidFill>
                  <a:srgbClr val="E6E8EE"/>
                </a:solidFill>
                <a:latin typeface="Consolas"/>
              </a:rPr>
              <a:t>banner navy di atas (guna Stack), universiti &amp; bidang di bawah</a:t>
            </a:r>
          </a:p>
          <a:p>
            <a:pPr>
              <a:lnSpc>
                <a:spcPct val="100000"/>
              </a:lnSpc>
            </a:pPr>
            <a:r>
              <a:rPr sz="1100">
                <a:solidFill>
                  <a:srgbClr val="E6E8EE"/>
                </a:solidFill>
                <a:latin typeface="Consolas"/>
              </a:rPr>
              <a:t>banner (teks putih), pill kategori kemasukan di sudut kanan atas.</a:t>
            </a:r>
          </a:p>
          <a:p>
            <a:pPr>
              <a:lnSpc>
                <a:spcPct val="100000"/>
              </a:lnSpc>
            </a:pPr>
            <a:r>
              <a:rPr sz="1100">
                <a:solidFill>
                  <a:srgbClr val="E6E8EE"/>
                </a:solidFill>
                <a:latin typeface="Consolas"/>
              </a:rPr>
              <a:t>Di bawah banner, papar kos anggaran RM dan senarai dokumen</a:t>
            </a:r>
          </a:p>
          <a:p>
            <a:pPr>
              <a:lnSpc>
                <a:spcPct val="100000"/>
              </a:lnSpc>
            </a:pPr>
            <a:r>
              <a:rPr sz="1100">
                <a:solidFill>
                  <a:srgbClr val="E6E8EE"/>
                </a:solidFill>
                <a:latin typeface="Consolas"/>
              </a:rPr>
              <a:t>(ettDocumentChecklist) sebagai baris cip kecil.</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Kekangan: widget Flutter standard sahaja (jangan import pakej</a:t>
            </a:r>
          </a:p>
          <a:p>
            <a:pPr>
              <a:lnSpc>
                <a:spcPct val="100000"/>
              </a:lnSpc>
            </a:pPr>
            <a:r>
              <a:rPr sz="1100">
                <a:solidFill>
                  <a:srgbClr val="E6E8EE"/>
                </a:solidFill>
                <a:latin typeface="Consolas"/>
              </a:rPr>
              <a:t>luar). Kekalkan gaya konsisten dengan widgets/programme_card.dart.</a:t>
            </a:r>
          </a:p>
          <a:p>
            <a:pPr>
              <a:lnSpc>
                <a:spcPct val="100000"/>
              </a:lnSpc>
            </a:pPr>
            <a:r>
              <a:rPr sz="1100">
                <a:solidFill>
                  <a:srgbClr val="E6E8EE"/>
                </a:solidFill>
                <a:latin typeface="Consolas"/>
              </a:rPr>
              <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841248"/>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Hasil AI Jarang Sempurna — Ini Yang Biasa Kena Betulkan</a:t>
            </a:r>
          </a:p>
        </p:txBody>
      </p:sp>
      <p:sp>
        <p:nvSpPr>
          <p:cNvPr id="3" name="TextBox 2"/>
          <p:cNvSpPr txBox="1"/>
          <p:nvPr/>
        </p:nvSpPr>
        <p:spPr>
          <a:xfrm>
            <a:off x="804671" y="147218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const yang hilang pada widget statik — flutter analyze tunjuk prefer_const_constructors</a:t>
            </a:r>
          </a:p>
        </p:txBody>
      </p:sp>
      <p:sp>
        <p:nvSpPr>
          <p:cNvPr id="4" name="TextBox 3"/>
          <p:cNvSpPr txBox="1"/>
          <p:nvPr/>
        </p:nvSpPr>
        <p:spPr>
          <a:xfrm>
            <a:off x="804671" y="169621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Row untuk cip dokumen boleh overflow — ettDocumentChecklist ada 6 item, tak muat satu baris telefon (ingat pagi tadi!)</a:t>
            </a:r>
          </a:p>
        </p:txBody>
      </p:sp>
      <p:sp>
        <p:nvSpPr>
          <p:cNvPr id="5" name="TextBox 4"/>
          <p:cNvSpPr txBox="1"/>
          <p:nvPr/>
        </p:nvSpPr>
        <p:spPr>
          <a:xfrm>
            <a:off x="804671" y="192024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Warna hardcoded baharu — jika AI jana Color(0xFF...) sendiri, gantikan dengan KptTheme.navy/KptTheme.gold</a:t>
            </a:r>
          </a:p>
        </p:txBody>
      </p:sp>
      <p:sp>
        <p:nvSpPr>
          <p:cNvPr id="6" name="Rounded Rectangle 5"/>
          <p:cNvSpPr/>
          <p:nvPr/>
        </p:nvSpPr>
        <p:spPr>
          <a:xfrm>
            <a:off x="640080" y="2217420"/>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2308860"/>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Baiki overflow: Wrap "lipat" ke baris baharu secara automatik</a:t>
            </a:r>
          </a:p>
          <a:p>
            <a:pPr>
              <a:lnSpc>
                <a:spcPct val="100000"/>
              </a:lnSpc>
            </a:pPr>
            <a:r>
              <a:rPr sz="1100">
                <a:solidFill>
                  <a:srgbClr val="E6E8EE"/>
                </a:solidFill>
                <a:latin typeface="Consolas"/>
              </a:rPr>
              <a:t>Wrap(</a:t>
            </a:r>
          </a:p>
          <a:p>
            <a:pPr>
              <a:lnSpc>
                <a:spcPct val="100000"/>
              </a:lnSpc>
            </a:pPr>
            <a:r>
              <a:rPr sz="1100">
                <a:solidFill>
                  <a:srgbClr val="E6E8EE"/>
                </a:solidFill>
                <a:latin typeface="Consolas"/>
              </a:rPr>
              <a:t>  spacing: 6,</a:t>
            </a:r>
          </a:p>
          <a:p>
            <a:pPr>
              <a:lnSpc>
                <a:spcPct val="100000"/>
              </a:lnSpc>
            </a:pPr>
            <a:r>
              <a:rPr sz="1100">
                <a:solidFill>
                  <a:srgbClr val="E6E8EE"/>
                </a:solidFill>
                <a:latin typeface="Consolas"/>
              </a:rPr>
              <a:t>  children: ettDocumentChecklist</a:t>
            </a:r>
          </a:p>
          <a:p>
            <a:pPr>
              <a:lnSpc>
                <a:spcPct val="100000"/>
              </a:lnSpc>
            </a:pPr>
            <a:r>
              <a:rPr sz="1100">
                <a:solidFill>
                  <a:srgbClr val="E6E8EE"/>
                </a:solidFill>
                <a:latin typeface="Consolas"/>
              </a:rPr>
              <a:t>      .map((d) =&gt; Chip(label: Text(d)))</a:t>
            </a:r>
          </a:p>
          <a:p>
            <a:pPr>
              <a:lnSpc>
                <a:spcPct val="100000"/>
              </a:lnSpc>
            </a:pPr>
            <a:r>
              <a:rPr sz="1100">
                <a:solidFill>
                  <a:srgbClr val="E6E8EE"/>
                </a:solidFill>
                <a:latin typeface="Consolas"/>
              </a:rPr>
              <a:t>      .toList(),</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8" name="TextBox 7"/>
          <p:cNvSpPr txBox="1"/>
          <p:nvPr/>
        </p:nvSpPr>
        <p:spPr>
          <a:xfrm>
            <a:off x="640080" y="4215384"/>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Lepas betulkan, jalankan flutter analyze sebelum sambung — tabiat yang patut jadi automatik setiap kali terima kod daripada AI.</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Align &amp; Center</a:t>
            </a:r>
          </a:p>
        </p:txBody>
      </p:sp>
      <p:sp>
        <p:nvSpPr>
          <p:cNvPr id="3" name="Rounded Rectangle 2"/>
          <p:cNvSpPr/>
          <p:nvPr/>
        </p:nvSpPr>
        <p:spPr>
          <a:xfrm>
            <a:off x="640080" y="1051560"/>
            <a:ext cx="10911535" cy="132588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143000"/>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Align(</a:t>
            </a:r>
          </a:p>
          <a:p>
            <a:pPr>
              <a:lnSpc>
                <a:spcPct val="100000"/>
              </a:lnSpc>
            </a:pPr>
            <a:r>
              <a:rPr sz="1100">
                <a:solidFill>
                  <a:srgbClr val="E6E8EE"/>
                </a:solidFill>
                <a:latin typeface="Consolas"/>
              </a:rPr>
              <a:t>  alignment: Alignment.centerRight,</a:t>
            </a:r>
          </a:p>
          <a:p>
            <a:pPr>
              <a:lnSpc>
                <a:spcPct val="100000"/>
              </a:lnSpc>
            </a:pPr>
            <a:r>
              <a:rPr sz="1100">
                <a:solidFill>
                  <a:srgbClr val="E6E8EE"/>
                </a:solidFill>
                <a:latin typeface="Consolas"/>
              </a:rPr>
              <a:t>  child: Icon(Icons.chevron_right, color: KptTheme.navy),</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248716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Center = kes khas Align (sentiasa Alignment.center)</a:t>
            </a:r>
          </a:p>
        </p:txBody>
      </p:sp>
      <p:sp>
        <p:nvSpPr>
          <p:cNvPr id="6" name="TextBox 5"/>
          <p:cNvSpPr txBox="1"/>
          <p:nvPr/>
        </p:nvSpPr>
        <p:spPr>
          <a:xfrm>
            <a:off x="804671" y="271119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Align: letak anak di mana-mana titik ruang ibu — topLeft, bottomRight, atau koordinat -1.0 hingga 1.0</a:t>
            </a:r>
          </a:p>
        </p:txBody>
      </p:sp>
      <p:sp>
        <p:nvSpPr>
          <p:cNvPr id="7" name="TextBox 6"/>
          <p:cNvSpPr txBox="1"/>
          <p:nvPr/>
        </p:nvSpPr>
        <p:spPr>
          <a:xfrm>
            <a:off x="804671" y="293522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Positioned = jarak mutlak (perlu Stack); Align = kedudukan relatif (tak perlu Stack)</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Scaffold &amp; AppBar — Rangka Skrin</a:t>
            </a:r>
          </a:p>
        </p:txBody>
      </p:sp>
      <p:sp>
        <p:nvSpPr>
          <p:cNvPr id="3" name="Rounded Rectangle 2"/>
          <p:cNvSpPr/>
          <p:nvPr/>
        </p:nvSpPr>
        <p:spPr>
          <a:xfrm>
            <a:off x="640080" y="1051560"/>
            <a:ext cx="10911535" cy="207568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89280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Scaffold(</a:t>
            </a:r>
          </a:p>
          <a:p>
            <a:pPr>
              <a:lnSpc>
                <a:spcPct val="100000"/>
              </a:lnSpc>
            </a:pPr>
            <a:r>
              <a:rPr sz="1100">
                <a:solidFill>
                  <a:srgbClr val="E6E8EE"/>
                </a:solidFill>
                <a:latin typeface="Consolas"/>
              </a:rPr>
              <a:t>  appBar: AppBar(</a:t>
            </a:r>
          </a:p>
          <a:p>
            <a:pPr>
              <a:lnSpc>
                <a:spcPct val="100000"/>
              </a:lnSpc>
            </a:pPr>
            <a:r>
              <a:rPr sz="1100">
                <a:solidFill>
                  <a:srgbClr val="E6E8EE"/>
                </a:solidFill>
                <a:latin typeface="Consolas"/>
              </a:rPr>
              <a:t>    title: const Text('Program'),</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body: const Center(</a:t>
            </a:r>
          </a:p>
          <a:p>
            <a:pPr>
              <a:lnSpc>
                <a:spcPct val="100000"/>
              </a:lnSpc>
            </a:pPr>
            <a:r>
              <a:rPr sz="1100">
                <a:solidFill>
                  <a:srgbClr val="E6E8EE"/>
                </a:solidFill>
                <a:latin typeface="Consolas"/>
              </a:rPr>
              <a:t>    child: Text('Kandungan skrin'),</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graphicFrame>
        <p:nvGraphicFramePr>
          <p:cNvPr id="5" name="Table 4"/>
          <p:cNvGraphicFramePr>
            <a:graphicFrameLocks noGrp="1"/>
          </p:cNvGraphicFramePr>
          <p:nvPr/>
        </p:nvGraphicFramePr>
        <p:xfrm>
          <a:off x="640080" y="3236976"/>
          <a:ext cx="10911535" cy="1371600"/>
        </p:xfrm>
        <a:graphic>
          <a:graphicData uri="http://schemas.openxmlformats.org/drawingml/2006/table">
            <a:tbl>
              <a:tblPr firstRow="1" bandRow="1">
                <a:tableStyleId>{5C22544A-7EE6-4342-B048-85BDC9FD1C3A}</a:tableStyleId>
              </a:tblPr>
              <a:tblGrid>
                <a:gridCol w="5455767"/>
                <a:gridCol w="5455768"/>
              </a:tblGrid>
              <a:tr h="274320">
                <a:tc>
                  <a:txBody>
                    <a:bodyPr/>
                    <a:lstStyle/>
                    <a:p>
                      <a:r>
                        <a:rPr sz="1100" b="1">
                          <a:solidFill>
                            <a:srgbClr val="FFFFFF"/>
                          </a:solidFill>
                          <a:latin typeface="Segoe UI"/>
                        </a:rPr>
                        <a:t>Parameter</a:t>
                      </a:r>
                    </a:p>
                  </a:txBody>
                  <a:tcPr marL="63500" marR="63500" marT="25400" marB="25400">
                    <a:solidFill>
                      <a:srgbClr val="1A2B5C"/>
                    </a:solidFill>
                  </a:tcPr>
                </a:tc>
                <a:tc>
                  <a:txBody>
                    <a:bodyPr/>
                    <a:lstStyle/>
                    <a:p>
                      <a:r>
                        <a:rPr sz="1100" b="1">
                          <a:solidFill>
                            <a:srgbClr val="FFFFFF"/>
                          </a:solidFill>
                          <a:latin typeface="Segoe UI"/>
                        </a:rPr>
                        <a:t>Fungsi</a:t>
                      </a:r>
                    </a:p>
                  </a:txBody>
                  <a:tcPr marL="63500" marR="63500" marT="25400" marB="25400">
                    <a:solidFill>
                      <a:srgbClr val="1A2B5C"/>
                    </a:solidFill>
                  </a:tcPr>
                </a:tc>
              </a:tr>
              <a:tr h="274320">
                <a:tc>
                  <a:txBody>
                    <a:bodyPr/>
                    <a:lstStyle/>
                    <a:p>
                      <a:r>
                        <a:rPr sz="1100" b="0">
                          <a:solidFill>
                            <a:srgbClr val="566371"/>
                          </a:solidFill>
                          <a:latin typeface="Segoe UI"/>
                        </a:rPr>
                        <a:t>appBar</a:t>
                      </a:r>
                    </a:p>
                  </a:txBody>
                  <a:tcPr marL="63500" marR="63500" marT="25400" marB="25400">
                    <a:solidFill>
                      <a:srgbClr val="FFFFFF"/>
                    </a:solidFill>
                  </a:tcPr>
                </a:tc>
                <a:tc>
                  <a:txBody>
                    <a:bodyPr/>
                    <a:lstStyle/>
                    <a:p>
                      <a:r>
                        <a:rPr sz="1100" b="0">
                          <a:solidFill>
                            <a:srgbClr val="566371"/>
                          </a:solidFill>
                          <a:latin typeface="Segoe UI"/>
                        </a:rPr>
                        <a:t>Bar tajuk di atas</a:t>
                      </a:r>
                    </a:p>
                  </a:txBody>
                  <a:tcPr marL="63500" marR="63500" marT="25400" marB="25400">
                    <a:solidFill>
                      <a:srgbClr val="FFFFFF"/>
                    </a:solidFill>
                  </a:tcPr>
                </a:tc>
              </a:tr>
              <a:tr h="274320">
                <a:tc>
                  <a:txBody>
                    <a:bodyPr/>
                    <a:lstStyle/>
                    <a:p>
                      <a:r>
                        <a:rPr sz="1100" b="0">
                          <a:solidFill>
                            <a:srgbClr val="566371"/>
                          </a:solidFill>
                          <a:latin typeface="Segoe UI"/>
                        </a:rPr>
                        <a:t>body</a:t>
                      </a:r>
                    </a:p>
                  </a:txBody>
                  <a:tcPr marL="63500" marR="63500" marT="25400" marB="25400">
                    <a:solidFill>
                      <a:srgbClr val="FFFFFF"/>
                    </a:solidFill>
                  </a:tcPr>
                </a:tc>
                <a:tc>
                  <a:txBody>
                    <a:bodyPr/>
                    <a:lstStyle/>
                    <a:p>
                      <a:r>
                        <a:rPr sz="1100" b="0">
                          <a:solidFill>
                            <a:srgbClr val="566371"/>
                          </a:solidFill>
                          <a:latin typeface="Segoe UI"/>
                        </a:rPr>
                        <a:t>Kandungan utama</a:t>
                      </a:r>
                    </a:p>
                  </a:txBody>
                  <a:tcPr marL="63500" marR="63500" marT="25400" marB="25400">
                    <a:solidFill>
                      <a:srgbClr val="FFFFFF"/>
                    </a:solidFill>
                  </a:tcPr>
                </a:tc>
              </a:tr>
              <a:tr h="274320">
                <a:tc>
                  <a:txBody>
                    <a:bodyPr/>
                    <a:lstStyle/>
                    <a:p>
                      <a:r>
                        <a:rPr sz="1100" b="0">
                          <a:solidFill>
                            <a:srgbClr val="566371"/>
                          </a:solidFill>
                          <a:latin typeface="Segoe UI"/>
                        </a:rPr>
                        <a:t>drawer</a:t>
                      </a:r>
                    </a:p>
                  </a:txBody>
                  <a:tcPr marL="63500" marR="63500" marT="25400" marB="25400">
                    <a:solidFill>
                      <a:srgbClr val="FFFFFF"/>
                    </a:solidFill>
                  </a:tcPr>
                </a:tc>
                <a:tc>
                  <a:txBody>
                    <a:bodyPr/>
                    <a:lstStyle/>
                    <a:p>
                      <a:r>
                        <a:rPr sz="1100" b="0">
                          <a:solidFill>
                            <a:srgbClr val="566371"/>
                          </a:solidFill>
                          <a:latin typeface="Segoe UI"/>
                        </a:rPr>
                        <a:t>Panel sisi (petang ini)</a:t>
                      </a:r>
                    </a:p>
                  </a:txBody>
                  <a:tcPr marL="63500" marR="63500" marT="25400" marB="25400">
                    <a:solidFill>
                      <a:srgbClr val="FFFFFF"/>
                    </a:solidFill>
                  </a:tcPr>
                </a:tc>
              </a:tr>
              <a:tr h="274320">
                <a:tc>
                  <a:txBody>
                    <a:bodyPr/>
                    <a:lstStyle/>
                    <a:p>
                      <a:r>
                        <a:rPr sz="1100" b="0">
                          <a:solidFill>
                            <a:srgbClr val="566371"/>
                          </a:solidFill>
                          <a:latin typeface="Segoe UI"/>
                        </a:rPr>
                        <a:t>bottomNavigationBar</a:t>
                      </a:r>
                    </a:p>
                  </a:txBody>
                  <a:tcPr marL="63500" marR="63500" marT="25400" marB="25400">
                    <a:solidFill>
                      <a:srgbClr val="FFFFFF"/>
                    </a:solidFill>
                  </a:tcPr>
                </a:tc>
                <a:tc>
                  <a:txBody>
                    <a:bodyPr/>
                    <a:lstStyle/>
                    <a:p>
                      <a:r>
                        <a:rPr sz="1100" b="0">
                          <a:solidFill>
                            <a:srgbClr val="566371"/>
                          </a:solidFill>
                          <a:latin typeface="Segoe UI"/>
                        </a:rPr>
                        <a:t>Bar tab bawah (petang ini)</a:t>
                      </a:r>
                    </a:p>
                  </a:txBody>
                  <a:tcPr marL="63500" marR="63500" marT="25400" marB="25400">
                    <a:solidFill>
                      <a:srgbClr val="FFFFFF"/>
                    </a:solidFill>
                  </a:tcPr>
                </a:tc>
              </a:tr>
            </a:tbl>
          </a:graphicData>
        </a:graphic>
      </p:graphicFrame>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Kenapa AppBar() Kita Automatik Navy?</a:t>
            </a:r>
          </a:p>
        </p:txBody>
      </p:sp>
      <p:sp>
        <p:nvSpPr>
          <p:cNvPr id="3" name="Rounded Rectangle 2"/>
          <p:cNvSpPr/>
          <p:nvPr/>
        </p:nvSpPr>
        <p:spPr>
          <a:xfrm>
            <a:off x="640080" y="1051560"/>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Dalam theme.dart (KptTheme) — bukan di setiap skrin:</a:t>
            </a:r>
          </a:p>
          <a:p>
            <a:pPr>
              <a:lnSpc>
                <a:spcPct val="100000"/>
              </a:lnSpc>
            </a:pPr>
            <a:r>
              <a:rPr sz="1100">
                <a:solidFill>
                  <a:srgbClr val="E6E8EE"/>
                </a:solidFill>
                <a:latin typeface="Consolas"/>
              </a:rPr>
              <a:t>appBarTheme: const AppBarTheme(</a:t>
            </a:r>
          </a:p>
          <a:p>
            <a:pPr>
              <a:lnSpc>
                <a:spcPct val="100000"/>
              </a:lnSpc>
            </a:pPr>
            <a:r>
              <a:rPr sz="1100">
                <a:solidFill>
                  <a:srgbClr val="E6E8EE"/>
                </a:solidFill>
                <a:latin typeface="Consolas"/>
              </a:rPr>
              <a:t>  backgroundColor: KptTheme.navy,</a:t>
            </a:r>
          </a:p>
          <a:p>
            <a:pPr>
              <a:lnSpc>
                <a:spcPct val="100000"/>
              </a:lnSpc>
            </a:pPr>
            <a:r>
              <a:rPr sz="1100">
                <a:solidFill>
                  <a:srgbClr val="E6E8EE"/>
                </a:solidFill>
                <a:latin typeface="Consolas"/>
              </a:rPr>
              <a:t>  foregroundColor: Colors.white,</a:t>
            </a:r>
          </a:p>
          <a:p>
            <a:pPr>
              <a:lnSpc>
                <a:spcPct val="100000"/>
              </a:lnSpc>
            </a:pPr>
            <a:r>
              <a:rPr sz="1100">
                <a:solidFill>
                  <a:srgbClr val="E6E8EE"/>
                </a:solidFill>
                <a:latin typeface="Consolas"/>
              </a:rPr>
              <a:t>  elevation: 0,</a:t>
            </a:r>
          </a:p>
          <a:p>
            <a:pPr>
              <a:lnSpc>
                <a:spcPct val="100000"/>
              </a:lnSpc>
            </a:pPr>
            <a:r>
              <a:rPr sz="1100">
                <a:solidFill>
                  <a:srgbClr val="E6E8EE"/>
                </a:solidFill>
                <a:latin typeface="Consolas"/>
              </a:rPr>
              <a:t>  centerTitle: false,</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304952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Setiap AppBar() polos → automatik navy + teks putih, tanpa ulang kod warna</a:t>
            </a:r>
          </a:p>
        </p:txBody>
      </p:sp>
      <p:sp>
        <p:nvSpPr>
          <p:cNvPr id="6" name="TextBox 5"/>
          <p:cNvSpPr txBox="1"/>
          <p:nvPr/>
        </p:nvSpPr>
        <p:spPr>
          <a:xfrm>
            <a:off x="804671" y="327355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Konsistensi jenama dari satu tempat — inilah gunanya ThemeData (bedah penuh petang ini)</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246888"/>
          </a:xfrm>
          <a:prstGeom prst="rect">
            <a:avLst/>
          </a:prstGeom>
          <a:noFill/>
        </p:spPr>
        <p:txBody>
          <a:bodyPr wrap="square" anchor="t" lIns="38100" rIns="38100" tIns="25400" bIns="25400">
            <a:spAutoFit/>
          </a:bodyPr>
          <a:lstStyle/>
          <a:p>
            <a:pPr algn="l">
              <a:lnSpc>
                <a:spcPct val="105000"/>
              </a:lnSpc>
            </a:pPr>
            <a:r>
              <a:rPr sz="1700" b="1">
                <a:solidFill>
                  <a:srgbClr val="1A1A2E"/>
                </a:solidFill>
                <a:latin typeface="Segoe UI"/>
              </a:rPr>
              <a:t>SESI 3 (Petang) — Senarai Dinamik &amp; Kemasan</a:t>
            </a:r>
          </a:p>
        </p:txBody>
      </p:sp>
      <p:sp>
        <p:nvSpPr>
          <p:cNvPr id="3" name="Rounded Rectangle 2"/>
          <p:cNvSpPr/>
          <p:nvPr/>
        </p:nvSpPr>
        <p:spPr>
          <a:xfrm>
            <a:off x="640080" y="822960"/>
            <a:ext cx="5364327"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914400"/>
            <a:ext cx="5108295"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Navigasi aplikasi</a:t>
            </a:r>
          </a:p>
        </p:txBody>
      </p:sp>
      <p:sp>
        <p:nvSpPr>
          <p:cNvPr id="5" name="TextBox 4"/>
          <p:cNvSpPr txBox="1"/>
          <p:nvPr/>
        </p:nvSpPr>
        <p:spPr>
          <a:xfrm>
            <a:off x="768096" y="1207008"/>
            <a:ext cx="5108295" cy="475487"/>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BottomNavigationBar 3 tab + Drawer negara (Mesir/Maghribi).</a:t>
            </a:r>
          </a:p>
        </p:txBody>
      </p:sp>
      <p:sp>
        <p:nvSpPr>
          <p:cNvPr id="6" name="Rounded Rectangle 5"/>
          <p:cNvSpPr/>
          <p:nvPr/>
        </p:nvSpPr>
        <p:spPr>
          <a:xfrm>
            <a:off x="6187287" y="822960"/>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315303" y="914400"/>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Senarai &amp; grid</a:t>
            </a:r>
          </a:p>
        </p:txBody>
      </p:sp>
      <p:sp>
        <p:nvSpPr>
          <p:cNvPr id="8" name="TextBox 7"/>
          <p:cNvSpPr txBox="1"/>
          <p:nvPr/>
        </p:nvSpPr>
        <p:spPr>
          <a:xfrm>
            <a:off x="6315303" y="1207008"/>
            <a:ext cx="5108295"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ListView.builder untuk 8 program · GridView 2 lajur.</a:t>
            </a:r>
          </a:p>
        </p:txBody>
      </p:sp>
      <p:sp>
        <p:nvSpPr>
          <p:cNvPr id="9" name="Rounded Rectangle 8"/>
          <p:cNvSpPr/>
          <p:nvPr/>
        </p:nvSpPr>
        <p:spPr>
          <a:xfrm>
            <a:off x="640080" y="1938528"/>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2029968"/>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Komponen visual</a:t>
            </a:r>
          </a:p>
        </p:txBody>
      </p:sp>
      <p:sp>
        <p:nvSpPr>
          <p:cNvPr id="11" name="TextBox 10"/>
          <p:cNvSpPr txBox="1"/>
          <p:nvPr/>
        </p:nvSpPr>
        <p:spPr>
          <a:xfrm>
            <a:off x="768096" y="2322576"/>
            <a:ext cx="5108295"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Card &amp; ListTile — corak baris standard.</a:t>
            </a:r>
          </a:p>
        </p:txBody>
      </p:sp>
      <p:sp>
        <p:nvSpPr>
          <p:cNvPr id="12" name="Rounded Rectangle 11"/>
          <p:cNvSpPr/>
          <p:nvPr/>
        </p:nvSpPr>
        <p:spPr>
          <a:xfrm>
            <a:off x="6187287" y="1938528"/>
            <a:ext cx="5364327"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15303" y="2029968"/>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Styling</a:t>
            </a:r>
          </a:p>
        </p:txBody>
      </p:sp>
      <p:sp>
        <p:nvSpPr>
          <p:cNvPr id="14" name="TextBox 13"/>
          <p:cNvSpPr txBox="1"/>
          <p:nvPr/>
        </p:nvSpPr>
        <p:spPr>
          <a:xfrm>
            <a:off x="6315303" y="2322576"/>
            <a:ext cx="5108295"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TextStyle sebaris vs ThemeData global (KptTheme).</a:t>
            </a:r>
          </a:p>
        </p:txBody>
      </p:sp>
      <p:sp>
        <p:nvSpPr>
          <p:cNvPr id="15" name="TextBox 1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BottomNavigationBar — 3 Tab eTT Mobile</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class _HomeScreenState extends State&lt;HomeScreen&gt; {</a:t>
            </a:r>
          </a:p>
          <a:p>
            <a:pPr>
              <a:lnSpc>
                <a:spcPct val="100000"/>
              </a:lnSpc>
            </a:pPr>
            <a:r>
              <a:rPr sz="1100">
                <a:solidFill>
                  <a:srgbClr val="E6E8EE"/>
                </a:solidFill>
                <a:latin typeface="Consolas"/>
              </a:rPr>
              <a:t>  int _index = 0;</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static const _titles = ['Program', 'Permohonan Saya', 'Profil'];</a:t>
            </a:r>
          </a:p>
          <a:p>
            <a:pPr>
              <a:lnSpc>
                <a:spcPct val="100000"/>
              </a:lnSpc>
            </a:pPr>
            <a:r>
              <a:rPr sz="1100">
                <a:solidFill>
                  <a:srgbClr val="E6E8EE"/>
                </a:solidFill>
                <a:latin typeface="Consolas"/>
              </a:rPr>
              <a:t>  static const _screens = [</a:t>
            </a:r>
          </a:p>
          <a:p>
            <a:pPr>
              <a:lnSpc>
                <a:spcPct val="100000"/>
              </a:lnSpc>
            </a:pPr>
            <a:r>
              <a:rPr sz="1100">
                <a:solidFill>
                  <a:srgbClr val="E6E8EE"/>
                </a:solidFill>
                <a:latin typeface="Consolas"/>
              </a:rPr>
              <a:t>    ProgrammeListScreen(),</a:t>
            </a:r>
          </a:p>
          <a:p>
            <a:pPr>
              <a:lnSpc>
                <a:spcPct val="100000"/>
              </a:lnSpc>
            </a:pPr>
            <a:r>
              <a:rPr sz="1100">
                <a:solidFill>
                  <a:srgbClr val="E6E8EE"/>
                </a:solidFill>
                <a:latin typeface="Consolas"/>
              </a:rPr>
              <a:t>    MyApplicationsScreen(),</a:t>
            </a:r>
          </a:p>
          <a:p>
            <a:pPr>
              <a:lnSpc>
                <a:spcPct val="100000"/>
              </a:lnSpc>
            </a:pPr>
            <a:r>
              <a:rPr sz="1100">
                <a:solidFill>
                  <a:srgbClr val="E6E8EE"/>
                </a:solidFill>
                <a:latin typeface="Consolas"/>
              </a:rPr>
              <a:t>    ProfileScreen(),</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@override</a:t>
            </a:r>
          </a:p>
          <a:p>
            <a:pPr>
              <a:lnSpc>
                <a:spcPct val="100000"/>
              </a:lnSpc>
            </a:pPr>
            <a:r>
              <a:rPr sz="1100">
                <a:solidFill>
                  <a:srgbClr val="E6E8EE"/>
                </a:solidFill>
                <a:latin typeface="Consolas"/>
              </a:rPr>
              <a:t>  Widget build(BuildContext context) {</a:t>
            </a:r>
          </a:p>
          <a:p>
            <a:pPr>
              <a:lnSpc>
                <a:spcPct val="100000"/>
              </a:lnSpc>
            </a:pPr>
            <a:r>
              <a:rPr sz="1100">
                <a:solidFill>
                  <a:srgbClr val="E6E8EE"/>
                </a:solidFill>
                <a:latin typeface="Consolas"/>
              </a:rPr>
              <a:t>    return Scaffold(</a:t>
            </a:r>
          </a:p>
          <a:p>
            <a:pPr>
              <a:lnSpc>
                <a:spcPct val="100000"/>
              </a:lnSpc>
            </a:pPr>
            <a:r>
              <a:rPr sz="1100">
                <a:solidFill>
                  <a:srgbClr val="E6E8EE"/>
                </a:solidFill>
                <a:latin typeface="Consolas"/>
              </a:rPr>
              <a:t>      appBar: AppBar(title: Text(_titles[_index])),</a:t>
            </a:r>
          </a:p>
          <a:p>
            <a:pPr>
              <a:lnSpc>
                <a:spcPct val="100000"/>
              </a:lnSpc>
            </a:pPr>
            <a:r>
              <a:rPr sz="1100">
                <a:solidFill>
                  <a:srgbClr val="E6E8EE"/>
                </a:solidFill>
                <a:latin typeface="Consolas"/>
              </a:rPr>
              <a:t>      body: _screens[_index],</a:t>
            </a:r>
          </a:p>
          <a:p>
            <a:pPr>
              <a:lnSpc>
                <a:spcPct val="100000"/>
              </a:lnSpc>
            </a:pPr>
            <a:r>
              <a:rPr sz="1100">
                <a:solidFill>
                  <a:srgbClr val="E6E8EE"/>
                </a:solidFill>
                <a:latin typeface="Consolas"/>
              </a:rPr>
              <a:t>      bottomNavigationBar: BottomNavigationBar(</a:t>
            </a:r>
          </a:p>
          <a:p>
            <a:pPr>
              <a:lnSpc>
                <a:spcPct val="100000"/>
              </a:lnSpc>
            </a:pPr>
            <a:r>
              <a:rPr sz="1100">
                <a:solidFill>
                  <a:srgbClr val="E6E8EE"/>
                </a:solidFill>
                <a:latin typeface="Consolas"/>
              </a:rPr>
              <a:t>        currentIndex: _index,</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Perkara Penting BottomNavigationBar</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HomeScreen mesti StatefulWidget — indeks tab (_index) berubah bila pengguna menekan</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onTap: (i) =&gt; setState(() =&gt; _index = i) — rebuild Scaffold dengan tab baharu</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_screens[_index] menukar keseluruhan body mengikut tab semasa</a:t>
            </a:r>
          </a:p>
        </p:txBody>
      </p:sp>
      <p:sp>
        <p:nvSpPr>
          <p:cNvPr id="6" name="Rounded Rectangle 5"/>
          <p:cNvSpPr/>
          <p:nvPr/>
        </p:nvSpPr>
        <p:spPr>
          <a:xfrm>
            <a:off x="640080" y="1796796"/>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40080" y="1796796"/>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69948"/>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setState() dibedah penuh di SESI 5 (Hari 3) — hari ini cukup faham corak penggunaannya.</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Drawer — Panel Negara (Mesir/Maghribi)</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class _CountryDrawer extends StatelessWidget {</a:t>
            </a:r>
          </a:p>
          <a:p>
            <a:pPr>
              <a:lnSpc>
                <a:spcPct val="100000"/>
              </a:lnSpc>
            </a:pPr>
            <a:r>
              <a:rPr sz="1100">
                <a:solidFill>
                  <a:srgbClr val="E6E8EE"/>
                </a:solidFill>
                <a:latin typeface="Consolas"/>
              </a:rPr>
              <a:t>  const _CountryDrawer({required this.onSelect});</a:t>
            </a:r>
          </a:p>
          <a:p>
            <a:pPr>
              <a:lnSpc>
                <a:spcPct val="100000"/>
              </a:lnSpc>
            </a:pPr>
            <a:r>
              <a:rPr sz="1100">
                <a:solidFill>
                  <a:srgbClr val="E6E8EE"/>
                </a:solidFill>
                <a:latin typeface="Consolas"/>
              </a:rPr>
              <a:t>  final void Function(String?) onSelect;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static const _options = [</a:t>
            </a:r>
          </a:p>
          <a:p>
            <a:pPr>
              <a:lnSpc>
                <a:spcPct val="100000"/>
              </a:lnSpc>
            </a:pPr>
            <a:r>
              <a:rPr sz="1100">
                <a:solidFill>
                  <a:srgbClr val="E6E8EE"/>
                </a:solidFill>
                <a:latin typeface="Consolas"/>
              </a:rPr>
              <a:t>    _CountryOption(null, 'Semua Negara', '🌍'),</a:t>
            </a:r>
          </a:p>
          <a:p>
            <a:pPr>
              <a:lnSpc>
                <a:spcPct val="100000"/>
              </a:lnSpc>
            </a:pPr>
            <a:r>
              <a:rPr sz="1100">
                <a:solidFill>
                  <a:srgbClr val="E6E8EE"/>
                </a:solidFill>
                <a:latin typeface="Consolas"/>
              </a:rPr>
              <a:t>    _CountryOption('Egypt', 'Mesir', '🇪🇬'),</a:t>
            </a:r>
          </a:p>
          <a:p>
            <a:pPr>
              <a:lnSpc>
                <a:spcPct val="100000"/>
              </a:lnSpc>
            </a:pPr>
            <a:r>
              <a:rPr sz="1100">
                <a:solidFill>
                  <a:srgbClr val="E6E8EE"/>
                </a:solidFill>
                <a:latin typeface="Consolas"/>
              </a:rPr>
              <a:t>    _CountryOption('Morocco', 'Maghribi',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@override</a:t>
            </a:r>
          </a:p>
          <a:p>
            <a:pPr>
              <a:lnSpc>
                <a:spcPct val="100000"/>
              </a:lnSpc>
            </a:pPr>
            <a:r>
              <a:rPr sz="1100">
                <a:solidFill>
                  <a:srgbClr val="E6E8EE"/>
                </a:solidFill>
                <a:latin typeface="Consolas"/>
              </a:rPr>
              <a:t>  Widget build(BuildContext context) {</a:t>
            </a:r>
          </a:p>
          <a:p>
            <a:pPr>
              <a:lnSpc>
                <a:spcPct val="100000"/>
              </a:lnSpc>
            </a:pPr>
            <a:r>
              <a:rPr sz="1100">
                <a:solidFill>
                  <a:srgbClr val="E6E8EE"/>
                </a:solidFill>
                <a:latin typeface="Consolas"/>
              </a:rPr>
              <a:t>    return Drawer(</a:t>
            </a:r>
          </a:p>
          <a:p>
            <a:pPr>
              <a:lnSpc>
                <a:spcPct val="100000"/>
              </a:lnSpc>
            </a:pPr>
            <a:r>
              <a:rPr sz="1100">
                <a:solidFill>
                  <a:srgbClr val="E6E8EE"/>
                </a:solidFill>
                <a:latin typeface="Consolas"/>
              </a:rPr>
              <a:t>      child: ListView(</a:t>
            </a:r>
          </a:p>
          <a:p>
            <a:pPr>
              <a:lnSpc>
                <a:spcPct val="100000"/>
              </a:lnSpc>
            </a:pPr>
            <a:r>
              <a:rPr sz="1100">
                <a:solidFill>
                  <a:srgbClr val="E6E8EE"/>
                </a:solidFill>
                <a:latin typeface="Consolas"/>
              </a:rPr>
              <a:t>        padding: EdgeInsets.zero,</a:t>
            </a:r>
          </a:p>
          <a:p>
            <a:pPr>
              <a:lnSpc>
                <a:spcPct val="100000"/>
              </a:lnSpc>
            </a:pPr>
            <a:r>
              <a:rPr sz="1100">
                <a:solidFill>
                  <a:srgbClr val="E6E8EE"/>
                </a:solidFill>
                <a:latin typeface="Consolas"/>
              </a:rPr>
              <a:t>        children: [</a:t>
            </a:r>
          </a:p>
          <a:p>
            <a:pPr>
              <a:lnSpc>
                <a:spcPct val="100000"/>
              </a:lnSpc>
            </a:pPr>
            <a:r>
              <a:rPr sz="1100">
                <a:solidFill>
                  <a:srgbClr val="E6E8EE"/>
                </a:solidFill>
                <a:latin typeface="Consolas"/>
              </a:rPr>
              <a:t>          const DrawerHeader(</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ListView vs ListView.builder</a:t>
            </a:r>
          </a:p>
        </p:txBody>
      </p:sp>
      <p:sp>
        <p:nvSpPr>
          <p:cNvPr id="3" name="TextBox 2"/>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ListView</a:t>
            </a:r>
          </a:p>
        </p:txBody>
      </p:sp>
      <p:sp>
        <p:nvSpPr>
          <p:cNvPr id="4" name="Rounded Rectangle 3"/>
          <p:cNvSpPr/>
          <p:nvPr/>
        </p:nvSpPr>
        <p:spPr>
          <a:xfrm>
            <a:off x="640080" y="1435608"/>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527048"/>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ListView(</a:t>
            </a:r>
          </a:p>
          <a:p>
            <a:pPr>
              <a:lnSpc>
                <a:spcPct val="100000"/>
              </a:lnSpc>
            </a:pPr>
            <a:r>
              <a:rPr sz="1100">
                <a:solidFill>
                  <a:srgbClr val="E6E8EE"/>
                </a:solidFill>
                <a:latin typeface="Consolas"/>
              </a:rPr>
              <a:t>  children: const [</a:t>
            </a:r>
          </a:p>
          <a:p>
            <a:pPr>
              <a:lnSpc>
                <a:spcPct val="100000"/>
              </a:lnSpc>
            </a:pPr>
            <a:r>
              <a:rPr sz="1100">
                <a:solidFill>
                  <a:srgbClr val="E6E8EE"/>
                </a:solidFill>
                <a:latin typeface="Consolas"/>
              </a:rPr>
              <a:t>    Text('Universiti Al-Azhar'),</a:t>
            </a:r>
          </a:p>
          <a:p>
            <a:pPr>
              <a:lnSpc>
                <a:spcPct val="100000"/>
              </a:lnSpc>
            </a:pPr>
            <a:r>
              <a:rPr sz="1100">
                <a:solidFill>
                  <a:srgbClr val="E6E8EE"/>
                </a:solidFill>
                <a:latin typeface="Consolas"/>
              </a:rPr>
              <a:t>    Text('Universiti Alexandria'),</a:t>
            </a:r>
          </a:p>
          <a:p>
            <a:pPr>
              <a:lnSpc>
                <a:spcPct val="100000"/>
              </a:lnSpc>
            </a:pPr>
            <a:r>
              <a:rPr sz="1100">
                <a:solidFill>
                  <a:srgbClr val="E6E8EE"/>
                </a:solidFill>
                <a:latin typeface="Consolas"/>
              </a:rPr>
              <a:t>    Text('Universite Al Quaraouiyine'),</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6" name="TextBox 5"/>
          <p:cNvSpPr txBox="1"/>
          <p:nvPr/>
        </p:nvSpPr>
        <p:spPr>
          <a:xfrm>
            <a:off x="640080" y="3433572"/>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Bina semua anak serentak — untuk senarai pendek &amp; tetap.</a:t>
            </a:r>
          </a:p>
        </p:txBody>
      </p:sp>
      <p:sp>
        <p:nvSpPr>
          <p:cNvPr id="7" name="TextBox 6"/>
          <p:cNvSpPr txBox="1"/>
          <p:nvPr/>
        </p:nvSpPr>
        <p:spPr>
          <a:xfrm>
            <a:off x="640080" y="3753612"/>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ListView.builder</a:t>
            </a:r>
          </a:p>
        </p:txBody>
      </p:sp>
      <p:sp>
        <p:nvSpPr>
          <p:cNvPr id="8" name="Rounded Rectangle 7"/>
          <p:cNvSpPr/>
          <p:nvPr/>
        </p:nvSpPr>
        <p:spPr>
          <a:xfrm>
            <a:off x="640080" y="4137660"/>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4229100"/>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ListView.builder(</a:t>
            </a:r>
          </a:p>
          <a:p>
            <a:pPr>
              <a:lnSpc>
                <a:spcPct val="100000"/>
              </a:lnSpc>
            </a:pPr>
            <a:r>
              <a:rPr sz="1100">
                <a:solidFill>
                  <a:srgbClr val="E6E8EE"/>
                </a:solidFill>
                <a:latin typeface="Consolas"/>
              </a:rPr>
              <a:t>  itemCount: sampleProgrammes.length,</a:t>
            </a:r>
          </a:p>
          <a:p>
            <a:pPr>
              <a:lnSpc>
                <a:spcPct val="100000"/>
              </a:lnSpc>
            </a:pPr>
            <a:r>
              <a:rPr sz="1100">
                <a:solidFill>
                  <a:srgbClr val="E6E8EE"/>
                </a:solidFill>
                <a:latin typeface="Consolas"/>
              </a:rPr>
              <a:t>  itemBuilder: (context, index) {</a:t>
            </a:r>
          </a:p>
          <a:p>
            <a:pPr>
              <a:lnSpc>
                <a:spcPct val="100000"/>
              </a:lnSpc>
            </a:pPr>
            <a:r>
              <a:rPr sz="1100">
                <a:solidFill>
                  <a:srgbClr val="E6E8EE"/>
                </a:solidFill>
                <a:latin typeface="Consolas"/>
              </a:rPr>
              <a:t>    final p = sampleProgrammes[index];</a:t>
            </a:r>
          </a:p>
          <a:p>
            <a:pPr>
              <a:lnSpc>
                <a:spcPct val="100000"/>
              </a:lnSpc>
            </a:pPr>
            <a:r>
              <a:rPr sz="1100">
                <a:solidFill>
                  <a:srgbClr val="E6E8EE"/>
                </a:solidFill>
                <a:latin typeface="Consolas"/>
              </a:rPr>
              <a:t>    return ProgrammeCard(programme: p);</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10" name="TextBox 9"/>
          <p:cNvSpPr txBox="1"/>
          <p:nvPr/>
        </p:nvSpPr>
        <p:spPr>
          <a:xfrm>
            <a:off x="640080" y="6135624"/>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Bina "malas" (lazy) — hanya item hampir kelihatan.</a:t>
            </a:r>
          </a:p>
        </p:txBody>
      </p:sp>
      <p:sp>
        <p:nvSpPr>
          <p:cNvPr id="11" name="TextBox 10"/>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Kod Sebenar: ProgrammeListScreen</a:t>
            </a:r>
          </a:p>
        </p:txBody>
      </p:sp>
      <p:sp>
        <p:nvSpPr>
          <p:cNvPr id="3" name="Rounded Rectangle 2"/>
          <p:cNvSpPr/>
          <p:nvPr/>
        </p:nvSpPr>
        <p:spPr>
          <a:xfrm>
            <a:off x="640080" y="1051560"/>
            <a:ext cx="10911535" cy="263804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45516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ListView.builder(</a:t>
            </a:r>
          </a:p>
          <a:p>
            <a:pPr>
              <a:lnSpc>
                <a:spcPct val="100000"/>
              </a:lnSpc>
            </a:pPr>
            <a:r>
              <a:rPr sz="1100">
                <a:solidFill>
                  <a:srgbClr val="E6E8EE"/>
                </a:solidFill>
                <a:latin typeface="Consolas"/>
              </a:rPr>
              <a:t>  padding: const EdgeInsets.only(bottom: 16),</a:t>
            </a:r>
          </a:p>
          <a:p>
            <a:pPr>
              <a:lnSpc>
                <a:spcPct val="100000"/>
              </a:lnSpc>
            </a:pPr>
            <a:r>
              <a:rPr sz="1100">
                <a:solidFill>
                  <a:srgbClr val="E6E8EE"/>
                </a:solidFill>
                <a:latin typeface="Consolas"/>
              </a:rPr>
              <a:t>  itemCount: items.length,</a:t>
            </a:r>
          </a:p>
          <a:p>
            <a:pPr>
              <a:lnSpc>
                <a:spcPct val="100000"/>
              </a:lnSpc>
            </a:pPr>
            <a:r>
              <a:rPr sz="1100">
                <a:solidFill>
                  <a:srgbClr val="E6E8EE"/>
                </a:solidFill>
                <a:latin typeface="Consolas"/>
              </a:rPr>
              <a:t>  itemBuilder: (context, index) {</a:t>
            </a:r>
          </a:p>
          <a:p>
            <a:pPr>
              <a:lnSpc>
                <a:spcPct val="100000"/>
              </a:lnSpc>
            </a:pPr>
            <a:r>
              <a:rPr sz="1100">
                <a:solidFill>
                  <a:srgbClr val="E6E8EE"/>
                </a:solidFill>
                <a:latin typeface="Consolas"/>
              </a:rPr>
              <a:t>    final p = items[index];</a:t>
            </a:r>
          </a:p>
          <a:p>
            <a:pPr>
              <a:lnSpc>
                <a:spcPct val="100000"/>
              </a:lnSpc>
            </a:pPr>
            <a:r>
              <a:rPr sz="1100">
                <a:solidFill>
                  <a:srgbClr val="E6E8EE"/>
                </a:solidFill>
                <a:latin typeface="Consolas"/>
              </a:rPr>
              <a:t>    return ProgrammeCard(</a:t>
            </a:r>
          </a:p>
          <a:p>
            <a:pPr>
              <a:lnSpc>
                <a:spcPct val="100000"/>
              </a:lnSpc>
            </a:pPr>
            <a:r>
              <a:rPr sz="1100">
                <a:solidFill>
                  <a:srgbClr val="E6E8EE"/>
                </a:solidFill>
                <a:latin typeface="Consolas"/>
              </a:rPr>
              <a:t>      programme: p,</a:t>
            </a:r>
          </a:p>
          <a:p>
            <a:pPr>
              <a:lnSpc>
                <a:spcPct val="100000"/>
              </a:lnSpc>
            </a:pPr>
            <a:r>
              <a:rPr sz="1100">
                <a:solidFill>
                  <a:srgbClr val="E6E8EE"/>
                </a:solidFill>
                <a:latin typeface="Consolas"/>
              </a:rPr>
              <a:t>      onTap: () { /* Hari 3: Navigator.push ke detail */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379933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itemCount — bilangan item; Flutter tahu bila skrol tamat</a:t>
            </a:r>
          </a:p>
        </p:txBody>
      </p:sp>
      <p:sp>
        <p:nvSpPr>
          <p:cNvPr id="6" name="TextBox 5"/>
          <p:cNvSpPr txBox="1"/>
          <p:nvPr/>
        </p:nvSpPr>
        <p:spPr>
          <a:xfrm>
            <a:off x="804671" y="40233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itemBuilder — (context, index) =&gt; Widget, dipanggil per item hampir kelihatan</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GridView — 8 Program Sebagai Grid</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GridView.builder(</a:t>
            </a:r>
          </a:p>
          <a:p>
            <a:pPr>
              <a:lnSpc>
                <a:spcPct val="100000"/>
              </a:lnSpc>
            </a:pPr>
            <a:r>
              <a:rPr sz="1100">
                <a:solidFill>
                  <a:srgbClr val="E6E8EE"/>
                </a:solidFill>
                <a:latin typeface="Consolas"/>
              </a:rPr>
              <a:t>  padding: const EdgeInsets.all(12),</a:t>
            </a:r>
          </a:p>
          <a:p>
            <a:pPr>
              <a:lnSpc>
                <a:spcPct val="100000"/>
              </a:lnSpc>
            </a:pPr>
            <a:r>
              <a:rPr sz="1100">
                <a:solidFill>
                  <a:srgbClr val="E6E8EE"/>
                </a:solidFill>
                <a:latin typeface="Consolas"/>
              </a:rPr>
              <a:t>  gridDelegate: const SliverGridDelegateWithFixedCrossAxisCount(</a:t>
            </a:r>
          </a:p>
          <a:p>
            <a:pPr>
              <a:lnSpc>
                <a:spcPct val="100000"/>
              </a:lnSpc>
            </a:pPr>
            <a:r>
              <a:rPr sz="1100">
                <a:solidFill>
                  <a:srgbClr val="E6E8EE"/>
                </a:solidFill>
                <a:latin typeface="Consolas"/>
              </a:rPr>
              <a:t>    crossAxisCount: 2,       // 2 lajur</a:t>
            </a:r>
          </a:p>
          <a:p>
            <a:pPr>
              <a:lnSpc>
                <a:spcPct val="100000"/>
              </a:lnSpc>
            </a:pPr>
            <a:r>
              <a:rPr sz="1100">
                <a:solidFill>
                  <a:srgbClr val="E6E8EE"/>
                </a:solidFill>
                <a:latin typeface="Consolas"/>
              </a:rPr>
              <a:t>    mainAxisSpacing: 10,</a:t>
            </a:r>
          </a:p>
          <a:p>
            <a:pPr>
              <a:lnSpc>
                <a:spcPct val="100000"/>
              </a:lnSpc>
            </a:pPr>
            <a:r>
              <a:rPr sz="1100">
                <a:solidFill>
                  <a:srgbClr val="E6E8EE"/>
                </a:solidFill>
                <a:latin typeface="Consolas"/>
              </a:rPr>
              <a:t>    crossAxisSpacing: 10,</a:t>
            </a:r>
          </a:p>
          <a:p>
            <a:pPr>
              <a:lnSpc>
                <a:spcPct val="100000"/>
              </a:lnSpc>
            </a:pPr>
            <a:r>
              <a:rPr sz="1100">
                <a:solidFill>
                  <a:srgbClr val="E6E8EE"/>
                </a:solidFill>
                <a:latin typeface="Consolas"/>
              </a:rPr>
              <a:t>    childAspectRatio: 0.95,</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itemCount: sampleProgrammes.length,</a:t>
            </a:r>
          </a:p>
          <a:p>
            <a:pPr>
              <a:lnSpc>
                <a:spcPct val="100000"/>
              </a:lnSpc>
            </a:pPr>
            <a:r>
              <a:rPr sz="1100">
                <a:solidFill>
                  <a:srgbClr val="E6E8EE"/>
                </a:solidFill>
                <a:latin typeface="Consolas"/>
              </a:rPr>
              <a:t>  itemBuilder: (context, index) {</a:t>
            </a:r>
          </a:p>
          <a:p>
            <a:pPr>
              <a:lnSpc>
                <a:spcPct val="100000"/>
              </a:lnSpc>
            </a:pPr>
            <a:r>
              <a:rPr sz="1100">
                <a:solidFill>
                  <a:srgbClr val="E6E8EE"/>
                </a:solidFill>
                <a:latin typeface="Consolas"/>
              </a:rPr>
              <a:t>    final p = sampleProgrammes[index];</a:t>
            </a:r>
          </a:p>
          <a:p>
            <a:pPr>
              <a:lnSpc>
                <a:spcPct val="100000"/>
              </a:lnSpc>
            </a:pPr>
            <a:r>
              <a:rPr sz="1100">
                <a:solidFill>
                  <a:srgbClr val="E6E8EE"/>
                </a:solidFill>
                <a:latin typeface="Consolas"/>
              </a:rPr>
              <a:t>    return Card(</a:t>
            </a:r>
          </a:p>
          <a:p>
            <a:pPr>
              <a:lnSpc>
                <a:spcPct val="100000"/>
              </a:lnSpc>
            </a:pPr>
            <a:r>
              <a:rPr sz="1100">
                <a:solidFill>
                  <a:srgbClr val="E6E8EE"/>
                </a:solidFill>
                <a:latin typeface="Consolas"/>
              </a:rPr>
              <a:t>      child: Padding(</a:t>
            </a:r>
          </a:p>
          <a:p>
            <a:pPr>
              <a:lnSpc>
                <a:spcPct val="100000"/>
              </a:lnSpc>
            </a:pPr>
            <a:r>
              <a:rPr sz="1100">
                <a:solidFill>
                  <a:srgbClr val="E6E8EE"/>
                </a:solidFill>
                <a:latin typeface="Consolas"/>
              </a:rPr>
              <a:t>        padding: const EdgeInsets.all(12),</a:t>
            </a:r>
          </a:p>
          <a:p>
            <a:pPr>
              <a:lnSpc>
                <a:spcPct val="100000"/>
              </a:lnSpc>
            </a:pPr>
            <a:r>
              <a:rPr sz="1100">
                <a:solidFill>
                  <a:srgbClr val="E6E8EE"/>
                </a:solidFill>
                <a:latin typeface="Consolas"/>
              </a:rPr>
              <a:t>        child: Column(</a:t>
            </a:r>
          </a:p>
          <a:p>
            <a:pPr>
              <a:lnSpc>
                <a:spcPct val="100000"/>
              </a:lnSpc>
            </a:pPr>
            <a:r>
              <a:rPr sz="1100">
                <a:solidFill>
                  <a:srgbClr val="E6E8EE"/>
                </a:solidFill>
                <a:latin typeface="Consolas"/>
              </a:rPr>
              <a:t>          crossAxisAlignment: CrossAxisAlignment.start,</a:t>
            </a:r>
          </a:p>
          <a:p>
            <a:pPr>
              <a:lnSpc>
                <a:spcPct val="100000"/>
              </a:lnSpc>
            </a:pPr>
            <a:r>
              <a:rPr sz="1100">
                <a:solidFill>
                  <a:srgbClr val="E6E8EE"/>
                </a:solidFill>
                <a:latin typeface="Consolas"/>
              </a:rPr>
              <a:t>          children: [</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Card &amp; ListTile</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Card — bekas Material: bayang (elevation) + sudut bulat lalai</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ListTile — baris siap pakai: leading · title · subtitle · trailing · onTap</a:t>
            </a:r>
          </a:p>
        </p:txBody>
      </p:sp>
      <p:sp>
        <p:nvSpPr>
          <p:cNvPr id="5" name="TextBox 4"/>
          <p:cNvSpPr txBox="1"/>
          <p:nvPr/>
        </p:nvSpPr>
        <p:spPr>
          <a:xfrm>
            <a:off x="640080" y="1572768"/>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Gaya Card projek datang dari KptTheme (cardTheme) — bukan diulang di setiap fail.</a:t>
            </a:r>
          </a:p>
        </p:txBody>
      </p:sp>
      <p:sp>
        <p:nvSpPr>
          <p:cNvPr id="6" name="Rounded Rectangle 5"/>
          <p:cNvSpPr/>
          <p:nvPr/>
        </p:nvSpPr>
        <p:spPr>
          <a:xfrm>
            <a:off x="640080" y="1892808"/>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1984248"/>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ListTile(</a:t>
            </a:r>
          </a:p>
          <a:p>
            <a:pPr>
              <a:lnSpc>
                <a:spcPct val="100000"/>
              </a:lnSpc>
            </a:pPr>
            <a:r>
              <a:rPr sz="1100">
                <a:solidFill>
                  <a:srgbClr val="E6E8EE"/>
                </a:solidFill>
                <a:latin typeface="Consolas"/>
              </a:rPr>
              <a:t>  leading: const Icon(Icons.school_outlined),</a:t>
            </a:r>
          </a:p>
          <a:p>
            <a:pPr>
              <a:lnSpc>
                <a:spcPct val="100000"/>
              </a:lnSpc>
            </a:pPr>
            <a:r>
              <a:rPr sz="1100">
                <a:solidFill>
                  <a:srgbClr val="E6E8EE"/>
                </a:solidFill>
                <a:latin typeface="Consolas"/>
              </a:rPr>
              <a:t>  title: const Text('Universiti Al-Azhar'),</a:t>
            </a:r>
          </a:p>
          <a:p>
            <a:pPr>
              <a:lnSpc>
                <a:spcPct val="100000"/>
              </a:lnSpc>
            </a:pPr>
            <a:r>
              <a:rPr sz="1100">
                <a:solidFill>
                  <a:srgbClr val="E6E8EE"/>
                </a:solidFill>
                <a:latin typeface="Consolas"/>
              </a:rPr>
              <a:t>  subtitle: const Text('Kaherah (Cairo), Mesir'),</a:t>
            </a:r>
          </a:p>
          <a:p>
            <a:pPr>
              <a:lnSpc>
                <a:spcPct val="100000"/>
              </a:lnSpc>
            </a:pPr>
            <a:r>
              <a:rPr sz="1100">
                <a:solidFill>
                  <a:srgbClr val="E6E8EE"/>
                </a:solidFill>
                <a:latin typeface="Consolas"/>
              </a:rPr>
              <a:t>  trailing: const Icon(Icons.chevron_right),</a:t>
            </a:r>
          </a:p>
          <a:p>
            <a:pPr>
              <a:lnSpc>
                <a:spcPct val="100000"/>
              </a:lnSpc>
            </a:pPr>
            <a:r>
              <a:rPr sz="1100">
                <a:solidFill>
                  <a:srgbClr val="E6E8EE"/>
                </a:solidFill>
                <a:latin typeface="Consolas"/>
              </a:rPr>
              <a:t>  onTap: ()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Gabungan: Card + ListTile</a:t>
            </a:r>
          </a:p>
        </p:txBody>
      </p:sp>
      <p:sp>
        <p:nvSpPr>
          <p:cNvPr id="3" name="Rounded Rectangle 2"/>
          <p:cNvSpPr/>
          <p:nvPr/>
        </p:nvSpPr>
        <p:spPr>
          <a:xfrm>
            <a:off x="640080" y="1051560"/>
            <a:ext cx="10911535" cy="245059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267712"/>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Card(</a:t>
            </a:r>
          </a:p>
          <a:p>
            <a:pPr>
              <a:lnSpc>
                <a:spcPct val="100000"/>
              </a:lnSpc>
            </a:pPr>
            <a:r>
              <a:rPr sz="1100">
                <a:solidFill>
                  <a:srgbClr val="E6E8EE"/>
                </a:solidFill>
                <a:latin typeface="Consolas"/>
              </a:rPr>
              <a:t>  margin: const EdgeInsets.symmetric(horizontal: 16, vertical: 6),</a:t>
            </a:r>
          </a:p>
          <a:p>
            <a:pPr>
              <a:lnSpc>
                <a:spcPct val="100000"/>
              </a:lnSpc>
            </a:pPr>
            <a:r>
              <a:rPr sz="1100">
                <a:solidFill>
                  <a:srgbClr val="E6E8EE"/>
                </a:solidFill>
                <a:latin typeface="Consolas"/>
              </a:rPr>
              <a:t>  child: ListTile(</a:t>
            </a:r>
          </a:p>
          <a:p>
            <a:pPr>
              <a:lnSpc>
                <a:spcPct val="100000"/>
              </a:lnSpc>
            </a:pPr>
            <a:r>
              <a:rPr sz="1100">
                <a:solidFill>
                  <a:srgbClr val="E6E8EE"/>
                </a:solidFill>
                <a:latin typeface="Consolas"/>
              </a:rPr>
              <a:t>    leading: const Icon(Icons.school_outlined, color: KptTheme.navy),</a:t>
            </a:r>
          </a:p>
          <a:p>
            <a:pPr>
              <a:lnSpc>
                <a:spcPct val="100000"/>
              </a:lnSpc>
            </a:pPr>
            <a:r>
              <a:rPr sz="1100">
                <a:solidFill>
                  <a:srgbClr val="E6E8EE"/>
                </a:solidFill>
                <a:latin typeface="Consolas"/>
              </a:rPr>
              <a:t>    title: Text(programme.universityName),</a:t>
            </a:r>
          </a:p>
          <a:p>
            <a:pPr>
              <a:lnSpc>
                <a:spcPct val="100000"/>
              </a:lnSpc>
            </a:pPr>
            <a:r>
              <a:rPr sz="1100">
                <a:solidFill>
                  <a:srgbClr val="E6E8EE"/>
                </a:solidFill>
                <a:latin typeface="Consolas"/>
              </a:rPr>
              <a:t>    subtitle: Text(</a:t>
            </a:r>
          </a:p>
          <a:p>
            <a:pPr>
              <a:lnSpc>
                <a:spcPct val="100000"/>
              </a:lnSpc>
            </a:pPr>
            <a:r>
              <a:rPr sz="1100">
                <a:solidFill>
                  <a:srgbClr val="E6E8EE"/>
                </a:solidFill>
                <a:latin typeface="Consolas"/>
              </a:rPr>
              <a:t>        '${programme.fieldOfStudy} · ${programme.intakeMonth}'),</a:t>
            </a:r>
          </a:p>
          <a:p>
            <a:pPr>
              <a:lnSpc>
                <a:spcPct val="100000"/>
              </a:lnSpc>
            </a:pPr>
            <a:r>
              <a:rPr sz="1100">
                <a:solidFill>
                  <a:srgbClr val="E6E8EE"/>
                </a:solidFill>
                <a:latin typeface="Consolas"/>
              </a:rPr>
              <a:t>    trailing: Text('${programme.quotaSeats} tempat'),</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361188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Alternatif ringkas berbanding ProgrammeCard tersuai penuh — guna bila tak perlukan susun atur istimewa</a:t>
            </a:r>
          </a:p>
        </p:txBody>
      </p:sp>
      <p:sp>
        <p:nvSpPr>
          <p:cNvPr id="6" name="Rounded Rectangle 5"/>
          <p:cNvSpPr/>
          <p:nvPr/>
        </p:nvSpPr>
        <p:spPr>
          <a:xfrm>
            <a:off x="640080" y="3909060"/>
            <a:ext cx="10911535" cy="896112"/>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40080" y="3909060"/>
            <a:ext cx="54864" cy="896112"/>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982212"/>
            <a:ext cx="10600639" cy="749808"/>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Perlu banyak variasi baris macam ni? Pantas untuk minta AI jana terus — "Jana StatelessWidget ProgrammeIntakeTile — Card + ListTile, leading ikon sekolah warna KptTheme.navy, title universityName, subtitle 'fieldOfStudy · intakeMonth', trailing quotaSeats". Semak macam biasa: const, rujukan KptTheme, dan flutter analyze bersih.</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TextStyle — Gaya Untuk Satu Text</a:t>
            </a:r>
          </a:p>
        </p:txBody>
      </p:sp>
      <p:sp>
        <p:nvSpPr>
          <p:cNvPr id="3" name="Rounded Rectangle 2"/>
          <p:cNvSpPr/>
          <p:nvPr/>
        </p:nvSpPr>
        <p:spPr>
          <a:xfrm>
            <a:off x="640080" y="1051560"/>
            <a:ext cx="10911535" cy="226314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080260"/>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Text(</a:t>
            </a:r>
          </a:p>
          <a:p>
            <a:pPr>
              <a:lnSpc>
                <a:spcPct val="100000"/>
              </a:lnSpc>
            </a:pPr>
            <a:r>
              <a:rPr sz="1100">
                <a:solidFill>
                  <a:srgbClr val="E6E8EE"/>
                </a:solidFill>
                <a:latin typeface="Consolas"/>
              </a:rPr>
              <a:t>  'Universiti Al-Azhar',</a:t>
            </a:r>
          </a:p>
          <a:p>
            <a:pPr>
              <a:lnSpc>
                <a:spcPct val="100000"/>
              </a:lnSpc>
            </a:pPr>
            <a:r>
              <a:rPr sz="1100">
                <a:solidFill>
                  <a:srgbClr val="E6E8EE"/>
                </a:solidFill>
                <a:latin typeface="Consolas"/>
              </a:rPr>
              <a:t>  style: TextStyle(</a:t>
            </a:r>
          </a:p>
          <a:p>
            <a:pPr>
              <a:lnSpc>
                <a:spcPct val="100000"/>
              </a:lnSpc>
            </a:pPr>
            <a:r>
              <a:rPr sz="1100">
                <a:solidFill>
                  <a:srgbClr val="E6E8EE"/>
                </a:solidFill>
                <a:latin typeface="Consolas"/>
              </a:rPr>
              <a:t>    fontSize: 16,</a:t>
            </a:r>
          </a:p>
          <a:p>
            <a:pPr>
              <a:lnSpc>
                <a:spcPct val="100000"/>
              </a:lnSpc>
            </a:pPr>
            <a:r>
              <a:rPr sz="1100">
                <a:solidFill>
                  <a:srgbClr val="E6E8EE"/>
                </a:solidFill>
                <a:latin typeface="Consolas"/>
              </a:rPr>
              <a:t>    fontWeight: FontWeight.bold,</a:t>
            </a:r>
          </a:p>
          <a:p>
            <a:pPr>
              <a:lnSpc>
                <a:spcPct val="100000"/>
              </a:lnSpc>
            </a:pPr>
            <a:r>
              <a:rPr sz="1100">
                <a:solidFill>
                  <a:srgbClr val="E6E8EE"/>
                </a:solidFill>
                <a:latin typeface="Consolas"/>
              </a:rPr>
              <a:t>    color: KptTheme.navy,</a:t>
            </a:r>
          </a:p>
          <a:p>
            <a:pPr>
              <a:lnSpc>
                <a:spcPct val="100000"/>
              </a:lnSpc>
            </a:pPr>
            <a:r>
              <a:rPr sz="1100">
                <a:solidFill>
                  <a:srgbClr val="E6E8EE"/>
                </a:solidFill>
                <a:latin typeface="Consolas"/>
              </a:rPr>
              <a:t>    letterSpacing: 0.2,</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p:txBody>
      </p:sp>
      <p:sp>
        <p:nvSpPr>
          <p:cNvPr id="5" name="TextBox 4"/>
          <p:cNvSpPr txBox="1"/>
          <p:nvPr/>
        </p:nvSpPr>
        <p:spPr>
          <a:xfrm>
            <a:off x="804671" y="342442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Sesuai untuk gaya sekali guna (sebaris/inline)</a:t>
            </a:r>
          </a:p>
        </p:txBody>
      </p:sp>
      <p:sp>
        <p:nvSpPr>
          <p:cNvPr id="6" name="TextBox 5"/>
          <p:cNvSpPr txBox="1"/>
          <p:nvPr/>
        </p:nvSpPr>
        <p:spPr>
          <a:xfrm>
            <a:off x="804671" y="364845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Masalah: gaya sama diulang di banyak fail → jenama tukar warna = cari-ganti puluhan tempat</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ThemeData — Kod Sebenar KptTheme</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class KptTheme {</a:t>
            </a:r>
          </a:p>
          <a:p>
            <a:pPr>
              <a:lnSpc>
                <a:spcPct val="100000"/>
              </a:lnSpc>
            </a:pPr>
            <a:r>
              <a:rPr sz="1100">
                <a:solidFill>
                  <a:srgbClr val="E6E8EE"/>
                </a:solidFill>
                <a:latin typeface="Consolas"/>
              </a:rPr>
              <a:t>  KptTheme._();</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static const Color navy = Color(0xFF1A2B5C);</a:t>
            </a:r>
          </a:p>
          <a:p>
            <a:pPr>
              <a:lnSpc>
                <a:spcPct val="100000"/>
              </a:lnSpc>
            </a:pPr>
            <a:r>
              <a:rPr sz="1100">
                <a:solidFill>
                  <a:srgbClr val="E6E8EE"/>
                </a:solidFill>
                <a:latin typeface="Consolas"/>
              </a:rPr>
              <a:t>  static const Color gold = Color(0xFFD4A017);</a:t>
            </a:r>
          </a:p>
          <a:p>
            <a:pPr>
              <a:lnSpc>
                <a:spcPct val="100000"/>
              </a:lnSpc>
            </a:pPr>
            <a:r>
              <a:rPr sz="1100">
                <a:solidFill>
                  <a:srgbClr val="E6E8EE"/>
                </a:solidFill>
                <a:latin typeface="Consolas"/>
              </a:rPr>
              <a:t>  static const Color bgLight = Color(0xFFF5F6FA);</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static ThemeData get light {</a:t>
            </a:r>
          </a:p>
          <a:p>
            <a:pPr>
              <a:lnSpc>
                <a:spcPct val="100000"/>
              </a:lnSpc>
            </a:pPr>
            <a:r>
              <a:rPr sz="1100">
                <a:solidFill>
                  <a:srgbClr val="E6E8EE"/>
                </a:solidFill>
                <a:latin typeface="Consolas"/>
              </a:rPr>
              <a:t>    final scheme = ColorScheme.fromSeed(</a:t>
            </a:r>
          </a:p>
          <a:p>
            <a:pPr>
              <a:lnSpc>
                <a:spcPct val="100000"/>
              </a:lnSpc>
            </a:pPr>
            <a:r>
              <a:rPr sz="1100">
                <a:solidFill>
                  <a:srgbClr val="E6E8EE"/>
                </a:solidFill>
                <a:latin typeface="Consolas"/>
              </a:rPr>
              <a:t>      seedColor: navy,</a:t>
            </a:r>
          </a:p>
          <a:p>
            <a:pPr>
              <a:lnSpc>
                <a:spcPct val="100000"/>
              </a:lnSpc>
            </a:pPr>
            <a:r>
              <a:rPr sz="1100">
                <a:solidFill>
                  <a:srgbClr val="E6E8EE"/>
                </a:solidFill>
                <a:latin typeface="Consolas"/>
              </a:rPr>
              <a:t>      primary: navy,</a:t>
            </a:r>
          </a:p>
          <a:p>
            <a:pPr>
              <a:lnSpc>
                <a:spcPct val="100000"/>
              </a:lnSpc>
            </a:pPr>
            <a:r>
              <a:rPr sz="1100">
                <a:solidFill>
                  <a:srgbClr val="E6E8EE"/>
                </a:solidFill>
                <a:latin typeface="Consolas"/>
              </a:rPr>
              <a:t>      secondary: gold,</a:t>
            </a:r>
          </a:p>
          <a:p>
            <a:pPr>
              <a:lnSpc>
                <a:spcPct val="100000"/>
              </a:lnSpc>
            </a:pPr>
            <a:r>
              <a:rPr sz="1100">
                <a:solidFill>
                  <a:srgbClr val="E6E8EE"/>
                </a:solidFill>
                <a:latin typeface="Consolas"/>
              </a:rPr>
              <a:t>      brightness: Brightness.light,</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return ThemeData(</a:t>
            </a:r>
          </a:p>
          <a:p>
            <a:pPr>
              <a:lnSpc>
                <a:spcPct val="100000"/>
              </a:lnSpc>
            </a:pPr>
            <a:r>
              <a:rPr sz="1100">
                <a:solidFill>
                  <a:srgbClr val="E6E8EE"/>
                </a:solidFill>
                <a:latin typeface="Consolas"/>
              </a:rPr>
              <a:t>      useMaterial3: true,</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ThemeData — Perkara Penting</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Didaftar sekali: MaterialApp(title: 'eTT Mobile — Latihan', theme: KptTheme.light, ...)</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appBarTheme/cardTheme/filledButtonTheme/inputDecorationTheme — gaya lalai semua widget jenis itu</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Akses tema semasa: Theme.of(context).textTheme.titleMedium</a:t>
            </a:r>
          </a:p>
        </p:txBody>
      </p:sp>
      <p:sp>
        <p:nvSpPr>
          <p:cNvPr id="6" name="TextBox 5"/>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Font lalai sistem memadai; fon tersuai boleh guna fontFamily / pakej google_fonts (tidak digunakan projek ini)</a:t>
            </a:r>
          </a:p>
        </p:txBody>
      </p:sp>
      <p:sp>
        <p:nvSpPr>
          <p:cNvPr id="7" name="TextBox 6"/>
          <p:cNvSpPr txBox="1"/>
          <p:nvPr/>
        </p:nvSpPr>
        <p:spPr>
          <a:xfrm>
            <a:off x="640080" y="2020824"/>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Navy #1A2B5C + gold #D4A017 ialah pilihan reka bentuk bahan kursus — eTT/KPT tidak menerbitkan palet warna korporat rasmi.</a:t>
            </a:r>
          </a:p>
        </p:txBody>
      </p:sp>
      <p:sp>
        <p:nvSpPr>
          <p:cNvPr id="8" name="Rounded Rectangle 7"/>
          <p:cNvSpPr/>
          <p:nvPr/>
        </p:nvSpPr>
        <p:spPr>
          <a:xfrm>
            <a:off x="640080" y="2340864"/>
            <a:ext cx="10911535" cy="658368"/>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2340864"/>
            <a:ext cx="54864" cy="658368"/>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14016"/>
            <a:ext cx="10600639" cy="512063"/>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Kalau ColorScheme.fromSeed rasa padat, minta AI huraikan — atau, kalau nak cuba idea tema gelap, minta ia jana draf static ThemeData get dark berdasarkan struktur light di atas. Baca hasilnya baris demi baris dan jalankan flutter analyze sebelum letak dalam projek.</a:t>
            </a:r>
          </a:p>
        </p:txBody>
      </p:sp>
      <p:sp>
        <p:nvSpPr>
          <p:cNvPr id="11" name="TextBox 10"/>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Ringkasan Hari 2 &amp; Cabaran</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Row/Column + 2 paksi · nesting</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Expanded/Flexible — selesai overflow</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Stack/Positioned — ProgrammeBanner &amp; kad hero</a:t>
            </a:r>
          </a:p>
        </p:txBody>
      </p:sp>
      <p:sp>
        <p:nvSpPr>
          <p:cNvPr id="6" name="TextBox 5"/>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Scaffold/AppBar bertema navy</a:t>
            </a:r>
          </a:p>
        </p:txBody>
      </p:sp>
      <p:sp>
        <p:nvSpPr>
          <p:cNvPr id="7" name="TextBox 6"/>
          <p:cNvSpPr txBox="1"/>
          <p:nvPr/>
        </p:nvSpPr>
        <p:spPr>
          <a:xfrm>
            <a:off x="804671" y="19476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BottomNavigationBar + Drawer negara</a:t>
            </a:r>
          </a:p>
        </p:txBody>
      </p:sp>
      <p:sp>
        <p:nvSpPr>
          <p:cNvPr id="8" name="TextBox 7"/>
          <p:cNvSpPr txBox="1"/>
          <p:nvPr/>
        </p:nvSpPr>
        <p:spPr>
          <a:xfrm>
            <a:off x="804671" y="217170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ListView.builder/GridView — 8 program</a:t>
            </a:r>
          </a:p>
        </p:txBody>
      </p:sp>
      <p:sp>
        <p:nvSpPr>
          <p:cNvPr id="9" name="TextBox 8"/>
          <p:cNvSpPr txBox="1"/>
          <p:nvPr/>
        </p:nvSpPr>
        <p:spPr>
          <a:xfrm>
            <a:off x="804671" y="239572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Card/ListTile · TextStyle/ThemeData</a:t>
            </a:r>
          </a:p>
        </p:txBody>
      </p:sp>
      <p:sp>
        <p:nvSpPr>
          <p:cNvPr id="10" name="TextBox 9"/>
          <p:cNvSpPr txBox="1"/>
          <p:nvPr/>
        </p:nvSpPr>
        <p:spPr>
          <a:xfrm>
            <a:off x="640080" y="2692908"/>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Cabaran (sebelum esok)</a:t>
            </a:r>
          </a:p>
        </p:txBody>
      </p:sp>
      <p:sp>
        <p:nvSpPr>
          <p:cNvPr id="11" name="TextBox 10"/>
          <p:cNvSpPr txBox="1"/>
          <p:nvPr/>
        </p:nvSpPr>
        <p:spPr>
          <a:xfrm>
            <a:off x="804671" y="307695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Tambah pill countryLabel di sudut kiri bawah ProgrammeBanner</a:t>
            </a:r>
          </a:p>
        </p:txBody>
      </p:sp>
      <p:sp>
        <p:nvSpPr>
          <p:cNvPr id="12" name="TextBox 11"/>
          <p:cNvSpPr txBox="1"/>
          <p:nvPr/>
        </p:nvSpPr>
        <p:spPr>
          <a:xfrm>
            <a:off x="804671" y="330098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Tukar grid ke 3 lajur + laraskan childAspectRatio</a:t>
            </a:r>
          </a:p>
        </p:txBody>
      </p:sp>
      <p:sp>
        <p:nvSpPr>
          <p:cNvPr id="13" name="TextBox 12"/>
          <p:cNvSpPr txBox="1"/>
          <p:nvPr/>
        </p:nvSpPr>
        <p:spPr>
          <a:xfrm>
            <a:off x="804671" y="352501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Tambah warna info dalam KptTheme + pill "Pengambilan: intakeMonth"</a:t>
            </a:r>
          </a:p>
        </p:txBody>
      </p:sp>
      <p:sp>
        <p:nvSpPr>
          <p:cNvPr id="14" name="Rounded Rectangle 13"/>
          <p:cNvSpPr/>
          <p:nvPr/>
        </p:nvSpPr>
        <p:spPr>
          <a:xfrm>
            <a:off x="640080" y="3822192"/>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40080" y="3822192"/>
            <a:ext cx="54864" cy="420624"/>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895344"/>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Esok (SESI 4 &amp; 5): Navigator ke skrin butiran program, borang permohonan (TextFormField), dan setState() penuh.</a:t>
            </a:r>
          </a:p>
        </p:txBody>
      </p:sp>
      <p:sp>
        <p:nvSpPr>
          <p:cNvPr id="17" name="TextBox 1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A2B5C"/>
        </a:solidFill>
        <a:effectLst/>
      </p:bgPr>
    </p:bg>
    <p:spTree>
      <p:nvGrpSpPr>
        <p:cNvPr id="1" name=""/>
        <p:cNvGrpSpPr/>
        <p:nvPr/>
      </p:nvGrpSpPr>
      <p:grpSpPr/>
      <p:sp>
        <p:nvSpPr>
          <p:cNvPr id="2" name="TextBox 1"/>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300" b="1">
                <a:solidFill>
                  <a:srgbClr val="D4A017"/>
                </a:solidFill>
                <a:latin typeface="Segoe UI"/>
              </a:rPr>
              <a:t>HARI 3</a:t>
            </a:r>
          </a:p>
        </p:txBody>
      </p:sp>
      <p:sp>
        <p:nvSpPr>
          <p:cNvPr id="3" name="TextBox 2"/>
          <p:cNvSpPr txBox="1"/>
          <p:nvPr/>
        </p:nvSpPr>
        <p:spPr>
          <a:xfrm>
            <a:off x="640080" y="1554480"/>
            <a:ext cx="10911535" cy="566928"/>
          </a:xfrm>
          <a:prstGeom prst="rect">
            <a:avLst/>
          </a:prstGeom>
          <a:noFill/>
        </p:spPr>
        <p:txBody>
          <a:bodyPr wrap="square" anchor="t" lIns="38100" rIns="38100" tIns="25400" bIns="25400">
            <a:spAutoFit/>
          </a:bodyPr>
          <a:lstStyle/>
          <a:p>
            <a:pPr algn="l">
              <a:lnSpc>
                <a:spcPct val="105000"/>
              </a:lnSpc>
            </a:pPr>
            <a:r>
              <a:rPr sz="3400" b="1">
                <a:solidFill>
                  <a:srgbClr val="FFFFFF"/>
                </a:solidFill>
                <a:latin typeface="Segoe UI"/>
              </a:rPr>
              <a:t>Navigasi, Borang &amp; setState()</a:t>
            </a:r>
          </a:p>
        </p:txBody>
      </p:sp>
      <p:sp>
        <p:nvSpPr>
          <p:cNvPr id="4" name="TextBox 3"/>
          <p:cNvSpPr txBox="1"/>
          <p:nvPr/>
        </p:nvSpPr>
        <p:spPr>
          <a:xfrm>
            <a:off x="640080" y="2231136"/>
            <a:ext cx="10911535" cy="384048"/>
          </a:xfrm>
          <a:prstGeom prst="rect">
            <a:avLst/>
          </a:prstGeom>
          <a:noFill/>
        </p:spPr>
        <p:txBody>
          <a:bodyPr wrap="square" anchor="t" lIns="38100" rIns="38100" tIns="25400" bIns="25400">
            <a:spAutoFit/>
          </a:bodyPr>
          <a:lstStyle/>
          <a:p>
            <a:pPr algn="l">
              <a:lnSpc>
                <a:spcPct val="105000"/>
              </a:lnSpc>
            </a:pPr>
            <a:r>
              <a:rPr sz="1800" b="1">
                <a:solidFill>
                  <a:srgbClr val="D4A017"/>
                </a:solidFill>
                <a:latin typeface="Segoe UI"/>
              </a:rPr>
              <a:t>22 Julai 2026 (Rabu) · SESI 4 &amp; SESI 5 — dari senarai tawaran eTT ke skrin butiran &amp; borang permohonan yang berfungsi</a:t>
            </a:r>
          </a:p>
        </p:txBody>
      </p:sp>
      <p:sp>
        <p:nvSpPr>
          <p:cNvPr id="5" name="TextBox 4"/>
          <p:cNvSpPr txBox="1"/>
          <p:nvPr/>
        </p:nvSpPr>
        <p:spPr>
          <a:xfrm>
            <a:off x="731519" y="268833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Navigator.push/pop · Named routes &amp; navigation stack</a:t>
            </a:r>
          </a:p>
        </p:txBody>
      </p:sp>
      <p:sp>
        <p:nvSpPr>
          <p:cNvPr id="6" name="TextBox 5"/>
          <p:cNvSpPr txBox="1"/>
          <p:nvPr/>
        </p:nvSpPr>
        <p:spPr>
          <a:xfrm>
            <a:off x="731519" y="296265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Passing data antara skrin · TextField &amp; TextFormField</a:t>
            </a:r>
          </a:p>
        </p:txBody>
      </p:sp>
      <p:sp>
        <p:nvSpPr>
          <p:cNvPr id="7" name="TextBox 6"/>
          <p:cNvSpPr txBox="1"/>
          <p:nvPr/>
        </p:nvSpPr>
        <p:spPr>
          <a:xfrm>
            <a:off x="731519" y="323697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Input Controller · Button &amp; GestureDetector · form validation</a:t>
            </a:r>
          </a:p>
        </p:txBody>
      </p:sp>
      <p:sp>
        <p:nvSpPr>
          <p:cNvPr id="8" name="TextBox 7"/>
          <p:cNvSpPr txBox="1"/>
          <p:nvPr/>
        </p:nvSpPr>
        <p:spPr>
          <a:xfrm>
            <a:off x="731519" y="351129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setState() &amp; kitaran hayat StatefulWidget</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Aturcara Hari Ini</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5455767"/>
                <a:gridCol w="5455768"/>
              </a:tblGrid>
              <a:tr h="274319">
                <a:tc>
                  <a:txBody>
                    <a:bodyPr/>
                    <a:lstStyle/>
                    <a:p>
                      <a:r>
                        <a:rPr sz="1100" b="1">
                          <a:solidFill>
                            <a:srgbClr val="FFFFFF"/>
                          </a:solidFill>
                          <a:latin typeface="Segoe UI"/>
                        </a:rPr>
                        <a:t>Masa</a:t>
                      </a:r>
                    </a:p>
                  </a:txBody>
                  <a:tcPr marL="63500" marR="63500" marT="25400" marB="25400">
                    <a:solidFill>
                      <a:srgbClr val="1A2B5C"/>
                    </a:solidFill>
                  </a:tcPr>
                </a:tc>
                <a:tc>
                  <a:txBody>
                    <a:bodyPr/>
                    <a:lstStyle/>
                    <a:p>
                      <a:r>
                        <a:rPr sz="1100" b="1">
                          <a:solidFill>
                            <a:srgbClr val="FFFFFF"/>
                          </a:solidFill>
                          <a:latin typeface="Segoe UI"/>
                        </a:rPr>
                        <a:t>Sesi</a:t>
                      </a:r>
                    </a:p>
                  </a:txBody>
                  <a:tcPr marL="63500" marR="63500" marT="25400" marB="25400">
                    <a:solidFill>
                      <a:srgbClr val="1A2B5C"/>
                    </a:solidFill>
                  </a:tcPr>
                </a:tc>
              </a:tr>
              <a:tr h="274319">
                <a:tc>
                  <a:txBody>
                    <a:bodyPr/>
                    <a:lstStyle/>
                    <a:p>
                      <a:r>
                        <a:rPr sz="1100" b="0">
                          <a:solidFill>
                            <a:srgbClr val="566371"/>
                          </a:solidFill>
                          <a:latin typeface="Segoe UI"/>
                        </a:rPr>
                        <a:t>8.30 – 9.00 pagi</a:t>
                      </a:r>
                    </a:p>
                  </a:txBody>
                  <a:tcPr marL="63500" marR="63500" marT="25400" marB="25400">
                    <a:solidFill>
                      <a:srgbClr val="FFFFFF"/>
                    </a:solidFill>
                  </a:tcPr>
                </a:tc>
                <a:tc>
                  <a:txBody>
                    <a:bodyPr/>
                    <a:lstStyle/>
                    <a:p>
                      <a:r>
                        <a:rPr sz="1100" b="0">
                          <a:solidFill>
                            <a:srgbClr val="566371"/>
                          </a:solidFill>
                          <a:latin typeface="Segoe UI"/>
                        </a:rPr>
                        <a:t>Pendaftaran &amp; minum pagi</a:t>
                      </a:r>
                    </a:p>
                  </a:txBody>
                  <a:tcPr marL="63500" marR="63500" marT="25400" marB="25400">
                    <a:solidFill>
                      <a:srgbClr val="FFFFFF"/>
                    </a:solidFill>
                  </a:tcPr>
                </a:tc>
              </a:tr>
              <a:tr h="274319">
                <a:tc>
                  <a:txBody>
                    <a:bodyPr/>
                    <a:lstStyle/>
                    <a:p>
                      <a:r>
                        <a:rPr sz="1100" b="0">
                          <a:solidFill>
                            <a:srgbClr val="566371"/>
                          </a:solidFill>
                          <a:latin typeface="Segoe UI"/>
                        </a:rPr>
                        <a:t>9.00 pagi – 1.00 ptg</a:t>
                      </a:r>
                    </a:p>
                  </a:txBody>
                  <a:tcPr marL="63500" marR="63500" marT="25400" marB="25400">
                    <a:solidFill>
                      <a:srgbClr val="FFFFFF"/>
                    </a:solidFill>
                  </a:tcPr>
                </a:tc>
                <a:tc>
                  <a:txBody>
                    <a:bodyPr/>
                    <a:lstStyle/>
                    <a:p>
                      <a:r>
                        <a:rPr sz="1100" b="0">
                          <a:solidFill>
                            <a:srgbClr val="566371"/>
                          </a:solidFill>
                          <a:latin typeface="Segoe UI"/>
                        </a:rPr>
                        <a:t>SESI 4 — Navigasi Skrin &amp; Borang Input</a:t>
                      </a:r>
                    </a:p>
                  </a:txBody>
                  <a:tcPr marL="63500" marR="63500" marT="25400" marB="25400">
                    <a:solidFill>
                      <a:srgbClr val="FFFFFF"/>
                    </a:solidFill>
                  </a:tcPr>
                </a:tc>
              </a:tr>
              <a:tr h="274319">
                <a:tc>
                  <a:txBody>
                    <a:bodyPr/>
                    <a:lstStyle/>
                    <a:p>
                      <a:r>
                        <a:rPr sz="1100" b="0">
                          <a:solidFill>
                            <a:srgbClr val="566371"/>
                          </a:solidFill>
                          <a:latin typeface="Segoe UI"/>
                        </a:rPr>
                        <a:t>1.00 – 2.30 ptg</a:t>
                      </a:r>
                    </a:p>
                  </a:txBody>
                  <a:tcPr marL="63500" marR="63500" marT="25400" marB="25400">
                    <a:solidFill>
                      <a:srgbClr val="FFFFFF"/>
                    </a:solidFill>
                  </a:tcPr>
                </a:tc>
                <a:tc>
                  <a:txBody>
                    <a:bodyPr/>
                    <a:lstStyle/>
                    <a:p>
                      <a:r>
                        <a:rPr sz="1100" b="0">
                          <a:solidFill>
                            <a:srgbClr val="566371"/>
                          </a:solidFill>
                          <a:latin typeface="Segoe UI"/>
                        </a:rPr>
                        <a:t>Rehat &amp; makan tengah hari</a:t>
                      </a:r>
                    </a:p>
                  </a:txBody>
                  <a:tcPr marL="63500" marR="63500" marT="25400" marB="25400">
                    <a:solidFill>
                      <a:srgbClr val="FFFFFF"/>
                    </a:solidFill>
                  </a:tcPr>
                </a:tc>
              </a:tr>
              <a:tr h="274319">
                <a:tc>
                  <a:txBody>
                    <a:bodyPr/>
                    <a:lstStyle/>
                    <a:p>
                      <a:r>
                        <a:rPr sz="1100" b="0">
                          <a:solidFill>
                            <a:srgbClr val="566371"/>
                          </a:solidFill>
                          <a:latin typeface="Segoe UI"/>
                        </a:rPr>
                        <a:t>2.30 – 5.00 ptg</a:t>
                      </a:r>
                    </a:p>
                  </a:txBody>
                  <a:tcPr marL="63500" marR="63500" marT="25400" marB="25400">
                    <a:solidFill>
                      <a:srgbClr val="FFFFFF"/>
                    </a:solidFill>
                  </a:tcPr>
                </a:tc>
                <a:tc>
                  <a:txBody>
                    <a:bodyPr/>
                    <a:lstStyle/>
                    <a:p>
                      <a:r>
                        <a:rPr sz="1100" b="0">
                          <a:solidFill>
                            <a:srgbClr val="566371"/>
                          </a:solidFill>
                          <a:latin typeface="Segoe UI"/>
                        </a:rPr>
                        <a:t>SESI 5 — Kawalan Borang &amp; State Management Asas</a:t>
                      </a:r>
                    </a:p>
                  </a:txBody>
                  <a:tcPr marL="63500" marR="63500" marT="25400" marB="25400">
                    <a:solidFill>
                      <a:srgbClr val="FFFFFF"/>
                    </a:solidFill>
                  </a:tcPr>
                </a:tc>
              </a:tr>
              <a:tr h="274324">
                <a:tc>
                  <a:txBody>
                    <a:bodyPr/>
                    <a:lstStyle/>
                    <a:p>
                      <a:r>
                        <a:rPr sz="1100" b="0">
                          <a:solidFill>
                            <a:srgbClr val="566371"/>
                          </a:solidFill>
                          <a:latin typeface="Segoe UI"/>
                        </a:rPr>
                        <a:t>5.00 ptg</a:t>
                      </a:r>
                    </a:p>
                  </a:txBody>
                  <a:tcPr marL="63500" marR="63500" marT="25400" marB="25400">
                    <a:solidFill>
                      <a:srgbClr val="FFFFFF"/>
                    </a:solidFill>
                  </a:tcPr>
                </a:tc>
                <a:tc>
                  <a:txBody>
                    <a:bodyPr/>
                    <a:lstStyle/>
                    <a:p>
                      <a:r>
                        <a:rPr sz="1100" b="0">
                          <a:solidFill>
                            <a:srgbClr val="566371"/>
                          </a:solidFill>
                          <a:latin typeface="Segoe UI"/>
                        </a:rPr>
                        <a:t>Bersurai</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Apa Akan Dibina Hari Ini</a:t>
            </a:r>
          </a:p>
        </p:txBody>
      </p:sp>
      <p:sp>
        <p:nvSpPr>
          <p:cNvPr id="3" name="Rounded Rectangle 2"/>
          <p:cNvSpPr/>
          <p:nvPr/>
        </p:nvSpPr>
        <p:spPr>
          <a:xfrm>
            <a:off x="640080" y="1051560"/>
            <a:ext cx="3515258"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Navigasi</a:t>
            </a:r>
          </a:p>
        </p:txBody>
      </p:sp>
      <p:sp>
        <p:nvSpPr>
          <p:cNvPr id="5" name="TextBox 4"/>
          <p:cNvSpPr txBox="1"/>
          <p:nvPr/>
        </p:nvSpPr>
        <p:spPr>
          <a:xfrm>
            <a:off x="768096"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Tekan kad tawaran → buka skrin butiran dengan Navigator.push.</a:t>
            </a:r>
          </a:p>
        </p:txBody>
      </p:sp>
      <p:sp>
        <p:nvSpPr>
          <p:cNvPr id="6" name="Rounded Rectangle 5"/>
          <p:cNvSpPr/>
          <p:nvPr/>
        </p:nvSpPr>
        <p:spPr>
          <a:xfrm>
            <a:off x="4338218" y="1051560"/>
            <a:ext cx="3515258"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466234"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Skrin Butiran</a:t>
            </a:r>
          </a:p>
        </p:txBody>
      </p:sp>
      <p:sp>
        <p:nvSpPr>
          <p:cNvPr id="8" name="TextBox 7"/>
          <p:cNvSpPr txBox="1"/>
          <p:nvPr/>
        </p:nvSpPr>
        <p:spPr>
          <a:xfrm>
            <a:off x="4466234"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ProgrammeDetailScreen — kategori, kos anggaran, kuota, nota pengiktirafan &amp; butang "Mohon".</a:t>
            </a:r>
          </a:p>
        </p:txBody>
      </p:sp>
      <p:sp>
        <p:nvSpPr>
          <p:cNvPr id="9" name="Rounded Rectangle 8"/>
          <p:cNvSpPr/>
          <p:nvPr/>
        </p:nvSpPr>
        <p:spPr>
          <a:xfrm>
            <a:off x="8036356" y="1051560"/>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164372"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Borang Permohonan</a:t>
            </a:r>
          </a:p>
        </p:txBody>
      </p:sp>
      <p:sp>
        <p:nvSpPr>
          <p:cNvPr id="11" name="TextBox 10"/>
          <p:cNvSpPr txBox="1"/>
          <p:nvPr/>
        </p:nvSpPr>
        <p:spPr>
          <a:xfrm>
            <a:off x="8164372"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ApplicationFormScreen — Form lengkap dengan pengesahan (validation) &amp; setState().</a:t>
            </a:r>
          </a:p>
        </p:txBody>
      </p:sp>
      <p:sp>
        <p:nvSpPr>
          <p:cNvPr id="12" name="Rounded Rectangle 11"/>
          <p:cNvSpPr/>
          <p:nvPr/>
        </p:nvSpPr>
        <p:spPr>
          <a:xfrm>
            <a:off x="640080" y="2221992"/>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221992"/>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2295144"/>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Kita bina di atas projek ett_mobile dari Hari 1–2 — jangan mulakan projek baharu.</a:t>
            </a:r>
          </a:p>
        </p:txBody>
      </p:sp>
      <p:sp>
        <p:nvSpPr>
          <p:cNvPr id="15" name="TextBox 1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Navigasi = Tindanan (Stack) Skrin</a:t>
            </a:r>
          </a:p>
        </p:txBody>
      </p:sp>
      <p:sp>
        <p:nvSpPr>
          <p:cNvPr id="3" name="Rounded Rectangle 2"/>
          <p:cNvSpPr/>
          <p:nvPr/>
        </p:nvSpPr>
        <p:spPr>
          <a:xfrm>
            <a:off x="640080" y="1051560"/>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ApplicationFormScreen      │  ← teratas (aktif sekarang)</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ProgrammeDetailScreen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ProgrammeListScreen (root) │  ← skrin asal, tab "Program"</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804671" y="304952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Skrin baharu ditolak (push) ke atas tindanan</a:t>
            </a:r>
          </a:p>
        </p:txBody>
      </p:sp>
      <p:sp>
        <p:nvSpPr>
          <p:cNvPr id="6" name="TextBox 5"/>
          <p:cNvSpPr txBox="1"/>
          <p:nvPr/>
        </p:nvSpPr>
        <p:spPr>
          <a:xfrm>
            <a:off x="804671" y="327355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Butang kembali / pop() keluarkan skrin teratas — skrin bawahnya kelihatan semula</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Dua Kaedah Asas Navigator</a:t>
            </a:r>
          </a:p>
        </p:txBody>
      </p:sp>
      <p:graphicFrame>
        <p:nvGraphicFramePr>
          <p:cNvPr id="3" name="Table 2"/>
          <p:cNvGraphicFramePr>
            <a:graphicFrameLocks noGrp="1"/>
          </p:cNvGraphicFramePr>
          <p:nvPr/>
        </p:nvGraphicFramePr>
        <p:xfrm>
          <a:off x="640080" y="1051560"/>
          <a:ext cx="10911535" cy="822959"/>
        </p:xfrm>
        <a:graphic>
          <a:graphicData uri="http://schemas.openxmlformats.org/drawingml/2006/table">
            <a:tbl>
              <a:tblPr firstRow="1" bandRow="1">
                <a:tableStyleId>{5C22544A-7EE6-4342-B048-85BDC9FD1C3A}</a:tableStyleId>
              </a:tblPr>
              <a:tblGrid>
                <a:gridCol w="5455767"/>
                <a:gridCol w="5455768"/>
              </a:tblGrid>
              <a:tr h="274319">
                <a:tc>
                  <a:txBody>
                    <a:bodyPr/>
                    <a:lstStyle/>
                    <a:p>
                      <a:r>
                        <a:rPr sz="1100" b="1">
                          <a:solidFill>
                            <a:srgbClr val="FFFFFF"/>
                          </a:solidFill>
                          <a:latin typeface="Segoe UI"/>
                        </a:rPr>
                        <a:t>Kaedah</a:t>
                      </a:r>
                    </a:p>
                  </a:txBody>
                  <a:tcPr marL="63500" marR="63500" marT="25400" marB="25400">
                    <a:solidFill>
                      <a:srgbClr val="1A2B5C"/>
                    </a:solidFill>
                  </a:tcPr>
                </a:tc>
                <a:tc>
                  <a:txBody>
                    <a:bodyPr/>
                    <a:lstStyle/>
                    <a:p>
                      <a:r>
                        <a:rPr sz="1100" b="1">
                          <a:solidFill>
                            <a:srgbClr val="FFFFFF"/>
                          </a:solidFill>
                          <a:latin typeface="Segoe UI"/>
                        </a:rPr>
                        <a:t>Fungsi</a:t>
                      </a:r>
                    </a:p>
                  </a:txBody>
                  <a:tcPr marL="63500" marR="63500" marT="25400" marB="25400">
                    <a:solidFill>
                      <a:srgbClr val="1A2B5C"/>
                    </a:solidFill>
                  </a:tcPr>
                </a:tc>
              </a:tr>
              <a:tr h="274319">
                <a:tc>
                  <a:txBody>
                    <a:bodyPr/>
                    <a:lstStyle/>
                    <a:p>
                      <a:r>
                        <a:rPr sz="1100" b="0">
                          <a:solidFill>
                            <a:srgbClr val="566371"/>
                          </a:solidFill>
                          <a:latin typeface="Segoe UI"/>
                        </a:rPr>
                        <a:t>Navigator.of(context).push(route)</a:t>
                      </a:r>
                    </a:p>
                  </a:txBody>
                  <a:tcPr marL="63500" marR="63500" marT="25400" marB="25400">
                    <a:solidFill>
                      <a:srgbClr val="FFFFFF"/>
                    </a:solidFill>
                  </a:tcPr>
                </a:tc>
                <a:tc>
                  <a:txBody>
                    <a:bodyPr/>
                    <a:lstStyle/>
                    <a:p>
                      <a:r>
                        <a:rPr sz="1100" b="0">
                          <a:solidFill>
                            <a:srgbClr val="566371"/>
                          </a:solidFill>
                          <a:latin typeface="Segoe UI"/>
                        </a:rPr>
                        <a:t>Tolak skrin baharu ke atas tindanan</a:t>
                      </a:r>
                    </a:p>
                  </a:txBody>
                  <a:tcPr marL="63500" marR="63500" marT="25400" marB="25400">
                    <a:solidFill>
                      <a:srgbClr val="FFFFFF"/>
                    </a:solidFill>
                  </a:tcPr>
                </a:tc>
              </a:tr>
              <a:tr h="274321">
                <a:tc>
                  <a:txBody>
                    <a:bodyPr/>
                    <a:lstStyle/>
                    <a:p>
                      <a:r>
                        <a:rPr sz="1100" b="0">
                          <a:solidFill>
                            <a:srgbClr val="566371"/>
                          </a:solidFill>
                          <a:latin typeface="Segoe UI"/>
                        </a:rPr>
                        <a:t>Navigator.of(context).pop([hasil])</a:t>
                      </a:r>
                    </a:p>
                  </a:txBody>
                  <a:tcPr marL="63500" marR="63500" marT="25400" marB="25400">
                    <a:solidFill>
                      <a:srgbClr val="FFFFFF"/>
                    </a:solidFill>
                  </a:tcPr>
                </a:tc>
                <a:tc>
                  <a:txBody>
                    <a:bodyPr/>
                    <a:lstStyle/>
                    <a:p>
                      <a:r>
                        <a:rPr sz="1100" b="0">
                          <a:solidFill>
                            <a:srgbClr val="566371"/>
                          </a:solidFill>
                          <a:latin typeface="Segoe UI"/>
                        </a:rPr>
                        <a:t>Keluarkan skrin teratas — boleh sertakan nilai hasil untuk skrin sebelumnya</a:t>
                      </a:r>
                    </a:p>
                  </a:txBody>
                  <a:tcPr marL="63500" marR="63500" marT="25400" marB="25400">
                    <a:solidFill>
                      <a:srgbClr val="FFFFFF"/>
                    </a:solidFill>
                  </a:tcPr>
                </a:tc>
              </a:tr>
            </a:tbl>
          </a:graphicData>
        </a:graphic>
      </p:graphicFrame>
      <p:sp>
        <p:nvSpPr>
          <p:cNvPr id="4" name="Rounded Rectangle 3"/>
          <p:cNvSpPr/>
          <p:nvPr/>
        </p:nvSpPr>
        <p:spPr>
          <a:xfrm>
            <a:off x="640080" y="2002536"/>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40080" y="2002536"/>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075688"/>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pop boleh membawa nilai pulang — kunci kepada corak "hantar data keluar" petang nanti.</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Navigator.push + MaterialPageRoute</a:t>
            </a:r>
          </a:p>
        </p:txBody>
      </p:sp>
      <p:sp>
        <p:nvSpPr>
          <p:cNvPr id="3" name="Rounded Rectangle 2"/>
          <p:cNvSpPr/>
          <p:nvPr/>
        </p:nvSpPr>
        <p:spPr>
          <a:xfrm>
            <a:off x="640080" y="1051560"/>
            <a:ext cx="10911535" cy="207568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89280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Navigator.of(context).push(</a:t>
            </a:r>
          </a:p>
          <a:p>
            <a:pPr>
              <a:lnSpc>
                <a:spcPct val="100000"/>
              </a:lnSpc>
            </a:pPr>
            <a:r>
              <a:rPr sz="1100">
                <a:solidFill>
                  <a:srgbClr val="E6E8EE"/>
                </a:solidFill>
                <a:latin typeface="Consolas"/>
              </a:rPr>
              <a:t>  MaterialPageRoute(</a:t>
            </a:r>
          </a:p>
          <a:p>
            <a:pPr>
              <a:lnSpc>
                <a:spcPct val="100000"/>
              </a:lnSpc>
            </a:pPr>
            <a:r>
              <a:rPr sz="1100">
                <a:solidFill>
                  <a:srgbClr val="E6E8EE"/>
                </a:solidFill>
                <a:latin typeface="Consolas"/>
              </a:rPr>
              <a:t>    builder: (_) =&gt; const SomeScreen(),</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dan untuk kembali:</a:t>
            </a:r>
          </a:p>
          <a:p>
            <a:pPr>
              <a:lnSpc>
                <a:spcPct val="100000"/>
              </a:lnSpc>
            </a:pPr>
            <a:r>
              <a:rPr sz="1100">
                <a:solidFill>
                  <a:srgbClr val="E6E8EE"/>
                </a:solidFill>
                <a:latin typeface="Consolas"/>
              </a:rPr>
              <a:t>Navigator.of(context).pop();</a:t>
            </a:r>
          </a:p>
          <a:p>
            <a:pPr>
              <a:lnSpc>
                <a:spcPct val="100000"/>
              </a:lnSpc>
            </a:pPr>
            <a:r>
              <a:rPr sz="1100">
                <a:solidFill>
                  <a:srgbClr val="E6E8EE"/>
                </a:solidFill>
                <a:latin typeface="Consolas"/>
              </a:rPr>
              <a:t>  </a:t>
            </a:r>
          </a:p>
        </p:txBody>
      </p:sp>
      <p:sp>
        <p:nvSpPr>
          <p:cNvPr id="5" name="TextBox 4"/>
          <p:cNvSpPr txBox="1"/>
          <p:nvPr/>
        </p:nvSpPr>
        <p:spPr>
          <a:xfrm>
            <a:off x="804671" y="323697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MaterialPageRoute — animasi peralihan gaya Material secara automatik</a:t>
            </a:r>
          </a:p>
        </p:txBody>
      </p:sp>
      <p:sp>
        <p:nvSpPr>
          <p:cNvPr id="6" name="TextBox 5"/>
          <p:cNvSpPr txBox="1"/>
          <p:nvPr/>
        </p:nvSpPr>
        <p:spPr>
          <a:xfrm>
            <a:off x="804671" y="346100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builder membina skrin destinasi bila diperlukan</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Dalam App Sebenar: Kad → Skrin Butiran</a:t>
            </a:r>
          </a:p>
        </p:txBody>
      </p:sp>
      <p:sp>
        <p:nvSpPr>
          <p:cNvPr id="3" name="Rounded Rectangle 2"/>
          <p:cNvSpPr/>
          <p:nvPr/>
        </p:nvSpPr>
        <p:spPr>
          <a:xfrm>
            <a:off x="640080" y="1051560"/>
            <a:ext cx="10911535" cy="226314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080260"/>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lib/screens/programme_list_screen.dart</a:t>
            </a:r>
          </a:p>
          <a:p>
            <a:pPr>
              <a:lnSpc>
                <a:spcPct val="100000"/>
              </a:lnSpc>
            </a:pPr>
            <a:r>
              <a:rPr sz="1100">
                <a:solidFill>
                  <a:srgbClr val="E6E8EE"/>
                </a:solidFill>
                <a:latin typeface="Consolas"/>
              </a:rPr>
              <a:t>return ProgrammeCard(</a:t>
            </a:r>
          </a:p>
          <a:p>
            <a:pPr>
              <a:lnSpc>
                <a:spcPct val="100000"/>
              </a:lnSpc>
            </a:pPr>
            <a:r>
              <a:rPr sz="1100">
                <a:solidFill>
                  <a:srgbClr val="E6E8EE"/>
                </a:solidFill>
                <a:latin typeface="Consolas"/>
              </a:rPr>
              <a:t>  programme: p,</a:t>
            </a:r>
          </a:p>
          <a:p>
            <a:pPr>
              <a:lnSpc>
                <a:spcPct val="100000"/>
              </a:lnSpc>
            </a:pPr>
            <a:r>
              <a:rPr sz="1100">
                <a:solidFill>
                  <a:srgbClr val="E6E8EE"/>
                </a:solidFill>
                <a:latin typeface="Consolas"/>
              </a:rPr>
              <a:t>  onTap: () =&gt; Navigator.of(context).push(</a:t>
            </a:r>
          </a:p>
          <a:p>
            <a:pPr>
              <a:lnSpc>
                <a:spcPct val="100000"/>
              </a:lnSpc>
            </a:pPr>
            <a:r>
              <a:rPr sz="1100">
                <a:solidFill>
                  <a:srgbClr val="E6E8EE"/>
                </a:solidFill>
                <a:latin typeface="Consolas"/>
              </a:rPr>
              <a:t>    MaterialPageRoute(</a:t>
            </a:r>
          </a:p>
          <a:p>
            <a:pPr>
              <a:lnSpc>
                <a:spcPct val="100000"/>
              </a:lnSpc>
            </a:pPr>
            <a:r>
              <a:rPr sz="1100">
                <a:solidFill>
                  <a:srgbClr val="E6E8EE"/>
                </a:solidFill>
                <a:latin typeface="Consolas"/>
              </a:rPr>
              <a:t>      builder: (_) =&gt; ProgrammeDetailScreen(programme: p),</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Named Routes — Navigasi Guna Nama</a:t>
            </a:r>
          </a:p>
        </p:txBody>
      </p:sp>
      <p:sp>
        <p:nvSpPr>
          <p:cNvPr id="3" name="Rounded Rectangle 2"/>
          <p:cNvSpPr/>
          <p:nvPr/>
        </p:nvSpPr>
        <p:spPr>
          <a:xfrm>
            <a:off x="640080" y="1051560"/>
            <a:ext cx="10911535" cy="263804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45516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MaterialApp(</a:t>
            </a:r>
          </a:p>
          <a:p>
            <a:pPr>
              <a:lnSpc>
                <a:spcPct val="100000"/>
              </a:lnSpc>
            </a:pPr>
            <a:r>
              <a:rPr sz="1100">
                <a:solidFill>
                  <a:srgbClr val="E6E8EE"/>
                </a:solidFill>
                <a:latin typeface="Consolas"/>
              </a:rPr>
              <a:t>  title: 'eTT Mobile',</a:t>
            </a:r>
          </a:p>
          <a:p>
            <a:pPr>
              <a:lnSpc>
                <a:spcPct val="100000"/>
              </a:lnSpc>
            </a:pPr>
            <a:r>
              <a:rPr sz="1100">
                <a:solidFill>
                  <a:srgbClr val="E6E8EE"/>
                </a:solidFill>
                <a:latin typeface="Consolas"/>
              </a:rPr>
              <a:t>  initialRoute: '/',</a:t>
            </a:r>
          </a:p>
          <a:p>
            <a:pPr>
              <a:lnSpc>
                <a:spcPct val="100000"/>
              </a:lnSpc>
            </a:pPr>
            <a:r>
              <a:rPr sz="1100">
                <a:solidFill>
                  <a:srgbClr val="E6E8EE"/>
                </a:solidFill>
                <a:latin typeface="Consolas"/>
              </a:rPr>
              <a:t>  routes: {</a:t>
            </a:r>
          </a:p>
          <a:p>
            <a:pPr>
              <a:lnSpc>
                <a:spcPct val="100000"/>
              </a:lnSpc>
            </a:pPr>
            <a:r>
              <a:rPr sz="1100">
                <a:solidFill>
                  <a:srgbClr val="E6E8EE"/>
                </a:solidFill>
                <a:latin typeface="Consolas"/>
              </a:rPr>
              <a:t>    '/': (context) =&gt; const HomeScreen(),</a:t>
            </a:r>
          </a:p>
          <a:p>
            <a:pPr>
              <a:lnSpc>
                <a:spcPct val="100000"/>
              </a:lnSpc>
            </a:pPr>
            <a:r>
              <a:rPr sz="1100">
                <a:solidFill>
                  <a:srgbClr val="E6E8EE"/>
                </a:solidFill>
                <a:latin typeface="Consolas"/>
              </a:rPr>
              <a:t>    '/tentang': (context) =&gt; const AboutScreen(),</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navigasi guna nama:</a:t>
            </a:r>
          </a:p>
          <a:p>
            <a:pPr>
              <a:lnSpc>
                <a:spcPct val="100000"/>
              </a:lnSpc>
            </a:pPr>
            <a:r>
              <a:rPr sz="1100">
                <a:solidFill>
                  <a:srgbClr val="E6E8EE"/>
                </a:solidFill>
                <a:latin typeface="Consolas"/>
              </a:rPr>
              <a:t>Navigator.of(context).pushNamed('/tentang');</a:t>
            </a:r>
          </a:p>
          <a:p>
            <a:pPr>
              <a:lnSpc>
                <a:spcPct val="100000"/>
              </a:lnSpc>
            </a:pPr>
            <a:r>
              <a:rPr sz="1100">
                <a:solidFill>
                  <a:srgbClr val="E6E8EE"/>
                </a:solidFill>
                <a:latin typeface="Consolas"/>
              </a:rPr>
              <a:t>  </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onGenerateRoute — Bila Laluan Perlukan Data</a:t>
            </a:r>
          </a:p>
        </p:txBody>
      </p:sp>
      <p:sp>
        <p:nvSpPr>
          <p:cNvPr id="3" name="Rounded Rectangle 2"/>
          <p:cNvSpPr/>
          <p:nvPr/>
        </p:nvSpPr>
        <p:spPr>
          <a:xfrm>
            <a:off x="640080" y="1051560"/>
            <a:ext cx="10911535" cy="282549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64261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onGenerateRoute: (settings) {</a:t>
            </a:r>
          </a:p>
          <a:p>
            <a:pPr>
              <a:lnSpc>
                <a:spcPct val="100000"/>
              </a:lnSpc>
            </a:pPr>
            <a:r>
              <a:rPr sz="1100">
                <a:solidFill>
                  <a:srgbClr val="E6E8EE"/>
                </a:solidFill>
                <a:latin typeface="Consolas"/>
              </a:rPr>
              <a:t>  if (settings.name == '/detail') {</a:t>
            </a:r>
          </a:p>
          <a:p>
            <a:pPr>
              <a:lnSpc>
                <a:spcPct val="100000"/>
              </a:lnSpc>
            </a:pPr>
            <a:r>
              <a:rPr sz="1100">
                <a:solidFill>
                  <a:srgbClr val="E6E8EE"/>
                </a:solidFill>
                <a:latin typeface="Consolas"/>
              </a:rPr>
              <a:t>    final programme = settings.arguments as Programme;</a:t>
            </a:r>
          </a:p>
          <a:p>
            <a:pPr>
              <a:lnSpc>
                <a:spcPct val="100000"/>
              </a:lnSpc>
            </a:pPr>
            <a:r>
              <a:rPr sz="1100">
                <a:solidFill>
                  <a:srgbClr val="E6E8EE"/>
                </a:solidFill>
                <a:latin typeface="Consolas"/>
              </a:rPr>
              <a:t>    return MaterialPageRoute(</a:t>
            </a:r>
          </a:p>
          <a:p>
            <a:pPr>
              <a:lnSpc>
                <a:spcPct val="100000"/>
              </a:lnSpc>
            </a:pPr>
            <a:r>
              <a:rPr sz="1100">
                <a:solidFill>
                  <a:srgbClr val="E6E8EE"/>
                </a:solidFill>
                <a:latin typeface="Consolas"/>
              </a:rPr>
              <a:t>      builder: (_) =&gt; ProgrammeDetailScreen(programme: programme),</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return null; // laluan tidak dikenali</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hantar arguments bersama nama laluan:</a:t>
            </a:r>
          </a:p>
          <a:p>
            <a:pPr>
              <a:lnSpc>
                <a:spcPct val="100000"/>
              </a:lnSpc>
            </a:pPr>
            <a:r>
              <a:rPr sz="1100">
                <a:solidFill>
                  <a:srgbClr val="E6E8EE"/>
                </a:solidFill>
                <a:latin typeface="Consolas"/>
              </a:rPr>
              <a:t>Navigator.of(context).pushNamed('/detail', arguments: p);</a:t>
            </a:r>
          </a:p>
          <a:p>
            <a:pPr>
              <a:lnSpc>
                <a:spcPct val="100000"/>
              </a:lnSpc>
            </a:pPr>
            <a:r>
              <a:rPr sz="1100">
                <a:solidFill>
                  <a:srgbClr val="E6E8EE"/>
                </a:solidFill>
                <a:latin typeface="Consolas"/>
              </a:rPr>
              <a:t>  </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Named Routes vs push Terus</a:t>
            </a:r>
          </a:p>
        </p:txBody>
      </p:sp>
      <p:sp>
        <p:nvSpPr>
          <p:cNvPr id="3" name="TextBox 2"/>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push terus (pilihan eTT Mobile)</a:t>
            </a:r>
          </a:p>
        </p:txBody>
      </p:sp>
      <p:sp>
        <p:nvSpPr>
          <p:cNvPr id="4" name="TextBox 3"/>
          <p:cNvSpPr txBox="1"/>
          <p:nvPr/>
        </p:nvSpPr>
        <p:spPr>
          <a:xfrm>
            <a:off x="804671" y="143560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Aliran linear: senarai → butiran → borang</a:t>
            </a:r>
          </a:p>
        </p:txBody>
      </p:sp>
      <p:sp>
        <p:nvSpPr>
          <p:cNvPr id="5" name="TextBox 4"/>
          <p:cNvSpPr txBox="1"/>
          <p:nvPr/>
        </p:nvSpPr>
        <p:spPr>
          <a:xfrm>
            <a:off x="804671" y="165963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Type-safe — tiada as Programme yang boleh gagal masa jalan</a:t>
            </a:r>
          </a:p>
        </p:txBody>
      </p:sp>
      <p:sp>
        <p:nvSpPr>
          <p:cNvPr id="6" name="TextBox 5"/>
          <p:cNvSpPr txBox="1"/>
          <p:nvPr/>
        </p:nvSpPr>
        <p:spPr>
          <a:xfrm>
            <a:off x="804671" y="188366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Paling ringkas untuk app kecil</a:t>
            </a:r>
          </a:p>
        </p:txBody>
      </p:sp>
      <p:sp>
        <p:nvSpPr>
          <p:cNvPr id="7" name="TextBox 6"/>
          <p:cNvSpPr txBox="1"/>
          <p:nvPr/>
        </p:nvSpPr>
        <p:spPr>
          <a:xfrm>
            <a:off x="640080" y="2180844"/>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Named routes bila…</a:t>
            </a:r>
          </a:p>
        </p:txBody>
      </p:sp>
      <p:sp>
        <p:nvSpPr>
          <p:cNvPr id="8" name="TextBox 7"/>
          <p:cNvSpPr txBox="1"/>
          <p:nvPr/>
        </p:nvSpPr>
        <p:spPr>
          <a:xfrm>
            <a:off x="804671" y="256489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Banyak tempat perlu navigasi ke skrin sama</a:t>
            </a:r>
          </a:p>
        </p:txBody>
      </p:sp>
      <p:sp>
        <p:nvSpPr>
          <p:cNvPr id="9" name="TextBox 8"/>
          <p:cNvSpPr txBox="1"/>
          <p:nvPr/>
        </p:nvSpPr>
        <p:spPr>
          <a:xfrm>
            <a:off x="804671" y="278892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Perlu URL / deep-link (cth. versi web)</a:t>
            </a:r>
          </a:p>
        </p:txBody>
      </p:sp>
      <p:sp>
        <p:nvSpPr>
          <p:cNvPr id="10" name="TextBox 9"/>
          <p:cNvSpPr txBox="1"/>
          <p:nvPr/>
        </p:nvSpPr>
        <p:spPr>
          <a:xfrm>
            <a:off x="804671" y="301294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Navigasi dikawal berpusat (cth. log analitik)</a:t>
            </a:r>
          </a:p>
        </p:txBody>
      </p:sp>
      <p:sp>
        <p:nvSpPr>
          <p:cNvPr id="11" name="TextBox 10"/>
          <p:cNvSpPr txBox="1"/>
          <p:nvPr/>
        </p:nvSpPr>
        <p:spPr>
          <a:xfrm>
            <a:off x="640080" y="3310128"/>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main.dart sebenar guna home: const HomeScreen() tanpa routes: — kenali kedua-dua corak, pilih ikut keperluan.</a:t>
            </a:r>
          </a:p>
        </p:txBody>
      </p:sp>
      <p:sp>
        <p:nvSpPr>
          <p:cNvPr id="12" name="TextBox 11"/>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Passing Data MASUK — Parameter Constructor</a:t>
            </a:r>
          </a:p>
        </p:txBody>
      </p:sp>
      <p:sp>
        <p:nvSpPr>
          <p:cNvPr id="3" name="Rounded Rectangle 2"/>
          <p:cNvSpPr/>
          <p:nvPr/>
        </p:nvSpPr>
        <p:spPr>
          <a:xfrm>
            <a:off x="640080" y="1051560"/>
            <a:ext cx="10911535" cy="207568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89280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lib/screens/programme_detail_screen.dart</a:t>
            </a:r>
          </a:p>
          <a:p>
            <a:pPr>
              <a:lnSpc>
                <a:spcPct val="100000"/>
              </a:lnSpc>
            </a:pPr>
            <a:r>
              <a:rPr sz="1100">
                <a:solidFill>
                  <a:srgbClr val="E6E8EE"/>
                </a:solidFill>
                <a:latin typeface="Consolas"/>
              </a:rPr>
              <a:t>class ProgrammeDetailScreen extends StatelessWidget {</a:t>
            </a:r>
          </a:p>
          <a:p>
            <a:pPr>
              <a:lnSpc>
                <a:spcPct val="100000"/>
              </a:lnSpc>
            </a:pPr>
            <a:r>
              <a:rPr sz="1100">
                <a:solidFill>
                  <a:srgbClr val="E6E8EE"/>
                </a:solidFill>
                <a:latin typeface="Consolas"/>
              </a:rPr>
              <a:t>  const ProgrammeDetailScreen({super.key, required this.programme});</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final Programme programme;</a:t>
            </a:r>
          </a:p>
          <a:p>
            <a:pPr>
              <a:lnSpc>
                <a:spcPct val="100000"/>
              </a:lnSpc>
            </a:pPr>
            <a:r>
              <a:rPr sz="1100">
                <a:solidFill>
                  <a:srgbClr val="E6E8EE"/>
                </a:solidFill>
                <a:latin typeface="Consolas"/>
              </a:rPr>
              <a:t>  // terus guna: programme.universityName,</a:t>
            </a:r>
          </a:p>
          <a:p>
            <a:pPr>
              <a:lnSpc>
                <a:spcPct val="100000"/>
              </a:lnSpc>
            </a:pPr>
            <a:r>
              <a:rPr sz="1100">
                <a:solidFill>
                  <a:srgbClr val="E6E8EE"/>
                </a:solidFill>
                <a:latin typeface="Consolas"/>
              </a:rPr>
              <a:t>  // programme.country, programme.estimatedAnnualCostMyr…</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804671" y="323697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Tiada pangkalan data, tiada Future, tiada id untuk dicari semula — lalukan objek Dart biasa</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Passing Data KELUAR — pop(value) + await push</a:t>
            </a:r>
          </a:p>
        </p:txBody>
      </p:sp>
      <p:sp>
        <p:nvSpPr>
          <p:cNvPr id="3" name="Rounded Rectangle 2"/>
          <p:cNvSpPr/>
          <p:nvPr/>
        </p:nvSpPr>
        <p:spPr>
          <a:xfrm>
            <a:off x="640080" y="1051560"/>
            <a:ext cx="10911535" cy="301294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830068"/>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Skrin PERTAMA — tunggu hasil daripada skrin borang</a:t>
            </a:r>
          </a:p>
          <a:p>
            <a:pPr>
              <a:lnSpc>
                <a:spcPct val="100000"/>
              </a:lnSpc>
            </a:pPr>
            <a:r>
              <a:rPr sz="1100">
                <a:solidFill>
                  <a:srgbClr val="E6E8EE"/>
                </a:solidFill>
                <a:latin typeface="Consolas"/>
              </a:rPr>
              <a:t>final Application? hasil =</a:t>
            </a:r>
          </a:p>
          <a:p>
            <a:pPr>
              <a:lnSpc>
                <a:spcPct val="100000"/>
              </a:lnSpc>
            </a:pPr>
            <a:r>
              <a:rPr sz="1100">
                <a:solidFill>
                  <a:srgbClr val="E6E8EE"/>
                </a:solidFill>
                <a:latin typeface="Consolas"/>
              </a:rPr>
              <a:t>    await Navigator.of(context).push&lt;Application&gt;(</a:t>
            </a:r>
          </a:p>
          <a:p>
            <a:pPr>
              <a:lnSpc>
                <a:spcPct val="100000"/>
              </a:lnSpc>
            </a:pPr>
            <a:r>
              <a:rPr sz="1100">
                <a:solidFill>
                  <a:srgbClr val="E6E8EE"/>
                </a:solidFill>
                <a:latin typeface="Consolas"/>
              </a:rPr>
              <a:t>  MaterialPageRoute(</a:t>
            </a:r>
          </a:p>
          <a:p>
            <a:pPr>
              <a:lnSpc>
                <a:spcPct val="100000"/>
              </a:lnSpc>
            </a:pPr>
            <a:r>
              <a:rPr sz="1100">
                <a:solidFill>
                  <a:srgbClr val="E6E8EE"/>
                </a:solidFill>
                <a:latin typeface="Consolas"/>
              </a:rPr>
              <a:t>    builder: (_) =&gt; ApplicationFormScreen(programme: programme),</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if (hasil != null) {</a:t>
            </a:r>
          </a:p>
          <a:p>
            <a:pPr>
              <a:lnSpc>
                <a:spcPct val="100000"/>
              </a:lnSpc>
            </a:pPr>
            <a:r>
              <a:rPr sz="1100">
                <a:solidFill>
                  <a:srgbClr val="E6E8EE"/>
                </a:solidFill>
                <a:latin typeface="Consolas"/>
              </a:rPr>
              <a:t>  setState(() =&gt; _sudahMohon = true);</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Skrin KEDUA (borang) — pulangkan objek semasa pop</a:t>
            </a:r>
          </a:p>
          <a:p>
            <a:pPr>
              <a:lnSpc>
                <a:spcPct val="100000"/>
              </a:lnSpc>
            </a:pPr>
            <a:r>
              <a:rPr sz="1100">
                <a:solidFill>
                  <a:srgbClr val="E6E8EE"/>
                </a:solidFill>
                <a:latin typeface="Consolas"/>
              </a:rPr>
              <a:t>Navigator.of(context).pop(application);</a:t>
            </a:r>
          </a:p>
          <a:p>
            <a:pPr>
              <a:lnSpc>
                <a:spcPct val="100000"/>
              </a:lnSpc>
            </a:pPr>
            <a:r>
              <a:rPr sz="1100">
                <a:solidFill>
                  <a:srgbClr val="E6E8EE"/>
                </a:solidFill>
                <a:latin typeface="Consolas"/>
              </a:rPr>
              <a:t>  </a:t>
            </a:r>
          </a:p>
        </p:txBody>
      </p:sp>
      <p:sp>
        <p:nvSpPr>
          <p:cNvPr id="5" name="Rounded Rectangle 4"/>
          <p:cNvSpPr/>
          <p:nvPr/>
        </p:nvSpPr>
        <p:spPr>
          <a:xfrm>
            <a:off x="640080" y="4174236"/>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4174236"/>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4247388"/>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Jika borang ditutup tanpa hantar (butang kembali), hasil == null — sebab itu jenisnya Application? dan kita wajib semak if (hasil != null).</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TextField vs TextFormField</a:t>
            </a:r>
          </a:p>
        </p:txBody>
      </p:sp>
      <p:graphicFrame>
        <p:nvGraphicFramePr>
          <p:cNvPr id="3" name="Table 2"/>
          <p:cNvGraphicFramePr>
            <a:graphicFrameLocks noGrp="1"/>
          </p:cNvGraphicFramePr>
          <p:nvPr/>
        </p:nvGraphicFramePr>
        <p:xfrm>
          <a:off x="640080" y="1051560"/>
          <a:ext cx="10911535" cy="109728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txBody>
                  <a:tcPr marL="63500" marR="63500" marT="25400" marB="25400">
                    <a:solidFill>
                      <a:srgbClr val="1A2B5C"/>
                    </a:solidFill>
                  </a:tcPr>
                </a:tc>
                <a:tc>
                  <a:txBody>
                    <a:bodyPr/>
                    <a:lstStyle/>
                    <a:p>
                      <a:r>
                        <a:rPr sz="1100" b="1">
                          <a:solidFill>
                            <a:srgbClr val="FFFFFF"/>
                          </a:solidFill>
                          <a:latin typeface="Segoe UI"/>
                        </a:rPr>
                        <a:t>TextField</a:t>
                      </a:r>
                    </a:p>
                  </a:txBody>
                  <a:tcPr marL="63500" marR="63500" marT="25400" marB="25400">
                    <a:solidFill>
                      <a:srgbClr val="1A2B5C"/>
                    </a:solidFill>
                  </a:tcPr>
                </a:tc>
                <a:tc>
                  <a:txBody>
                    <a:bodyPr/>
                    <a:lstStyle/>
                    <a:p>
                      <a:r>
                        <a:rPr sz="1100" b="1">
                          <a:solidFill>
                            <a:srgbClr val="FFFFFF"/>
                          </a:solidFill>
                          <a:latin typeface="Segoe UI"/>
                        </a:rPr>
                        <a:t>TextFormField</a:t>
                      </a:r>
                    </a:p>
                  </a:txBody>
                  <a:tcPr marL="63500" marR="63500" marT="25400" marB="25400">
                    <a:solidFill>
                      <a:srgbClr val="1A2B5C"/>
                    </a:solidFill>
                  </a:tcPr>
                </a:tc>
              </a:tr>
              <a:tr h="274320">
                <a:tc>
                  <a:txBody>
                    <a:bodyPr/>
                    <a:lstStyle/>
                    <a:p>
                      <a:r>
                        <a:rPr sz="1100" b="0">
                          <a:solidFill>
                            <a:srgbClr val="566371"/>
                          </a:solidFill>
                          <a:latin typeface="Segoe UI"/>
                        </a:rPr>
                        <a:t>Kegunaan</a:t>
                      </a:r>
                    </a:p>
                  </a:txBody>
                  <a:tcPr marL="63500" marR="63500" marT="25400" marB="25400">
                    <a:solidFill>
                      <a:srgbClr val="FFFFFF"/>
                    </a:solidFill>
                  </a:tcPr>
                </a:tc>
                <a:tc>
                  <a:txBody>
                    <a:bodyPr/>
                    <a:lstStyle/>
                    <a:p>
                      <a:r>
                        <a:rPr sz="1100" b="0">
                          <a:solidFill>
                            <a:srgbClr val="566371"/>
                          </a:solidFill>
                          <a:latin typeface="Segoe UI"/>
                        </a:rPr>
                        <a:t>Input teks mandiri</a:t>
                      </a:r>
                    </a:p>
                  </a:txBody>
                  <a:tcPr marL="63500" marR="63500" marT="25400" marB="25400">
                    <a:solidFill>
                      <a:srgbClr val="FFFFFF"/>
                    </a:solidFill>
                  </a:tcPr>
                </a:tc>
                <a:tc>
                  <a:txBody>
                    <a:bodyPr/>
                    <a:lstStyle/>
                    <a:p>
                      <a:r>
                        <a:rPr sz="1100" b="0">
                          <a:solidFill>
                            <a:srgbClr val="566371"/>
                          </a:solidFill>
                          <a:latin typeface="Segoe UI"/>
                        </a:rPr>
                        <a:t>Di dalam widget Form, disahkan bersama medan lain</a:t>
                      </a:r>
                    </a:p>
                  </a:txBody>
                  <a:tcPr marL="63500" marR="63500" marT="25400" marB="25400">
                    <a:solidFill>
                      <a:srgbClr val="FFFFFF"/>
                    </a:solidFill>
                  </a:tcPr>
                </a:tc>
              </a:tr>
              <a:tr h="274320">
                <a:tc>
                  <a:txBody>
                    <a:bodyPr/>
                    <a:lstStyle/>
                    <a:p>
                      <a:r>
                        <a:rPr sz="1100" b="0">
                          <a:solidFill>
                            <a:srgbClr val="566371"/>
                          </a:solidFill>
                          <a:latin typeface="Segoe UI"/>
                        </a:rPr>
                        <a:t>Baca nilai</a:t>
                      </a:r>
                    </a:p>
                  </a:txBody>
                  <a:tcPr marL="63500" marR="63500" marT="25400" marB="25400">
                    <a:solidFill>
                      <a:srgbClr val="FFFFFF"/>
                    </a:solidFill>
                  </a:tcPr>
                </a:tc>
                <a:tc>
                  <a:txBody>
                    <a:bodyPr/>
                    <a:lstStyle/>
                    <a:p>
                      <a:r>
                        <a:rPr sz="1100" b="0">
                          <a:solidFill>
                            <a:srgbClr val="566371"/>
                          </a:solidFill>
                          <a:latin typeface="Segoe UI"/>
                        </a:rPr>
                        <a:t>onChanged / TextEditingController</a:t>
                      </a:r>
                    </a:p>
                  </a:txBody>
                  <a:tcPr marL="63500" marR="63500" marT="25400" marB="25400">
                    <a:solidFill>
                      <a:srgbClr val="FFFFFF"/>
                    </a:solidFill>
                  </a:tcPr>
                </a:tc>
                <a:tc>
                  <a:txBody>
                    <a:bodyPr/>
                    <a:lstStyle/>
                    <a:p>
                      <a:r>
                        <a:rPr sz="1100" b="0">
                          <a:solidFill>
                            <a:srgbClr val="566371"/>
                          </a:solidFill>
                          <a:latin typeface="Segoe UI"/>
                        </a:rPr>
                        <a:t>Sama, plus parameter validator</a:t>
                      </a:r>
                    </a:p>
                  </a:txBody>
                  <a:tcPr marL="63500" marR="63500" marT="25400" marB="25400">
                    <a:solidFill>
                      <a:srgbClr val="FFFFFF"/>
                    </a:solidFill>
                  </a:tcPr>
                </a:tc>
              </a:tr>
              <a:tr h="274320">
                <a:tc>
                  <a:txBody>
                    <a:bodyPr/>
                    <a:lstStyle/>
                    <a:p>
                      <a:r>
                        <a:rPr sz="1100" b="0">
                          <a:solidFill>
                            <a:srgbClr val="566371"/>
                          </a:solidFill>
                          <a:latin typeface="Segoe UI"/>
                        </a:rPr>
                        <a:t>Pengesahan terbina</a:t>
                      </a:r>
                    </a:p>
                  </a:txBody>
                  <a:tcPr marL="63500" marR="63500" marT="25400" marB="25400">
                    <a:solidFill>
                      <a:srgbClr val="FFFFFF"/>
                    </a:solidFill>
                  </a:tcPr>
                </a:tc>
                <a:tc>
                  <a:txBody>
                    <a:bodyPr/>
                    <a:lstStyle/>
                    <a:p>
                      <a:r>
                        <a:rPr sz="1100" b="0">
                          <a:solidFill>
                            <a:srgbClr val="566371"/>
                          </a:solidFill>
                          <a:latin typeface="Segoe UI"/>
                        </a:rPr>
                        <a:t>Tiada — uruskan sendiri</a:t>
                      </a:r>
                    </a:p>
                  </a:txBody>
                  <a:tcPr marL="63500" marR="63500" marT="25400" marB="25400">
                    <a:solidFill>
                      <a:srgbClr val="FFFFFF"/>
                    </a:solidFill>
                  </a:tcPr>
                </a:tc>
                <a:tc>
                  <a:txBody>
                    <a:bodyPr/>
                    <a:lstStyle/>
                    <a:p>
                      <a:r>
                        <a:rPr sz="1100" b="0">
                          <a:solidFill>
                            <a:srgbClr val="566371"/>
                          </a:solidFill>
                          <a:latin typeface="Segoe UI"/>
                        </a:rPr>
                        <a:t>Ya — validator: (value) =&gt; …</a:t>
                      </a:r>
                    </a:p>
                  </a:txBody>
                  <a:tcPr marL="63500" marR="63500" marT="25400" marB="25400">
                    <a:solidFill>
                      <a:srgbClr val="FFFFFF"/>
                    </a:solidFill>
                  </a:tcPr>
                </a:tc>
              </a:tr>
            </a:tbl>
          </a:graphicData>
        </a:graphic>
      </p:graphicFrame>
      <p:sp>
        <p:nvSpPr>
          <p:cNvPr id="4" name="Rounded Rectangle 3"/>
          <p:cNvSpPr/>
          <p:nvPr/>
        </p:nvSpPr>
        <p:spPr>
          <a:xfrm>
            <a:off x="640080" y="2276856"/>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2368296"/>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TextField(</a:t>
            </a:r>
          </a:p>
          <a:p>
            <a:pPr>
              <a:lnSpc>
                <a:spcPct val="100000"/>
              </a:lnSpc>
            </a:pPr>
            <a:r>
              <a:rPr sz="1100">
                <a:solidFill>
                  <a:srgbClr val="E6E8EE"/>
                </a:solidFill>
                <a:latin typeface="Consolas"/>
              </a:rPr>
              <a:t>  onChanged: provider.search,</a:t>
            </a:r>
          </a:p>
          <a:p>
            <a:pPr>
              <a:lnSpc>
                <a:spcPct val="100000"/>
              </a:lnSpc>
            </a:pPr>
            <a:r>
              <a:rPr sz="1100">
                <a:solidFill>
                  <a:srgbClr val="E6E8EE"/>
                </a:solidFill>
                <a:latin typeface="Consolas"/>
              </a:rPr>
              <a:t>  decoration: const InputDecoration(</a:t>
            </a:r>
          </a:p>
          <a:p>
            <a:pPr>
              <a:lnSpc>
                <a:spcPct val="100000"/>
              </a:lnSpc>
            </a:pPr>
            <a:r>
              <a:rPr sz="1100">
                <a:solidFill>
                  <a:srgbClr val="E6E8EE"/>
                </a:solidFill>
                <a:latin typeface="Consolas"/>
              </a:rPr>
              <a:t>    hintText: 'Cari universiti, bidang atau negara…',</a:t>
            </a:r>
          </a:p>
          <a:p>
            <a:pPr>
              <a:lnSpc>
                <a:spcPct val="100000"/>
              </a:lnSpc>
            </a:pPr>
            <a:r>
              <a:rPr sz="1100">
                <a:solidFill>
                  <a:srgbClr val="E6E8EE"/>
                </a:solidFill>
                <a:latin typeface="Consolas"/>
              </a:rPr>
              <a:t>    prefixIcon: Icon(Icons.search),</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SESI 5 — Sasaran: Borang Permohonan eTT</a:t>
            </a:r>
          </a:p>
        </p:txBody>
      </p:sp>
      <p:sp>
        <p:nvSpPr>
          <p:cNvPr id="3" name="Rounded Rectangle 2"/>
          <p:cNvSpPr/>
          <p:nvPr/>
        </p:nvSpPr>
        <p:spPr>
          <a:xfrm>
            <a:off x="640080" y="1051560"/>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Medan teks</a:t>
            </a:r>
          </a:p>
        </p:txBody>
      </p:sp>
      <p:sp>
        <p:nvSpPr>
          <p:cNvPr id="5" name="TextBox 4"/>
          <p:cNvSpPr txBox="1"/>
          <p:nvPr/>
        </p:nvSpPr>
        <p:spPr>
          <a:xfrm>
            <a:off x="768096" y="1435608"/>
            <a:ext cx="5108295"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Nama penuh · No. Kad Pengenalan · Emel · Telefon · Ringkasan akademik — semua dengan validator</a:t>
            </a:r>
          </a:p>
        </p:txBody>
      </p:sp>
      <p:sp>
        <p:nvSpPr>
          <p:cNvPr id="6" name="Rounded Rectangle 5"/>
          <p:cNvSpPr/>
          <p:nvPr/>
        </p:nvSpPr>
        <p:spPr>
          <a:xfrm>
            <a:off x="6187287" y="1051560"/>
            <a:ext cx="5364327"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315303" y="1143000"/>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Peraturan eTT</a:t>
            </a:r>
          </a:p>
        </p:txBody>
      </p:sp>
      <p:sp>
        <p:nvSpPr>
          <p:cNvPr id="8" name="TextBox 7"/>
          <p:cNvSpPr txBox="1"/>
          <p:nvPr/>
        </p:nvSpPr>
        <p:spPr>
          <a:xfrm>
            <a:off x="6315303" y="1435608"/>
            <a:ext cx="5108295"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1 negara + 1 bidang setiap permohonan; dalam bidang itu, sehingga 3 pilihan universiti</a:t>
            </a:r>
          </a:p>
        </p:txBody>
      </p:sp>
      <p:sp>
        <p:nvSpPr>
          <p:cNvPr id="9" name="Rounded Rectangle 8"/>
          <p:cNvSpPr/>
          <p:nvPr/>
        </p:nvSpPr>
        <p:spPr>
          <a:xfrm>
            <a:off x="640080" y="2167128"/>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2258568"/>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Senarai semak dokumen</a:t>
            </a:r>
          </a:p>
        </p:txBody>
      </p:sp>
      <p:sp>
        <p:nvSpPr>
          <p:cNvPr id="11" name="TextBox 10"/>
          <p:cNvSpPr txBox="1"/>
          <p:nvPr/>
        </p:nvSpPr>
        <p:spPr>
          <a:xfrm>
            <a:off x="768096" y="2551176"/>
            <a:ext cx="5108295"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6 dokumen eTT (Borang Permohonan, Sijil SPM/STAM, Slip JomPAY…) — CheckboxListTile</a:t>
            </a:r>
          </a:p>
        </p:txBody>
      </p:sp>
      <p:sp>
        <p:nvSpPr>
          <p:cNvPr id="12" name="Rounded Rectangle 11"/>
          <p:cNvSpPr/>
          <p:nvPr/>
        </p:nvSpPr>
        <p:spPr>
          <a:xfrm>
            <a:off x="6187287" y="2167128"/>
            <a:ext cx="5364327"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15303" y="2258568"/>
            <a:ext cx="5108295"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Enjin di belakang</a:t>
            </a:r>
          </a:p>
        </p:txBody>
      </p:sp>
      <p:sp>
        <p:nvSpPr>
          <p:cNvPr id="14" name="TextBox 13"/>
          <p:cNvSpPr txBox="1"/>
          <p:nvPr/>
        </p:nvSpPr>
        <p:spPr>
          <a:xfrm>
            <a:off x="6315303" y="2551176"/>
            <a:ext cx="5108295" cy="475488"/>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Form + GlobalKey&lt;FormState&gt; + TextEditingController + setState()</a:t>
            </a:r>
          </a:p>
        </p:txBody>
      </p:sp>
      <p:sp>
        <p:nvSpPr>
          <p:cNvPr id="15" name="TextBox 1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Kenapa Borang = StatefulWidget?</a:t>
            </a:r>
          </a:p>
        </p:txBody>
      </p:sp>
      <p:sp>
        <p:nvSpPr>
          <p:cNvPr id="3" name="Rounded Rectangle 2"/>
          <p:cNvSpPr/>
          <p:nvPr/>
        </p:nvSpPr>
        <p:spPr>
          <a:xfrm>
            <a:off x="640080" y="1051560"/>
            <a:ext cx="10911535" cy="282549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64261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lib/screens/application_form_screen.dart</a:t>
            </a:r>
          </a:p>
          <a:p>
            <a:pPr>
              <a:lnSpc>
                <a:spcPct val="100000"/>
              </a:lnSpc>
            </a:pPr>
            <a:r>
              <a:rPr sz="1100">
                <a:solidFill>
                  <a:srgbClr val="E6E8EE"/>
                </a:solidFill>
                <a:latin typeface="Consolas"/>
              </a:rPr>
              <a:t>class ApplicationFormScreen extends StatefulWidget {</a:t>
            </a:r>
          </a:p>
          <a:p>
            <a:pPr>
              <a:lnSpc>
                <a:spcPct val="100000"/>
              </a:lnSpc>
            </a:pPr>
            <a:r>
              <a:rPr sz="1100">
                <a:solidFill>
                  <a:srgbClr val="E6E8EE"/>
                </a:solidFill>
                <a:latin typeface="Consolas"/>
              </a:rPr>
              <a:t>  const ApplicationFormScreen({super.key, required this.programme});</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 Tawaran dipilih dari skrin butiran — menetapkan</a:t>
            </a:r>
          </a:p>
          <a:p>
            <a:pPr>
              <a:lnSpc>
                <a:spcPct val="100000"/>
              </a:lnSpc>
            </a:pPr>
            <a:r>
              <a:rPr sz="1100">
                <a:solidFill>
                  <a:srgbClr val="E6E8EE"/>
                </a:solidFill>
                <a:latin typeface="Consolas"/>
              </a:rPr>
              <a:t>  /// negara &amp; bidang awal serta pilihan universiti pertama.</a:t>
            </a:r>
          </a:p>
          <a:p>
            <a:pPr>
              <a:lnSpc>
                <a:spcPct val="100000"/>
              </a:lnSpc>
            </a:pPr>
            <a:r>
              <a:rPr sz="1100">
                <a:solidFill>
                  <a:srgbClr val="E6E8EE"/>
                </a:solidFill>
                <a:latin typeface="Consolas"/>
              </a:rPr>
              <a:t>  final Programme programme;</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@override</a:t>
            </a:r>
          </a:p>
          <a:p>
            <a:pPr>
              <a:lnSpc>
                <a:spcPct val="100000"/>
              </a:lnSpc>
            </a:pPr>
            <a:r>
              <a:rPr sz="1100">
                <a:solidFill>
                  <a:srgbClr val="E6E8EE"/>
                </a:solidFill>
                <a:latin typeface="Consolas"/>
              </a:rPr>
              <a:t>  State&lt;ApplicationFormScreen&gt; createState() =&gt;</a:t>
            </a:r>
          </a:p>
          <a:p>
            <a:pPr>
              <a:lnSpc>
                <a:spcPct val="100000"/>
              </a:lnSpc>
            </a:pPr>
            <a:r>
              <a:rPr sz="1100">
                <a:solidFill>
                  <a:srgbClr val="E6E8EE"/>
                </a:solidFill>
                <a:latin typeface="Consolas"/>
              </a:rPr>
              <a:t>      _ApplicationFormScreenState();</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804671" y="398678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Borang perlu mengingati teks ditaip, pilihan dropdown &amp; senarai semak — nilai ini berubah sepanjang hayat skrin</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Kunci &amp; Controller</a:t>
            </a:r>
          </a:p>
        </p:txBody>
      </p:sp>
      <p:sp>
        <p:nvSpPr>
          <p:cNvPr id="3" name="Rounded Rectangle 2"/>
          <p:cNvSpPr/>
          <p:nvPr/>
        </p:nvSpPr>
        <p:spPr>
          <a:xfrm>
            <a:off x="640080" y="1051560"/>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final _formKey = GlobalKey&lt;FormState&gt;();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final _nameCtrl = TextEditingController();</a:t>
            </a:r>
          </a:p>
          <a:p>
            <a:pPr>
              <a:lnSpc>
                <a:spcPct val="100000"/>
              </a:lnSpc>
            </a:pPr>
            <a:r>
              <a:rPr sz="1100">
                <a:solidFill>
                  <a:srgbClr val="E6E8EE"/>
                </a:solidFill>
                <a:latin typeface="Consolas"/>
              </a:rPr>
              <a:t>final _icCtrl = TextEditingController();</a:t>
            </a:r>
          </a:p>
          <a:p>
            <a:pPr>
              <a:lnSpc>
                <a:spcPct val="100000"/>
              </a:lnSpc>
            </a:pPr>
            <a:r>
              <a:rPr sz="1100">
                <a:solidFill>
                  <a:srgbClr val="E6E8EE"/>
                </a:solidFill>
                <a:latin typeface="Consolas"/>
              </a:rPr>
              <a:t>final _emailCtrl = TextEditingController();</a:t>
            </a:r>
          </a:p>
          <a:p>
            <a:pPr>
              <a:lnSpc>
                <a:spcPct val="100000"/>
              </a:lnSpc>
            </a:pPr>
            <a:r>
              <a:rPr sz="1100">
                <a:solidFill>
                  <a:srgbClr val="E6E8EE"/>
                </a:solidFill>
                <a:latin typeface="Consolas"/>
              </a:rPr>
              <a:t>final _phoneCtrl = TextEditingController();</a:t>
            </a:r>
          </a:p>
          <a:p>
            <a:pPr>
              <a:lnSpc>
                <a:spcPct val="100000"/>
              </a:lnSpc>
            </a:pPr>
            <a:r>
              <a:rPr sz="1100">
                <a:solidFill>
                  <a:srgbClr val="E6E8EE"/>
                </a:solidFill>
                <a:latin typeface="Consolas"/>
              </a:rPr>
              <a:t>final _academicCtrl = TextEditingController();</a:t>
            </a:r>
          </a:p>
          <a:p>
            <a:pPr>
              <a:lnSpc>
                <a:spcPct val="100000"/>
              </a:lnSpc>
            </a:pPr>
            <a:r>
              <a:rPr sz="1100">
                <a:solidFill>
                  <a:srgbClr val="E6E8EE"/>
                </a:solidFill>
                <a:latin typeface="Consolas"/>
              </a:rPr>
              <a:t>  </a:t>
            </a:r>
          </a:p>
        </p:txBody>
      </p:sp>
      <p:sp>
        <p:nvSpPr>
          <p:cNvPr id="5" name="TextBox 4"/>
          <p:cNvSpPr txBox="1"/>
          <p:nvPr/>
        </p:nvSpPr>
        <p:spPr>
          <a:xfrm>
            <a:off x="804671" y="304952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GlobalKey&lt;FormState&gt; — pintu untuk panggil validate() pada seluruh Form</a:t>
            </a:r>
          </a:p>
        </p:txBody>
      </p:sp>
      <p:sp>
        <p:nvSpPr>
          <p:cNvPr id="6" name="TextBox 5"/>
          <p:cNvSpPr txBox="1"/>
          <p:nvPr/>
        </p:nvSpPr>
        <p:spPr>
          <a:xfrm>
            <a:off x="804671" y="327355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Satu TextEditingController bagi setiap medan teks</a:t>
            </a:r>
          </a:p>
        </p:txBody>
      </p:sp>
      <p:sp>
        <p:nvSpPr>
          <p:cNvPr id="7" name="TextBox 6"/>
          <p:cNvSpPr txBox="1"/>
          <p:nvPr/>
        </p:nvSpPr>
        <p:spPr>
          <a:xfrm>
            <a:off x="804671" y="349758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Pilihan dropdown &amp; senarai semak disimpan sebagai pembolehubah State biasa: _country, _fieldOfStudy, _choice1/2/3, _documents</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Kitaran Hayat Controller: initState &amp; dispose</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@override</a:t>
            </a:r>
          </a:p>
          <a:p>
            <a:pPr>
              <a:lnSpc>
                <a:spcPct val="100000"/>
              </a:lnSpc>
            </a:pPr>
            <a:r>
              <a:rPr sz="1100">
                <a:solidFill>
                  <a:srgbClr val="E6E8EE"/>
                </a:solidFill>
                <a:latin typeface="Consolas"/>
              </a:rPr>
              <a:t>void initState() {</a:t>
            </a:r>
          </a:p>
          <a:p>
            <a:pPr>
              <a:lnSpc>
                <a:spcPct val="100000"/>
              </a:lnSpc>
            </a:pPr>
            <a:r>
              <a:rPr sz="1100">
                <a:solidFill>
                  <a:srgbClr val="E6E8EE"/>
                </a:solidFill>
                <a:latin typeface="Consolas"/>
              </a:rPr>
              <a:t>  super.initState();</a:t>
            </a:r>
          </a:p>
          <a:p>
            <a:pPr>
              <a:lnSpc>
                <a:spcPct val="100000"/>
              </a:lnSpc>
            </a:pPr>
            <a:r>
              <a:rPr sz="1100">
                <a:solidFill>
                  <a:srgbClr val="E6E8EE"/>
                </a:solidFill>
                <a:latin typeface="Consolas"/>
              </a:rPr>
              <a:t>  _country = widget.programme.country;</a:t>
            </a:r>
          </a:p>
          <a:p>
            <a:pPr>
              <a:lnSpc>
                <a:spcPct val="100000"/>
              </a:lnSpc>
            </a:pPr>
            <a:r>
              <a:rPr sz="1100">
                <a:solidFill>
                  <a:srgbClr val="E6E8EE"/>
                </a:solidFill>
                <a:latin typeface="Consolas"/>
              </a:rPr>
              <a:t>  _fieldOfStudy = widget.programme.fieldOfStudy;</a:t>
            </a:r>
          </a:p>
          <a:p>
            <a:pPr>
              <a:lnSpc>
                <a:spcPct val="100000"/>
              </a:lnSpc>
            </a:pPr>
            <a:r>
              <a:rPr sz="1100">
                <a:solidFill>
                  <a:srgbClr val="E6E8EE"/>
                </a:solidFill>
                <a:latin typeface="Consolas"/>
              </a:rPr>
              <a:t>  _choice1 = widget.programme.id;</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@override</a:t>
            </a:r>
          </a:p>
          <a:p>
            <a:pPr>
              <a:lnSpc>
                <a:spcPct val="100000"/>
              </a:lnSpc>
            </a:pPr>
            <a:r>
              <a:rPr sz="1100">
                <a:solidFill>
                  <a:srgbClr val="E6E8EE"/>
                </a:solidFill>
                <a:latin typeface="Consolas"/>
              </a:rPr>
              <a:t>void dispose() {</a:t>
            </a:r>
          </a:p>
          <a:p>
            <a:pPr>
              <a:lnSpc>
                <a:spcPct val="100000"/>
              </a:lnSpc>
            </a:pPr>
            <a:r>
              <a:rPr sz="1100">
                <a:solidFill>
                  <a:srgbClr val="E6E8EE"/>
                </a:solidFill>
                <a:latin typeface="Consolas"/>
              </a:rPr>
              <a:t>  _nameCtrl.dispose();</a:t>
            </a:r>
          </a:p>
          <a:p>
            <a:pPr>
              <a:lnSpc>
                <a:spcPct val="100000"/>
              </a:lnSpc>
            </a:pPr>
            <a:r>
              <a:rPr sz="1100">
                <a:solidFill>
                  <a:srgbClr val="E6E8EE"/>
                </a:solidFill>
                <a:latin typeface="Consolas"/>
              </a:rPr>
              <a:t>  _icCtrl.dispose();</a:t>
            </a:r>
          </a:p>
          <a:p>
            <a:pPr>
              <a:lnSpc>
                <a:spcPct val="100000"/>
              </a:lnSpc>
            </a:pPr>
            <a:r>
              <a:rPr sz="1100">
                <a:solidFill>
                  <a:srgbClr val="E6E8EE"/>
                </a:solidFill>
                <a:latin typeface="Consolas"/>
              </a:rPr>
              <a:t>  _emailCtrl.dispose();</a:t>
            </a:r>
          </a:p>
          <a:p>
            <a:pPr>
              <a:lnSpc>
                <a:spcPct val="100000"/>
              </a:lnSpc>
            </a:pPr>
            <a:r>
              <a:rPr sz="1100">
                <a:solidFill>
                  <a:srgbClr val="E6E8EE"/>
                </a:solidFill>
                <a:latin typeface="Consolas"/>
              </a:rPr>
              <a:t>  _phoneCtrl.dispose();</a:t>
            </a:r>
          </a:p>
          <a:p>
            <a:pPr>
              <a:lnSpc>
                <a:spcPct val="100000"/>
              </a:lnSpc>
            </a:pPr>
            <a:r>
              <a:rPr sz="1100">
                <a:solidFill>
                  <a:srgbClr val="E6E8EE"/>
                </a:solidFill>
                <a:latin typeface="Consolas"/>
              </a:rPr>
              <a:t>  _academicCtrl.dispose();</a:t>
            </a:r>
          </a:p>
          <a:p>
            <a:pPr>
              <a:lnSpc>
                <a:spcPct val="100000"/>
              </a:lnSpc>
            </a:pPr>
            <a:r>
              <a:rPr sz="1100">
                <a:solidFill>
                  <a:srgbClr val="E6E8EE"/>
                </a:solidFill>
                <a:latin typeface="Consolas"/>
              </a:rPr>
              <a:t>  super.dispose();</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Kenapa dispose() Penting?</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TextEditingController memegang sumber sistem — listener, buffer teks</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Lupa .dispose() → bocor memori (memory leak) — controller kekal dalam ingatan walaupun skrin sudah ditutup</a:t>
            </a:r>
          </a:p>
        </p:txBody>
      </p:sp>
      <p:sp>
        <p:nvSpPr>
          <p:cNvPr id="5" name="Rounded Rectangle 4"/>
          <p:cNvSpPr/>
          <p:nvPr/>
        </p:nvSpPr>
        <p:spPr>
          <a:xfrm>
            <a:off x="640080" y="1572768"/>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1572768"/>
            <a:ext cx="54864" cy="42062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45920"/>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Peraturan mudah: setiap Controller yang dicipta dalam State, mesti di-dispose().</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TextFormField + validator</a:t>
            </a:r>
          </a:p>
        </p:txBody>
      </p:sp>
      <p:sp>
        <p:nvSpPr>
          <p:cNvPr id="3" name="Rounded Rectangle 2"/>
          <p:cNvSpPr/>
          <p:nvPr/>
        </p:nvSpPr>
        <p:spPr>
          <a:xfrm>
            <a:off x="640080" y="1051560"/>
            <a:ext cx="10911535" cy="282549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64261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TextFormField(</a:t>
            </a:r>
          </a:p>
          <a:p>
            <a:pPr>
              <a:lnSpc>
                <a:spcPct val="100000"/>
              </a:lnSpc>
            </a:pPr>
            <a:r>
              <a:rPr sz="1100">
                <a:solidFill>
                  <a:srgbClr val="E6E8EE"/>
                </a:solidFill>
                <a:latin typeface="Consolas"/>
              </a:rPr>
              <a:t>  controller: _icCtrl,</a:t>
            </a:r>
          </a:p>
          <a:p>
            <a:pPr>
              <a:lnSpc>
                <a:spcPct val="100000"/>
              </a:lnSpc>
            </a:pPr>
            <a:r>
              <a:rPr sz="1100">
                <a:solidFill>
                  <a:srgbClr val="E6E8EE"/>
                </a:solidFill>
                <a:latin typeface="Consolas"/>
              </a:rPr>
              <a:t>  keyboardType: TextInputType.number,</a:t>
            </a:r>
          </a:p>
          <a:p>
            <a:pPr>
              <a:lnSpc>
                <a:spcPct val="100000"/>
              </a:lnSpc>
            </a:pPr>
            <a:r>
              <a:rPr sz="1100">
                <a:solidFill>
                  <a:srgbClr val="E6E8EE"/>
                </a:solidFill>
                <a:latin typeface="Consolas"/>
              </a:rPr>
              <a:t>  inputFormatters: [</a:t>
            </a:r>
          </a:p>
          <a:p>
            <a:pPr>
              <a:lnSpc>
                <a:spcPct val="100000"/>
              </a:lnSpc>
            </a:pPr>
            <a:r>
              <a:rPr sz="1100">
                <a:solidFill>
                  <a:srgbClr val="E6E8EE"/>
                </a:solidFill>
                <a:latin typeface="Consolas"/>
              </a:rPr>
              <a:t>    FilteringTextInputFormatter.allow(RegExp(r'[0-9-]')),</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decoration: const InputDecoration(</a:t>
            </a:r>
          </a:p>
          <a:p>
            <a:pPr>
              <a:lnSpc>
                <a:spcPct val="100000"/>
              </a:lnSpc>
            </a:pPr>
            <a:r>
              <a:rPr sz="1100">
                <a:solidFill>
                  <a:srgbClr val="E6E8EE"/>
                </a:solidFill>
                <a:latin typeface="Consolas"/>
              </a:rPr>
              <a:t>    labelText: 'No. Kad Pengenalan',</a:t>
            </a:r>
          </a:p>
          <a:p>
            <a:pPr>
              <a:lnSpc>
                <a:spcPct val="100000"/>
              </a:lnSpc>
            </a:pPr>
            <a:r>
              <a:rPr sz="1100">
                <a:solidFill>
                  <a:srgbClr val="E6E8EE"/>
                </a:solidFill>
                <a:latin typeface="Consolas"/>
              </a:rPr>
              <a:t>    hintText: '051231-14-5678',</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validator: validateIcNumber,</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804671" y="398678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inputFormatters — sekat aksara tak sah sejak awal (huruf tak boleh ditaip)</a:t>
            </a:r>
          </a:p>
        </p:txBody>
      </p:sp>
      <p:sp>
        <p:nvSpPr>
          <p:cNvPr id="6" name="TextBox 5"/>
          <p:cNvSpPr txBox="1"/>
          <p:nvPr/>
        </p:nvSpPr>
        <p:spPr>
          <a:xfrm>
            <a:off x="804671" y="421081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validator — semak nilai akhir bila validate() dipanggil</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Lima Validator… Kerja Berulang</a:t>
            </a:r>
          </a:p>
        </p:txBody>
      </p:sp>
      <p:sp>
        <p:nvSpPr>
          <p:cNvPr id="3" name="TextBox 2"/>
          <p:cNvSpPr txBox="1"/>
          <p:nvPr/>
        </p:nvSpPr>
        <p:spPr>
          <a:xfrm>
            <a:off x="640080" y="1051560"/>
            <a:ext cx="10911535" cy="493776"/>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Borang ini perlukan validator untuk fullName, icNumber, email, phoneNumber &amp; academicSummary — menulis semuanya dari kosong agak leceh, terutamanya regex IC &amp; emel. Minta AI jana draf pertama:</a:t>
            </a:r>
          </a:p>
        </p:txBody>
      </p:sp>
      <p:sp>
        <p:nvSpPr>
          <p:cNvPr id="4" name="Rounded Rectangle 3"/>
          <p:cNvSpPr/>
          <p:nvPr/>
        </p:nvSpPr>
        <p:spPr>
          <a:xfrm>
            <a:off x="640080" y="1618488"/>
            <a:ext cx="10911535" cy="170078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709928"/>
            <a:ext cx="10655503" cy="151790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Tulis dua fungsi validator standalone Dart (TIADA import package:flutter),</a:t>
            </a:r>
          </a:p>
          <a:p>
            <a:pPr>
              <a:lnSpc>
                <a:spcPct val="100000"/>
              </a:lnSpc>
            </a:pPr>
            <a:r>
              <a:rPr sz="1100">
                <a:solidFill>
                  <a:srgbClr val="E6E8EE"/>
                </a:solidFill>
                <a:latin typeface="Consolas"/>
              </a:rPr>
              <a:t>tandatangan `String? Function(String?)` untuk TextFormField:</a:t>
            </a:r>
          </a:p>
          <a:p>
            <a:pPr>
              <a:lnSpc>
                <a:spcPct val="100000"/>
              </a:lnSpc>
            </a:pPr>
            <a:r>
              <a:rPr sz="1100">
                <a:solidFill>
                  <a:srgbClr val="E6E8EE"/>
                </a:solidFill>
                <a:latin typeface="Consolas"/>
              </a:rPr>
              <a:t>1. validateIcNumber — No. KP Malaysia, format 051231-14-5678,</a:t>
            </a:r>
          </a:p>
          <a:p>
            <a:pPr>
              <a:lnSpc>
                <a:spcPct val="100000"/>
              </a:lnSpc>
            </a:pPr>
            <a:r>
              <a:rPr sz="1100">
                <a:solidFill>
                  <a:srgbClr val="E6E8EE"/>
                </a:solidFill>
                <a:latin typeface="Consolas"/>
              </a:rPr>
              <a:t>   mesti tepat 12 digit selepas sengkang dibuang.</a:t>
            </a:r>
          </a:p>
          <a:p>
            <a:pPr>
              <a:lnSpc>
                <a:spcPct val="100000"/>
              </a:lnSpc>
            </a:pPr>
            <a:r>
              <a:rPr sz="1100">
                <a:solidFill>
                  <a:srgbClr val="E6E8EE"/>
                </a:solidFill>
                <a:latin typeface="Consolas"/>
              </a:rPr>
              <a:t>2. validateEmail — format asas nama@domain.hujung.</a:t>
            </a:r>
          </a:p>
          <a:p>
            <a:pPr>
              <a:lnSpc>
                <a:spcPct val="100000"/>
              </a:lnSpc>
            </a:pPr>
            <a:r>
              <a:rPr sz="1100">
                <a:solidFill>
                  <a:srgbClr val="E6E8EE"/>
                </a:solidFill>
                <a:latin typeface="Consolas"/>
              </a:rPr>
              <a:t>Semua mesej ralat dalam Bahasa Melayu.</a:t>
            </a:r>
          </a:p>
          <a:p>
            <a:pPr>
              <a:lnSpc>
                <a:spcPct val="100000"/>
              </a:lnSpc>
            </a:pPr>
            <a:r>
              <a:rPr sz="1100">
                <a:solidFill>
                  <a:srgbClr val="E6E8EE"/>
                </a:solidFill>
                <a:latin typeface="Consolas"/>
              </a:rPr>
              <a:t>  </a:t>
            </a:r>
          </a:p>
        </p:txBody>
      </p:sp>
      <p:sp>
        <p:nvSpPr>
          <p:cNvPr id="6" name="TextBox 5"/>
          <p:cNvSpPr txBox="1"/>
          <p:nvPr/>
        </p:nvSpPr>
        <p:spPr>
          <a:xfrm>
            <a:off x="640080" y="3429000"/>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Kemudian uji kes tepi &amp; jalankan dart analyze sebelum terima — draf pertama selalunya ada pepijat halus.</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Uji Draf AI Dengan Kes Tepi</a:t>
            </a:r>
          </a:p>
        </p:txBody>
      </p:sp>
      <p:sp>
        <p:nvSpPr>
          <p:cNvPr id="3" name="Rounded Rectangle 2"/>
          <p:cNvSpPr/>
          <p:nvPr/>
        </p:nvSpPr>
        <p:spPr>
          <a:xfrm>
            <a:off x="640080" y="1051560"/>
            <a:ext cx="10911535" cy="170078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51790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Draf AI — kelihatan betul…</a:t>
            </a:r>
          </a:p>
          <a:p>
            <a:pPr>
              <a:lnSpc>
                <a:spcPct val="100000"/>
              </a:lnSpc>
            </a:pPr>
            <a:r>
              <a:rPr sz="1100">
                <a:solidFill>
                  <a:srgbClr val="E6E8EE"/>
                </a:solidFill>
                <a:latin typeface="Consolas"/>
              </a:rPr>
              <a:t>String? validateIcNumber(String? value) {</a:t>
            </a:r>
          </a:p>
          <a:p>
            <a:pPr>
              <a:lnSpc>
                <a:spcPct val="100000"/>
              </a:lnSpc>
            </a:pPr>
            <a:r>
              <a:rPr sz="1100">
                <a:solidFill>
                  <a:srgbClr val="E6E8EE"/>
                </a:solidFill>
                <a:latin typeface="Consolas"/>
              </a:rPr>
              <a:t>  if (value == null || value.isEmpty) return 'No. KP diperlukan';</a:t>
            </a:r>
          </a:p>
          <a:p>
            <a:pPr>
              <a:lnSpc>
                <a:spcPct val="100000"/>
              </a:lnSpc>
            </a:pPr>
            <a:r>
              <a:rPr sz="1100">
                <a:solidFill>
                  <a:srgbClr val="E6E8EE"/>
                </a:solidFill>
                <a:latin typeface="Consolas"/>
              </a:rPr>
              <a:t>  if (value.length != 12) return 'No. KP mesti 12 digit'; // pepijat!</a:t>
            </a:r>
          </a:p>
          <a:p>
            <a:pPr>
              <a:lnSpc>
                <a:spcPct val="100000"/>
              </a:lnSpc>
            </a:pPr>
            <a:r>
              <a:rPr sz="1100">
                <a:solidFill>
                  <a:srgbClr val="E6E8EE"/>
                </a:solidFill>
                <a:latin typeface="Consolas"/>
              </a:rPr>
              <a:t>  return null;</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graphicFrame>
        <p:nvGraphicFramePr>
          <p:cNvPr id="5" name="Table 4"/>
          <p:cNvGraphicFramePr>
            <a:graphicFrameLocks noGrp="1"/>
          </p:cNvGraphicFramePr>
          <p:nvPr/>
        </p:nvGraphicFramePr>
        <p:xfrm>
          <a:off x="640080" y="2862072"/>
          <a:ext cx="10911535" cy="109728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r>
                        <a:rPr sz="1100" b="1">
                          <a:solidFill>
                            <a:srgbClr val="FFFFFF"/>
                          </a:solidFill>
                          <a:latin typeface="Segoe UI"/>
                        </a:rPr>
                        <a:t>Input</a:t>
                      </a:r>
                    </a:p>
                  </a:txBody>
                  <a:tcPr marL="63500" marR="63500" marT="25400" marB="25400">
                    <a:solidFill>
                      <a:srgbClr val="1A2B5C"/>
                    </a:solidFill>
                  </a:tcPr>
                </a:tc>
                <a:tc>
                  <a:txBody>
                    <a:bodyPr/>
                    <a:lstStyle/>
                    <a:p>
                      <a:r>
                        <a:rPr sz="1100" b="1">
                          <a:solidFill>
                            <a:srgbClr val="FFFFFF"/>
                          </a:solidFill>
                          <a:latin typeface="Segoe UI"/>
                        </a:rPr>
                        <a:t>Sepatutnya</a:t>
                      </a:r>
                    </a:p>
                  </a:txBody>
                  <a:tcPr marL="63500" marR="63500" marT="25400" marB="25400">
                    <a:solidFill>
                      <a:srgbClr val="1A2B5C"/>
                    </a:solidFill>
                  </a:tcPr>
                </a:tc>
                <a:tc>
                  <a:txBody>
                    <a:bodyPr/>
                    <a:lstStyle/>
                    <a:p>
                      <a:r>
                        <a:rPr sz="1100" b="1">
                          <a:solidFill>
                            <a:srgbClr val="FFFFFF"/>
                          </a:solidFill>
                          <a:latin typeface="Segoe UI"/>
                        </a:rPr>
                        <a:t>Draf AI</a:t>
                      </a:r>
                    </a:p>
                  </a:txBody>
                  <a:tcPr marL="63500" marR="63500" marT="25400" marB="25400">
                    <a:solidFill>
                      <a:srgbClr val="1A2B5C"/>
                    </a:solidFill>
                  </a:tcPr>
                </a:tc>
              </a:tr>
              <a:tr h="274320">
                <a:tc>
                  <a:txBody>
                    <a:bodyPr/>
                    <a:lstStyle/>
                    <a:p>
                      <a:r>
                        <a:rPr sz="1100" b="0">
                          <a:solidFill>
                            <a:srgbClr val="566371"/>
                          </a:solidFill>
                          <a:latin typeface="Segoe UI"/>
                        </a:rPr>
                        <a:t>"051231145678" (12 digit)</a:t>
                      </a:r>
                    </a:p>
                  </a:txBody>
                  <a:tcPr marL="63500" marR="63500" marT="25400" marB="25400">
                    <a:solidFill>
                      <a:srgbClr val="FFFFFF"/>
                    </a:solidFill>
                  </a:tcPr>
                </a:tc>
                <a:tc>
                  <a:txBody>
                    <a:bodyPr/>
                    <a:lstStyle/>
                    <a:p>
                      <a:r>
                        <a:rPr sz="1100" b="0">
                          <a:solidFill>
                            <a:srgbClr val="566371"/>
                          </a:solidFill>
                          <a:latin typeface="Segoe UI"/>
                        </a:rPr>
                        <a:t>✅ sah</a:t>
                      </a:r>
                    </a:p>
                  </a:txBody>
                  <a:tcPr marL="63500" marR="63500" marT="25400" marB="25400">
                    <a:solidFill>
                      <a:srgbClr val="FFFFFF"/>
                    </a:solidFill>
                  </a:tcPr>
                </a:tc>
                <a:tc>
                  <a:txBody>
                    <a:bodyPr/>
                    <a:lstStyle/>
                    <a:p>
                      <a:r>
                        <a:rPr sz="1100" b="0">
                          <a:solidFill>
                            <a:srgbClr val="566371"/>
                          </a:solidFill>
                          <a:latin typeface="Segoe UI"/>
                        </a:rPr>
                        <a:t>✅ sah</a:t>
                      </a:r>
                    </a:p>
                  </a:txBody>
                  <a:tcPr marL="63500" marR="63500" marT="25400" marB="25400">
                    <a:solidFill>
                      <a:srgbClr val="FFFFFF"/>
                    </a:solidFill>
                  </a:tcPr>
                </a:tc>
              </a:tr>
              <a:tr h="274320">
                <a:tc>
                  <a:txBody>
                    <a:bodyPr/>
                    <a:lstStyle/>
                    <a:p>
                      <a:r>
                        <a:rPr sz="1100" b="0">
                          <a:solidFill>
                            <a:srgbClr val="566371"/>
                          </a:solidFill>
                          <a:latin typeface="Segoe UI"/>
                        </a:rPr>
                        <a:t>"051231-14-5678" (14 aksara)</a:t>
                      </a:r>
                    </a:p>
                  </a:txBody>
                  <a:tcPr marL="63500" marR="63500" marT="25400" marB="25400">
                    <a:solidFill>
                      <a:srgbClr val="FFFFFF"/>
                    </a:solidFill>
                  </a:tcPr>
                </a:tc>
                <a:tc>
                  <a:txBody>
                    <a:bodyPr/>
                    <a:lstStyle/>
                    <a:p>
                      <a:r>
                        <a:rPr sz="1100" b="0">
                          <a:solidFill>
                            <a:srgbClr val="566371"/>
                          </a:solidFill>
                          <a:latin typeface="Segoe UI"/>
                        </a:rPr>
                        <a:t>✅ sah</a:t>
                      </a:r>
                    </a:p>
                  </a:txBody>
                  <a:tcPr marL="63500" marR="63500" marT="25400" marB="25400">
                    <a:solidFill>
                      <a:srgbClr val="FFFFFF"/>
                    </a:solidFill>
                  </a:tcPr>
                </a:tc>
                <a:tc>
                  <a:txBody>
                    <a:bodyPr/>
                    <a:lstStyle/>
                    <a:p>
                      <a:r>
                        <a:rPr sz="1100" b="0">
                          <a:solidFill>
                            <a:srgbClr val="566371"/>
                          </a:solidFill>
                          <a:latin typeface="Segoe UI"/>
                        </a:rPr>
                        <a:t>❌ ditolak — sengkang dikira sekali!</a:t>
                      </a:r>
                    </a:p>
                  </a:txBody>
                  <a:tcPr marL="63500" marR="63500" marT="25400" marB="25400">
                    <a:solidFill>
                      <a:srgbClr val="FFFFFF"/>
                    </a:solidFill>
                  </a:tcPr>
                </a:tc>
              </a:tr>
              <a:tr h="274320">
                <a:tc>
                  <a:txBody>
                    <a:bodyPr/>
                    <a:lstStyle/>
                    <a:p>
                      <a:r>
                        <a:rPr sz="1100" b="0">
                          <a:solidFill>
                            <a:srgbClr val="566371"/>
                          </a:solidFill>
                          <a:latin typeface="Segoe UI"/>
                        </a:rPr>
                        <a:t>"12345678901a" (ada huruf)</a:t>
                      </a:r>
                    </a:p>
                  </a:txBody>
                  <a:tcPr marL="63500" marR="63500" marT="25400" marB="25400">
                    <a:solidFill>
                      <a:srgbClr val="FFFFFF"/>
                    </a:solidFill>
                  </a:tcPr>
                </a:tc>
                <a:tc>
                  <a:txBody>
                    <a:bodyPr/>
                    <a:lstStyle/>
                    <a:p>
                      <a:r>
                        <a:rPr sz="1100" b="0">
                          <a:solidFill>
                            <a:srgbClr val="566371"/>
                          </a:solidFill>
                          <a:latin typeface="Segoe UI"/>
                        </a:rPr>
                        <a:t>❌ tak sah</a:t>
                      </a:r>
                    </a:p>
                  </a:txBody>
                  <a:tcPr marL="63500" marR="63500" marT="25400" marB="25400">
                    <a:solidFill>
                      <a:srgbClr val="FFFFFF"/>
                    </a:solidFill>
                  </a:tcPr>
                </a:tc>
                <a:tc>
                  <a:txBody>
                    <a:bodyPr/>
                    <a:lstStyle/>
                    <a:p>
                      <a:r>
                        <a:rPr sz="1100" b="0">
                          <a:solidFill>
                            <a:srgbClr val="566371"/>
                          </a:solidFill>
                          <a:latin typeface="Segoe UI"/>
                        </a:rPr>
                        <a:t>✅ diterima — jenis aksara tak disemak</a:t>
                      </a:r>
                    </a:p>
                  </a:txBody>
                  <a:tcPr marL="63500" marR="63500" marT="25400" marB="25400">
                    <a:solidFill>
                      <a:srgbClr val="FFFFFF"/>
                    </a:solidFill>
                  </a:tcPr>
                </a:tc>
              </a:tr>
            </a:tbl>
          </a:graphicData>
        </a:graphic>
      </p:graphicFrame>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Versi Yang Telah Disemak</a:t>
            </a:r>
          </a:p>
        </p:txBody>
      </p:sp>
      <p:sp>
        <p:nvSpPr>
          <p:cNvPr id="3" name="Rounded Rectangle 2"/>
          <p:cNvSpPr/>
          <p:nvPr/>
        </p:nvSpPr>
        <p:spPr>
          <a:xfrm>
            <a:off x="640080" y="1051560"/>
            <a:ext cx="10911535" cy="338785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204972"/>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String? validateIcNumber(String? value) {</a:t>
            </a:r>
          </a:p>
          <a:p>
            <a:pPr>
              <a:lnSpc>
                <a:spcPct val="100000"/>
              </a:lnSpc>
            </a:pPr>
            <a:r>
              <a:rPr sz="1100">
                <a:solidFill>
                  <a:srgbClr val="E6E8EE"/>
                </a:solidFill>
                <a:latin typeface="Consolas"/>
              </a:rPr>
              <a:t>  if (value == null || value.trim().isEmpty) {</a:t>
            </a:r>
          </a:p>
          <a:p>
            <a:pPr>
              <a:lnSpc>
                <a:spcPct val="100000"/>
              </a:lnSpc>
            </a:pPr>
            <a:r>
              <a:rPr sz="1100">
                <a:solidFill>
                  <a:srgbClr val="E6E8EE"/>
                </a:solidFill>
                <a:latin typeface="Consolas"/>
              </a:rPr>
              <a:t>    return 'No. Kad Pengenalan diperlukan';</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final trimmed = value.trim();</a:t>
            </a:r>
          </a:p>
          <a:p>
            <a:pPr>
              <a:lnSpc>
                <a:spcPct val="100000"/>
              </a:lnSpc>
            </a:pPr>
            <a:r>
              <a:rPr sz="1100">
                <a:solidFill>
                  <a:srgbClr val="E6E8EE"/>
                </a:solidFill>
                <a:latin typeface="Consolas"/>
              </a:rPr>
              <a:t>  if (!RegExp(r'^[0-9-]+$').hasMatch(trimmed)) {</a:t>
            </a:r>
          </a:p>
          <a:p>
            <a:pPr>
              <a:lnSpc>
                <a:spcPct val="100000"/>
              </a:lnSpc>
            </a:pPr>
            <a:r>
              <a:rPr sz="1100">
                <a:solidFill>
                  <a:srgbClr val="E6E8EE"/>
                </a:solidFill>
                <a:latin typeface="Consolas"/>
              </a:rPr>
              <a:t>    return 'No. Kad Pengenalan hanya boleh '</a:t>
            </a:r>
          </a:p>
          <a:p>
            <a:pPr>
              <a:lnSpc>
                <a:spcPct val="100000"/>
              </a:lnSpc>
            </a:pPr>
            <a:r>
              <a:rPr sz="1100">
                <a:solidFill>
                  <a:srgbClr val="E6E8EE"/>
                </a:solidFill>
                <a:latin typeface="Consolas"/>
              </a:rPr>
              <a:t>        'mengandungi digit dan sengkang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final digits = trimmed.replaceAll('-', '');</a:t>
            </a:r>
          </a:p>
          <a:p>
            <a:pPr>
              <a:lnSpc>
                <a:spcPct val="100000"/>
              </a:lnSpc>
            </a:pPr>
            <a:r>
              <a:rPr sz="1100">
                <a:solidFill>
                  <a:srgbClr val="E6E8EE"/>
                </a:solidFill>
                <a:latin typeface="Consolas"/>
              </a:rPr>
              <a:t>  if (digits.length != 12) {</a:t>
            </a:r>
          </a:p>
          <a:p>
            <a:pPr>
              <a:lnSpc>
                <a:spcPct val="100000"/>
              </a:lnSpc>
            </a:pPr>
            <a:r>
              <a:rPr sz="1100">
                <a:solidFill>
                  <a:srgbClr val="E6E8EE"/>
                </a:solidFill>
                <a:latin typeface="Consolas"/>
              </a:rPr>
              <a:t>    return 'No. Kad Pengenalan mesti 12 digit (cth: 051231-14-5678)';</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return null;</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640080" y="4549140"/>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Fail penuh 4 validator: hari-3/snippets/validators.dart — lulus dart analyze tanpa isu.</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841248"/>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Peraturan eTT Dalam Borang: Dropdown Berperingkat</a:t>
            </a:r>
          </a:p>
        </p:txBody>
      </p:sp>
      <p:sp>
        <p:nvSpPr>
          <p:cNvPr id="3" name="TextBox 2"/>
          <p:cNvSpPr txBox="1"/>
          <p:nvPr/>
        </p:nvSpPr>
        <p:spPr>
          <a:xfrm>
            <a:off x="804671" y="147218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Dua DropdownButtonFormField&lt;String&gt; — negara &amp; bidang — saling bergantung (cascading)</a:t>
            </a:r>
          </a:p>
        </p:txBody>
      </p:sp>
      <p:sp>
        <p:nvSpPr>
          <p:cNvPr id="4" name="TextBox 3"/>
          <p:cNvSpPr txBox="1"/>
          <p:nvPr/>
        </p:nvSpPr>
        <p:spPr>
          <a:xfrm>
            <a:off x="804671" y="169621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Tukar negara → senarai bidang disusun semula</a:t>
            </a:r>
          </a:p>
        </p:txBody>
      </p:sp>
      <p:sp>
        <p:nvSpPr>
          <p:cNvPr id="5" name="TextBox 4"/>
          <p:cNvSpPr txBox="1"/>
          <p:nvPr/>
        </p:nvSpPr>
        <p:spPr>
          <a:xfrm>
            <a:off x="804671" y="192024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Tukar bidang → senarai pilihan universiti disusun semula</a:t>
            </a:r>
          </a:p>
        </p:txBody>
      </p:sp>
      <p:sp>
        <p:nvSpPr>
          <p:cNvPr id="6" name="TextBox 5"/>
          <p:cNvSpPr txBox="1"/>
          <p:nvPr/>
        </p:nvSpPr>
        <p:spPr>
          <a:xfrm>
            <a:off x="804671" y="214426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Pilihan lama yang tidak lagi sah mesti di-reset</a:t>
            </a:r>
          </a:p>
        </p:txBody>
      </p:sp>
      <p:sp>
        <p:nvSpPr>
          <p:cNvPr id="7" name="Rounded Rectangle 6"/>
          <p:cNvSpPr/>
          <p:nvPr/>
        </p:nvSpPr>
        <p:spPr>
          <a:xfrm>
            <a:off x="640080" y="2441448"/>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40080" y="2441448"/>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514600"/>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Inilah cara borang menguatkuasakan peraturan sebenar eTT: 1 negara + 1 bidang, sehingga 3 pilihan universiti dalam bidang itu.</a:t>
            </a:r>
          </a:p>
        </p:txBody>
      </p:sp>
      <p:sp>
        <p:nvSpPr>
          <p:cNvPr id="10" name="TextBox 9"/>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Logik Cascading — Kod Sebenar</a:t>
            </a:r>
          </a:p>
        </p:txBody>
      </p:sp>
      <p:sp>
        <p:nvSpPr>
          <p:cNvPr id="3" name="Rounded Rectangle 2"/>
          <p:cNvSpPr/>
          <p:nvPr/>
        </p:nvSpPr>
        <p:spPr>
          <a:xfrm>
            <a:off x="640080" y="1051560"/>
            <a:ext cx="10911535" cy="357530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39242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void _onCountryChanged(String? value) {</a:t>
            </a:r>
          </a:p>
          <a:p>
            <a:pPr>
              <a:lnSpc>
                <a:spcPct val="100000"/>
              </a:lnSpc>
            </a:pPr>
            <a:r>
              <a:rPr sz="1100">
                <a:solidFill>
                  <a:srgbClr val="E6E8EE"/>
                </a:solidFill>
                <a:latin typeface="Consolas"/>
              </a:rPr>
              <a:t>  if (value == null) return;</a:t>
            </a:r>
          </a:p>
          <a:p>
            <a:pPr>
              <a:lnSpc>
                <a:spcPct val="100000"/>
              </a:lnSpc>
            </a:pPr>
            <a:r>
              <a:rPr sz="1100">
                <a:solidFill>
                  <a:srgbClr val="E6E8EE"/>
                </a:solidFill>
                <a:latin typeface="Consolas"/>
              </a:rPr>
              <a:t>  setState(() {</a:t>
            </a:r>
          </a:p>
          <a:p>
            <a:pPr>
              <a:lnSpc>
                <a:spcPct val="100000"/>
              </a:lnSpc>
            </a:pPr>
            <a:r>
              <a:rPr sz="1100">
                <a:solidFill>
                  <a:srgbClr val="E6E8EE"/>
                </a:solidFill>
                <a:latin typeface="Consolas"/>
              </a:rPr>
              <a:t>    _country = value;</a:t>
            </a:r>
          </a:p>
          <a:p>
            <a:pPr>
              <a:lnSpc>
                <a:spcPct val="100000"/>
              </a:lnSpc>
            </a:pPr>
            <a:r>
              <a:rPr sz="1100">
                <a:solidFill>
                  <a:srgbClr val="E6E8EE"/>
                </a:solidFill>
                <a:latin typeface="Consolas"/>
              </a:rPr>
              <a:t>    final fields = _fields;     // bidang unik dlm negara baharu</a:t>
            </a:r>
          </a:p>
          <a:p>
            <a:pPr>
              <a:lnSpc>
                <a:spcPct val="100000"/>
              </a:lnSpc>
            </a:pPr>
            <a:r>
              <a:rPr sz="1100">
                <a:solidFill>
                  <a:srgbClr val="E6E8EE"/>
                </a:solidFill>
                <a:latin typeface="Consolas"/>
              </a:rPr>
              <a:t>    _fieldOfStudy = fields.isNotEmpty ? fields.first : '';</a:t>
            </a:r>
          </a:p>
          <a:p>
            <a:pPr>
              <a:lnSpc>
                <a:spcPct val="100000"/>
              </a:lnSpc>
            </a:pPr>
            <a:r>
              <a:rPr sz="1100">
                <a:solidFill>
                  <a:srgbClr val="E6E8EE"/>
                </a:solidFill>
                <a:latin typeface="Consolas"/>
              </a:rPr>
              <a:t>    _resetChoices();            // pilihan lama tidak lagi sah</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void _resetChoices() {</a:t>
            </a:r>
          </a:p>
          <a:p>
            <a:pPr>
              <a:lnSpc>
                <a:spcPct val="100000"/>
              </a:lnSpc>
            </a:pPr>
            <a:r>
              <a:rPr sz="1100">
                <a:solidFill>
                  <a:srgbClr val="E6E8EE"/>
                </a:solidFill>
                <a:latin typeface="Consolas"/>
              </a:rPr>
              <a:t>  final programmes = _choiceProgrammes;</a:t>
            </a:r>
          </a:p>
          <a:p>
            <a:pPr>
              <a:lnSpc>
                <a:spcPct val="100000"/>
              </a:lnSpc>
            </a:pPr>
            <a:r>
              <a:rPr sz="1100">
                <a:solidFill>
                  <a:srgbClr val="E6E8EE"/>
                </a:solidFill>
                <a:latin typeface="Consolas"/>
              </a:rPr>
              <a:t>  _choice1 = programmes.isNotEmpty ? programmes.first.id : null;</a:t>
            </a:r>
          </a:p>
          <a:p>
            <a:pPr>
              <a:lnSpc>
                <a:spcPct val="100000"/>
              </a:lnSpc>
            </a:pPr>
            <a:r>
              <a:rPr sz="1100">
                <a:solidFill>
                  <a:srgbClr val="E6E8EE"/>
                </a:solidFill>
                <a:latin typeface="Consolas"/>
              </a:rPr>
              <a:t>  _choice2 = null;</a:t>
            </a:r>
          </a:p>
          <a:p>
            <a:pPr>
              <a:lnSpc>
                <a:spcPct val="100000"/>
              </a:lnSpc>
            </a:pPr>
            <a:r>
              <a:rPr sz="1100">
                <a:solidFill>
                  <a:srgbClr val="E6E8EE"/>
                </a:solidFill>
                <a:latin typeface="Consolas"/>
              </a:rPr>
              <a:t>  _choice3 = null;</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Kalau Buntu Menyusun Logik Ini…</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Logik "tukar dropdown A, dropdown B &amp; C perlu susun semula" mudah tersilap kalau ditulis tergesa-gesa. Rangka dengan AI dahulu:</a:t>
            </a:r>
          </a:p>
        </p:txBody>
      </p:sp>
      <p:sp>
        <p:nvSpPr>
          <p:cNvPr id="4" name="Rounded Rectangle 3"/>
          <p:cNvSpPr/>
          <p:nvPr/>
        </p:nvSpPr>
        <p:spPr>
          <a:xfrm>
            <a:off x="640080" y="1371600"/>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463040"/>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Saya ada tiga DropdownButtonFormField&lt;String&gt; berperingkat dalam satu</a:t>
            </a:r>
          </a:p>
          <a:p>
            <a:pPr>
              <a:lnSpc>
                <a:spcPct val="100000"/>
              </a:lnSpc>
            </a:pPr>
            <a:r>
              <a:rPr sz="1100">
                <a:solidFill>
                  <a:srgbClr val="E6E8EE"/>
                </a:solidFill>
                <a:latin typeface="Consolas"/>
              </a:rPr>
              <a:t>Form Flutter: negara → bidang pengajian → pilihan universiti (1-3).</a:t>
            </a:r>
          </a:p>
          <a:p>
            <a:pPr>
              <a:lnSpc>
                <a:spcPct val="100000"/>
              </a:lnSpc>
            </a:pPr>
            <a:r>
              <a:rPr sz="1100">
                <a:solidFill>
                  <a:srgbClr val="E6E8EE"/>
                </a:solidFill>
                <a:latin typeface="Consolas"/>
              </a:rPr>
              <a:t>Tukar negara mesti menyusun semula senarai bidang (pilih bidang</a:t>
            </a:r>
          </a:p>
          <a:p>
            <a:pPr>
              <a:lnSpc>
                <a:spcPct val="100000"/>
              </a:lnSpc>
            </a:pPr>
            <a:r>
              <a:rPr sz="1100">
                <a:solidFill>
                  <a:srgbClr val="E6E8EE"/>
                </a:solidFill>
                <a:latin typeface="Consolas"/>
              </a:rPr>
              <a:t>pertama automatik); tukar bidang mesti menyusun semula pilihan</a:t>
            </a:r>
          </a:p>
          <a:p>
            <a:pPr>
              <a:lnSpc>
                <a:spcPct val="100000"/>
              </a:lnSpc>
            </a:pPr>
            <a:r>
              <a:rPr sz="1100">
                <a:solidFill>
                  <a:srgbClr val="E6E8EE"/>
                </a:solidFill>
                <a:latin typeface="Consolas"/>
              </a:rPr>
              <a:t>universiti. Tulis _onCountryChanged, _onFieldChanged dan</a:t>
            </a:r>
          </a:p>
          <a:p>
            <a:pPr>
              <a:lnSpc>
                <a:spcPct val="100000"/>
              </a:lnSpc>
            </a:pPr>
            <a:r>
              <a:rPr sz="1100">
                <a:solidFill>
                  <a:srgbClr val="E6E8EE"/>
                </a:solidFill>
                <a:latin typeface="Consolas"/>
              </a:rPr>
              <a:t>_resetChoices yang panggil setState() dengan betul, dan reset</a:t>
            </a:r>
          </a:p>
          <a:p>
            <a:pPr>
              <a:lnSpc>
                <a:spcPct val="100000"/>
              </a:lnSpc>
            </a:pPr>
            <a:r>
              <a:rPr sz="1100">
                <a:solidFill>
                  <a:srgbClr val="E6E8EE"/>
                </a:solidFill>
                <a:latin typeface="Consolas"/>
              </a:rPr>
              <a:t>pilihan lama yang tidak lagi sah.</a:t>
            </a:r>
          </a:p>
          <a:p>
            <a:pPr>
              <a:lnSpc>
                <a:spcPct val="100000"/>
              </a:lnSpc>
            </a:pPr>
            <a:r>
              <a:rPr sz="1100">
                <a:solidFill>
                  <a:srgbClr val="E6E8EE"/>
                </a:solidFill>
                <a:latin typeface="Consolas"/>
              </a:rPr>
              <a:t>  </a:t>
            </a:r>
          </a:p>
        </p:txBody>
      </p:sp>
      <p:sp>
        <p:nvSpPr>
          <p:cNvPr id="6" name="TextBox 5"/>
          <p:cNvSpPr txBox="1"/>
          <p:nvPr/>
        </p:nvSpPr>
        <p:spPr>
          <a:xfrm>
            <a:off x="640080" y="3369564"/>
            <a:ext cx="10911535" cy="493776"/>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Semak dalam app: tukar negara, pastikan pilihan universiti lama benar-benar hilang — bukan kekal terpapar sedangkan sudah tak tergolong dalam negara baharu.</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3 Pilihan Universiti + Senarai Semak Dokumen</a:t>
            </a:r>
          </a:p>
        </p:txBody>
      </p:sp>
      <p:sp>
        <p:nvSpPr>
          <p:cNvPr id="3" name="Rounded Rectangle 2"/>
          <p:cNvSpPr/>
          <p:nvPr/>
        </p:nvSpPr>
        <p:spPr>
          <a:xfrm>
            <a:off x="640080" y="1051560"/>
            <a:ext cx="10911535" cy="338785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204972"/>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_ChoiceDropdown(</a:t>
            </a:r>
          </a:p>
          <a:p>
            <a:pPr>
              <a:lnSpc>
                <a:spcPct val="100000"/>
              </a:lnSpc>
            </a:pPr>
            <a:r>
              <a:rPr sz="1100">
                <a:solidFill>
                  <a:srgbClr val="E6E8EE"/>
                </a:solidFill>
                <a:latin typeface="Consolas"/>
              </a:rPr>
              <a:t>  label: 'Pilihan 1 (wajib)',</a:t>
            </a:r>
          </a:p>
          <a:p>
            <a:pPr>
              <a:lnSpc>
                <a:spcPct val="100000"/>
              </a:lnSpc>
            </a:pPr>
            <a:r>
              <a:rPr sz="1100">
                <a:solidFill>
                  <a:srgbClr val="E6E8EE"/>
                </a:solidFill>
                <a:latin typeface="Consolas"/>
              </a:rPr>
              <a:t>  value: _choice1,</a:t>
            </a:r>
          </a:p>
          <a:p>
            <a:pPr>
              <a:lnSpc>
                <a:spcPct val="100000"/>
              </a:lnSpc>
            </a:pPr>
            <a:r>
              <a:rPr sz="1100">
                <a:solidFill>
                  <a:srgbClr val="E6E8EE"/>
                </a:solidFill>
                <a:latin typeface="Consolas"/>
              </a:rPr>
              <a:t>  programmes: choiceProgrammes,</a:t>
            </a:r>
          </a:p>
          <a:p>
            <a:pPr>
              <a:lnSpc>
                <a:spcPct val="100000"/>
              </a:lnSpc>
            </a:pPr>
            <a:r>
              <a:rPr sz="1100">
                <a:solidFill>
                  <a:srgbClr val="E6E8EE"/>
                </a:solidFill>
                <a:latin typeface="Consolas"/>
              </a:rPr>
              <a:t>  onChanged: (v) =&gt; setState(() =&gt; _choice1 = v),</a:t>
            </a:r>
          </a:p>
          <a:p>
            <a:pPr>
              <a:lnSpc>
                <a:spcPct val="100000"/>
              </a:lnSpc>
            </a:pPr>
            <a:r>
              <a:rPr sz="1100">
                <a:solidFill>
                  <a:srgbClr val="E6E8EE"/>
                </a:solidFill>
                <a:latin typeface="Consolas"/>
              </a:rPr>
              <a:t>  validator: (v) =&gt; v == null ? 'Pilihan 1 diperlukan' : null,</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for (final doc in ettDocumentChecklist)</a:t>
            </a:r>
          </a:p>
          <a:p>
            <a:pPr>
              <a:lnSpc>
                <a:spcPct val="100000"/>
              </a:lnSpc>
            </a:pPr>
            <a:r>
              <a:rPr sz="1100">
                <a:solidFill>
                  <a:srgbClr val="E6E8EE"/>
                </a:solidFill>
                <a:latin typeface="Consolas"/>
              </a:rPr>
              <a:t>  CheckboxListTile(</a:t>
            </a:r>
          </a:p>
          <a:p>
            <a:pPr>
              <a:lnSpc>
                <a:spcPct val="100000"/>
              </a:lnSpc>
            </a:pPr>
            <a:r>
              <a:rPr sz="1100">
                <a:solidFill>
                  <a:srgbClr val="E6E8EE"/>
                </a:solidFill>
                <a:latin typeface="Consolas"/>
              </a:rPr>
              <a:t>    dense: true,</a:t>
            </a:r>
          </a:p>
          <a:p>
            <a:pPr>
              <a:lnSpc>
                <a:spcPct val="100000"/>
              </a:lnSpc>
            </a:pPr>
            <a:r>
              <a:rPr sz="1100">
                <a:solidFill>
                  <a:srgbClr val="E6E8EE"/>
                </a:solidFill>
                <a:latin typeface="Consolas"/>
              </a:rPr>
              <a:t>    title: Text(doc),</a:t>
            </a:r>
          </a:p>
          <a:p>
            <a:pPr>
              <a:lnSpc>
                <a:spcPct val="100000"/>
              </a:lnSpc>
            </a:pPr>
            <a:r>
              <a:rPr sz="1100">
                <a:solidFill>
                  <a:srgbClr val="E6E8EE"/>
                </a:solidFill>
                <a:latin typeface="Consolas"/>
              </a:rPr>
              <a:t>    value: _documents[doc],</a:t>
            </a:r>
          </a:p>
          <a:p>
            <a:pPr>
              <a:lnSpc>
                <a:spcPct val="100000"/>
              </a:lnSpc>
            </a:pPr>
            <a:r>
              <a:rPr sz="1100">
                <a:solidFill>
                  <a:srgbClr val="E6E8EE"/>
                </a:solidFill>
                <a:latin typeface="Consolas"/>
              </a:rPr>
              <a:t>    onChanged: (v) =&gt; setState(() =&gt; _documents[doc] = v ?? false),</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_submit() — Sahkan, Bina, Pulangkan</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void _submit() {</a:t>
            </a:r>
          </a:p>
          <a:p>
            <a:pPr>
              <a:lnSpc>
                <a:spcPct val="100000"/>
              </a:lnSpc>
            </a:pPr>
            <a:r>
              <a:rPr sz="1100">
                <a:solidFill>
                  <a:srgbClr val="E6E8EE"/>
                </a:solidFill>
                <a:latin typeface="Consolas"/>
              </a:rPr>
              <a:t>  if (!_formKey.currentState!.validate()) return;</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final choices = &lt;String&gt;[];</a:t>
            </a:r>
          </a:p>
          <a:p>
            <a:pPr>
              <a:lnSpc>
                <a:spcPct val="100000"/>
              </a:lnSpc>
            </a:pPr>
            <a:r>
              <a:rPr sz="1100">
                <a:solidFill>
                  <a:srgbClr val="E6E8EE"/>
                </a:solidFill>
                <a:latin typeface="Consolas"/>
              </a:rPr>
              <a:t>  for (final id in [_choice1, _choice2, _choice3]) {</a:t>
            </a:r>
          </a:p>
          <a:p>
            <a:pPr>
              <a:lnSpc>
                <a:spcPct val="100000"/>
              </a:lnSpc>
            </a:pPr>
            <a:r>
              <a:rPr sz="1100">
                <a:solidFill>
                  <a:srgbClr val="E6E8EE"/>
                </a:solidFill>
                <a:latin typeface="Consolas"/>
              </a:rPr>
              <a:t>    if (id != null &amp;&amp; !choices.contains(id)) choices.add(id);</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final application = Application(</a:t>
            </a:r>
          </a:p>
          <a:p>
            <a:pPr>
              <a:lnSpc>
                <a:spcPct val="100000"/>
              </a:lnSpc>
            </a:pPr>
            <a:r>
              <a:rPr sz="1100">
                <a:solidFill>
                  <a:srgbClr val="E6E8EE"/>
                </a:solidFill>
                <a:latin typeface="Consolas"/>
              </a:rPr>
              <a:t>    id: 'ETT-${DateTime.now().year}-'</a:t>
            </a:r>
          </a:p>
          <a:p>
            <a:pPr>
              <a:lnSpc>
                <a:spcPct val="100000"/>
              </a:lnSpc>
            </a:pPr>
            <a:r>
              <a:rPr sz="1100">
                <a:solidFill>
                  <a:srgbClr val="E6E8EE"/>
                </a:solidFill>
                <a:latin typeface="Consolas"/>
              </a:rPr>
              <a:t>        '${DateTime.now().millisecondsSinceEpoch}',</a:t>
            </a:r>
          </a:p>
          <a:p>
            <a:pPr>
              <a:lnSpc>
                <a:spcPct val="100000"/>
              </a:lnSpc>
            </a:pPr>
            <a:r>
              <a:rPr sz="1100">
                <a:solidFill>
                  <a:srgbClr val="E6E8EE"/>
                </a:solidFill>
                <a:latin typeface="Consolas"/>
              </a:rPr>
              <a:t>    fullName: _nameCtrl.text.trim(),</a:t>
            </a:r>
          </a:p>
          <a:p>
            <a:pPr>
              <a:lnSpc>
                <a:spcPct val="100000"/>
              </a:lnSpc>
            </a:pPr>
            <a:r>
              <a:rPr sz="1100">
                <a:solidFill>
                  <a:srgbClr val="E6E8EE"/>
                </a:solidFill>
                <a:latin typeface="Consolas"/>
              </a:rPr>
              <a:t>    icNumber: _icCtrl.text.trim(),</a:t>
            </a:r>
          </a:p>
          <a:p>
            <a:pPr>
              <a:lnSpc>
                <a:spcPct val="100000"/>
              </a:lnSpc>
            </a:pPr>
            <a:r>
              <a:rPr sz="1100">
                <a:solidFill>
                  <a:srgbClr val="E6E8EE"/>
                </a:solidFill>
                <a:latin typeface="Consolas"/>
              </a:rPr>
              <a:t>    // …country, fieldOfStudy, universityChoiceIds: choices…</a:t>
            </a:r>
          </a:p>
          <a:p>
            <a:pPr>
              <a:lnSpc>
                <a:spcPct val="100000"/>
              </a:lnSpc>
            </a:pPr>
            <a:r>
              <a:rPr sz="1100">
                <a:solidFill>
                  <a:srgbClr val="E6E8EE"/>
                </a:solidFill>
                <a:latin typeface="Consolas"/>
              </a:rPr>
              <a:t>    status: ApplicationStatus.submitted,</a:t>
            </a:r>
          </a:p>
          <a:p>
            <a:pPr>
              <a:lnSpc>
                <a:spcPct val="100000"/>
              </a:lnSpc>
            </a:pPr>
            <a:r>
              <a:rPr sz="1100">
                <a:solidFill>
                  <a:srgbClr val="E6E8EE"/>
                </a:solidFill>
                <a:latin typeface="Consolas"/>
              </a:rPr>
              <a:t>    submittedAt: DateTime.now(),</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Butang Material — Tiga Pilihan</a:t>
            </a:r>
          </a:p>
        </p:txBody>
      </p:sp>
      <p:graphicFrame>
        <p:nvGraphicFramePr>
          <p:cNvPr id="3" name="Table 2"/>
          <p:cNvGraphicFramePr>
            <a:graphicFrameLocks noGrp="1"/>
          </p:cNvGraphicFramePr>
          <p:nvPr/>
        </p:nvGraphicFramePr>
        <p:xfrm>
          <a:off x="640080" y="1051560"/>
          <a:ext cx="10911535" cy="109728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r>
                        <a:rPr sz="1100" b="1">
                          <a:solidFill>
                            <a:srgbClr val="FFFFFF"/>
                          </a:solidFill>
                          <a:latin typeface="Segoe UI"/>
                        </a:rPr>
                        <a:t>Widget</a:t>
                      </a:r>
                    </a:p>
                  </a:txBody>
                  <a:tcPr marL="63500" marR="63500" marT="25400" marB="25400">
                    <a:solidFill>
                      <a:srgbClr val="1A2B5C"/>
                    </a:solidFill>
                  </a:tcPr>
                </a:tc>
                <a:tc>
                  <a:txBody>
                    <a:bodyPr/>
                    <a:lstStyle/>
                    <a:p>
                      <a:r>
                        <a:rPr sz="1100" b="1">
                          <a:solidFill>
                            <a:srgbClr val="FFFFFF"/>
                          </a:solidFill>
                          <a:latin typeface="Segoe UI"/>
                        </a:rPr>
                        <a:t>Gaya</a:t>
                      </a:r>
                    </a:p>
                  </a:txBody>
                  <a:tcPr marL="63500" marR="63500" marT="25400" marB="25400">
                    <a:solidFill>
                      <a:srgbClr val="1A2B5C"/>
                    </a:solidFill>
                  </a:tcPr>
                </a:tc>
                <a:tc>
                  <a:txBody>
                    <a:bodyPr/>
                    <a:lstStyle/>
                    <a:p>
                      <a:r>
                        <a:rPr sz="1100" b="1">
                          <a:solidFill>
                            <a:srgbClr val="FFFFFF"/>
                          </a:solidFill>
                          <a:latin typeface="Segoe UI"/>
                        </a:rPr>
                        <a:t>Bila guna</a:t>
                      </a:r>
                    </a:p>
                  </a:txBody>
                  <a:tcPr marL="63500" marR="63500" marT="25400" marB="25400">
                    <a:solidFill>
                      <a:srgbClr val="1A2B5C"/>
                    </a:solidFill>
                  </a:tcPr>
                </a:tc>
              </a:tr>
              <a:tr h="274320">
                <a:tc>
                  <a:txBody>
                    <a:bodyPr/>
                    <a:lstStyle/>
                    <a:p>
                      <a:r>
                        <a:rPr sz="1100" b="0">
                          <a:solidFill>
                            <a:srgbClr val="566371"/>
                          </a:solidFill>
                          <a:latin typeface="Segoe UI"/>
                        </a:rPr>
                        <a:t>FilledButton</a:t>
                      </a:r>
                    </a:p>
                  </a:txBody>
                  <a:tcPr marL="63500" marR="63500" marT="25400" marB="25400">
                    <a:solidFill>
                      <a:srgbClr val="FFFFFF"/>
                    </a:solidFill>
                  </a:tcPr>
                </a:tc>
                <a:tc>
                  <a:txBody>
                    <a:bodyPr/>
                    <a:lstStyle/>
                    <a:p>
                      <a:r>
                        <a:rPr sz="1100" b="0">
                          <a:solidFill>
                            <a:srgbClr val="566371"/>
                          </a:solidFill>
                          <a:latin typeface="Segoe UI"/>
                        </a:rPr>
                        <a:t>Latar pekat</a:t>
                      </a:r>
                    </a:p>
                  </a:txBody>
                  <a:tcPr marL="63500" marR="63500" marT="25400" marB="25400">
                    <a:solidFill>
                      <a:srgbClr val="FFFFFF"/>
                    </a:solidFill>
                  </a:tcPr>
                </a:tc>
                <a:tc>
                  <a:txBody>
                    <a:bodyPr/>
                    <a:lstStyle/>
                    <a:p>
                      <a:r>
                        <a:rPr sz="1100" b="0">
                          <a:solidFill>
                            <a:srgbClr val="566371"/>
                          </a:solidFill>
                          <a:latin typeface="Segoe UI"/>
                        </a:rPr>
                        <a:t>Tindakan utama skrin — "Hantar Permohonan"</a:t>
                      </a:r>
                    </a:p>
                  </a:txBody>
                  <a:tcPr marL="63500" marR="63500" marT="25400" marB="25400">
                    <a:solidFill>
                      <a:srgbClr val="FFFFFF"/>
                    </a:solidFill>
                  </a:tcPr>
                </a:tc>
              </a:tr>
              <a:tr h="274320">
                <a:tc>
                  <a:txBody>
                    <a:bodyPr/>
                    <a:lstStyle/>
                    <a:p>
                      <a:r>
                        <a:rPr sz="1100" b="0">
                          <a:solidFill>
                            <a:srgbClr val="566371"/>
                          </a:solidFill>
                          <a:latin typeface="Segoe UI"/>
                        </a:rPr>
                        <a:t>ElevatedButton</a:t>
                      </a:r>
                    </a:p>
                  </a:txBody>
                  <a:tcPr marL="63500" marR="63500" marT="25400" marB="25400">
                    <a:solidFill>
                      <a:srgbClr val="FFFFFF"/>
                    </a:solidFill>
                  </a:tcPr>
                </a:tc>
                <a:tc>
                  <a:txBody>
                    <a:bodyPr/>
                    <a:lstStyle/>
                    <a:p>
                      <a:r>
                        <a:rPr sz="1100" b="0">
                          <a:solidFill>
                            <a:srgbClr val="566371"/>
                          </a:solidFill>
                          <a:latin typeface="Segoe UI"/>
                        </a:rPr>
                        <a:t>Latar + bayang</a:t>
                      </a:r>
                    </a:p>
                  </a:txBody>
                  <a:tcPr marL="63500" marR="63500" marT="25400" marB="25400">
                    <a:solidFill>
                      <a:srgbClr val="FFFFFF"/>
                    </a:solidFill>
                  </a:tcPr>
                </a:tc>
                <a:tc>
                  <a:txBody>
                    <a:bodyPr/>
                    <a:lstStyle/>
                    <a:p>
                      <a:r>
                        <a:rPr sz="1100" b="0">
                          <a:solidFill>
                            <a:srgbClr val="566371"/>
                          </a:solidFill>
                          <a:latin typeface="Segoe UI"/>
                        </a:rPr>
                        <a:t>Tindakan sekunder yang perlu menonjol</a:t>
                      </a:r>
                    </a:p>
                  </a:txBody>
                  <a:tcPr marL="63500" marR="63500" marT="25400" marB="25400">
                    <a:solidFill>
                      <a:srgbClr val="FFFFFF"/>
                    </a:solidFill>
                  </a:tcPr>
                </a:tc>
              </a:tr>
              <a:tr h="274320">
                <a:tc>
                  <a:txBody>
                    <a:bodyPr/>
                    <a:lstStyle/>
                    <a:p>
                      <a:r>
                        <a:rPr sz="1100" b="0">
                          <a:solidFill>
                            <a:srgbClr val="566371"/>
                          </a:solidFill>
                          <a:latin typeface="Segoe UI"/>
                        </a:rPr>
                        <a:t>TextButton</a:t>
                      </a:r>
                    </a:p>
                  </a:txBody>
                  <a:tcPr marL="63500" marR="63500" marT="25400" marB="25400">
                    <a:solidFill>
                      <a:srgbClr val="FFFFFF"/>
                    </a:solidFill>
                  </a:tcPr>
                </a:tc>
                <a:tc>
                  <a:txBody>
                    <a:bodyPr/>
                    <a:lstStyle/>
                    <a:p>
                      <a:r>
                        <a:rPr sz="1100" b="0">
                          <a:solidFill>
                            <a:srgbClr val="566371"/>
                          </a:solidFill>
                          <a:latin typeface="Segoe UI"/>
                        </a:rPr>
                        <a:t>Teks sahaja</a:t>
                      </a:r>
                    </a:p>
                  </a:txBody>
                  <a:tcPr marL="63500" marR="63500" marT="25400" marB="25400">
                    <a:solidFill>
                      <a:srgbClr val="FFFFFF"/>
                    </a:solidFill>
                  </a:tcPr>
                </a:tc>
                <a:tc>
                  <a:txBody>
                    <a:bodyPr/>
                    <a:lstStyle/>
                    <a:p>
                      <a:r>
                        <a:rPr sz="1100" b="0">
                          <a:solidFill>
                            <a:srgbClr val="566371"/>
                          </a:solidFill>
                          <a:latin typeface="Segoe UI"/>
                        </a:rPr>
                        <a:t>Tindakan kurang penting — "Batal"</a:t>
                      </a:r>
                    </a:p>
                  </a:txBody>
                  <a:tcPr marL="63500" marR="63500" marT="25400" marB="25400">
                    <a:solidFill>
                      <a:srgbClr val="FFFFFF"/>
                    </a:solidFill>
                  </a:tcPr>
                </a:tc>
              </a:tr>
            </a:tbl>
          </a:graphicData>
        </a:graphic>
      </p:graphicFrame>
      <p:sp>
        <p:nvSpPr>
          <p:cNvPr id="4" name="Rounded Rectangle 3"/>
          <p:cNvSpPr/>
          <p:nvPr/>
        </p:nvSpPr>
        <p:spPr>
          <a:xfrm>
            <a:off x="640080" y="2276856"/>
            <a:ext cx="10911535" cy="1513331"/>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2368296"/>
            <a:ext cx="10655503" cy="1330451"/>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FilledButton.icon(</a:t>
            </a:r>
          </a:p>
          <a:p>
            <a:pPr>
              <a:lnSpc>
                <a:spcPct val="100000"/>
              </a:lnSpc>
            </a:pPr>
            <a:r>
              <a:rPr sz="1100">
                <a:solidFill>
                  <a:srgbClr val="E6E8EE"/>
                </a:solidFill>
                <a:latin typeface="Consolas"/>
              </a:rPr>
              <a:t>  onPressed: _submit,</a:t>
            </a:r>
          </a:p>
          <a:p>
            <a:pPr>
              <a:lnSpc>
                <a:spcPct val="100000"/>
              </a:lnSpc>
            </a:pPr>
            <a:r>
              <a:rPr sz="1100">
                <a:solidFill>
                  <a:srgbClr val="E6E8EE"/>
                </a:solidFill>
                <a:latin typeface="Consolas"/>
              </a:rPr>
              <a:t>  icon: const Icon(Icons.send),</a:t>
            </a:r>
          </a:p>
          <a:p>
            <a:pPr>
              <a:lnSpc>
                <a:spcPct val="100000"/>
              </a:lnSpc>
            </a:pPr>
            <a:r>
              <a:rPr sz="1100">
                <a:solidFill>
                  <a:srgbClr val="E6E8EE"/>
                </a:solidFill>
                <a:latin typeface="Consolas"/>
              </a:rPr>
              <a:t>  label: const Text('Hantar Permohonan'),</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GestureDetector — Gerak Isyarat Tersuai</a:t>
            </a:r>
          </a:p>
        </p:txBody>
      </p:sp>
      <p:sp>
        <p:nvSpPr>
          <p:cNvPr id="3" name="Rounded Rectangle 2"/>
          <p:cNvSpPr/>
          <p:nvPr/>
        </p:nvSpPr>
        <p:spPr>
          <a:xfrm>
            <a:off x="640080" y="1051560"/>
            <a:ext cx="10911535" cy="263804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45516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GestureDetector(</a:t>
            </a:r>
          </a:p>
          <a:p>
            <a:pPr>
              <a:lnSpc>
                <a:spcPct val="100000"/>
              </a:lnSpc>
            </a:pPr>
            <a:r>
              <a:rPr sz="1100">
                <a:solidFill>
                  <a:srgbClr val="E6E8EE"/>
                </a:solidFill>
                <a:latin typeface="Consolas"/>
              </a:rPr>
              <a:t>  onTap: () =&gt; Navigator.of(context).push(</a:t>
            </a:r>
          </a:p>
          <a:p>
            <a:pPr>
              <a:lnSpc>
                <a:spcPct val="100000"/>
              </a:lnSpc>
            </a:pPr>
            <a:r>
              <a:rPr sz="1100">
                <a:solidFill>
                  <a:srgbClr val="E6E8EE"/>
                </a:solidFill>
                <a:latin typeface="Consolas"/>
              </a:rPr>
              <a:t>    MaterialPageRoute(</a:t>
            </a:r>
          </a:p>
          <a:p>
            <a:pPr>
              <a:lnSpc>
                <a:spcPct val="100000"/>
              </a:lnSpc>
            </a:pPr>
            <a:r>
              <a:rPr sz="1100">
                <a:solidFill>
                  <a:srgbClr val="E6E8EE"/>
                </a:solidFill>
                <a:latin typeface="Consolas"/>
              </a:rPr>
              <a:t>        builder: (_) =&gt; ProgrammeDetailScreen(programme: p)),</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onLongPress: () =&gt; ScaffoldMessenger.of(context).showSnackBar(</a:t>
            </a:r>
          </a:p>
          <a:p>
            <a:pPr>
              <a:lnSpc>
                <a:spcPct val="100000"/>
              </a:lnSpc>
            </a:pPr>
            <a:r>
              <a:rPr sz="1100">
                <a:solidFill>
                  <a:srgbClr val="E6E8EE"/>
                </a:solidFill>
                <a:latin typeface="Consolas"/>
              </a:rPr>
              <a:t>    SnackBar(content: Text('${p.quotaSeats} tempat '</a:t>
            </a:r>
          </a:p>
          <a:p>
            <a:pPr>
              <a:lnSpc>
                <a:spcPct val="100000"/>
              </a:lnSpc>
            </a:pPr>
            <a:r>
              <a:rPr sz="1100">
                <a:solidFill>
                  <a:srgbClr val="E6E8EE"/>
                </a:solidFill>
                <a:latin typeface="Consolas"/>
              </a:rPr>
              <a:t>        'di ${p.universityName}')),</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child: ProgrammeCard(programme: p),</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804671" y="379933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Kesan onTap, onLongPress, onDoubleTap, seret… pada mana-mana widget</a:t>
            </a:r>
          </a:p>
        </p:txBody>
      </p:sp>
      <p:sp>
        <p:nvSpPr>
          <p:cNvPr id="6" name="TextBox 5"/>
          <p:cNvSpPr txBox="1"/>
          <p:nvPr/>
        </p:nvSpPr>
        <p:spPr>
          <a:xfrm>
            <a:off x="804671" y="40233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Tetapi tiada maklum balas visual sendiri — tiada kesan riak</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InkWell vs GestureDetector</a:t>
            </a:r>
          </a:p>
        </p:txBody>
      </p:sp>
      <p:sp>
        <p:nvSpPr>
          <p:cNvPr id="3" name="Rounded Rectangle 2"/>
          <p:cNvSpPr/>
          <p:nvPr/>
        </p:nvSpPr>
        <p:spPr>
          <a:xfrm>
            <a:off x="640080" y="1051560"/>
            <a:ext cx="10911535" cy="245059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267712"/>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lib/widgets/programme_card.dart</a:t>
            </a:r>
          </a:p>
          <a:p>
            <a:pPr>
              <a:lnSpc>
                <a:spcPct val="100000"/>
              </a:lnSpc>
            </a:pPr>
            <a:r>
              <a:rPr sz="1100">
                <a:solidFill>
                  <a:srgbClr val="E6E8EE"/>
                </a:solidFill>
                <a:latin typeface="Consolas"/>
              </a:rPr>
              <a:t>Card(</a:t>
            </a:r>
          </a:p>
          <a:p>
            <a:pPr>
              <a:lnSpc>
                <a:spcPct val="100000"/>
              </a:lnSpc>
            </a:pPr>
            <a:r>
              <a:rPr sz="1100">
                <a:solidFill>
                  <a:srgbClr val="E6E8EE"/>
                </a:solidFill>
                <a:latin typeface="Consolas"/>
              </a:rPr>
              <a:t>  child: InkWell(</a:t>
            </a:r>
          </a:p>
          <a:p>
            <a:pPr>
              <a:lnSpc>
                <a:spcPct val="100000"/>
              </a:lnSpc>
            </a:pPr>
            <a:r>
              <a:rPr sz="1100">
                <a:solidFill>
                  <a:srgbClr val="E6E8EE"/>
                </a:solidFill>
                <a:latin typeface="Consolas"/>
              </a:rPr>
              <a:t>    onTap: onTap,</a:t>
            </a:r>
          </a:p>
          <a:p>
            <a:pPr>
              <a:lnSpc>
                <a:spcPct val="100000"/>
              </a:lnSpc>
            </a:pPr>
            <a:r>
              <a:rPr sz="1100">
                <a:solidFill>
                  <a:srgbClr val="E6E8EE"/>
                </a:solidFill>
                <a:latin typeface="Consolas"/>
              </a:rPr>
              <a:t>    child: Padding(</a:t>
            </a:r>
          </a:p>
          <a:p>
            <a:pPr>
              <a:lnSpc>
                <a:spcPct val="100000"/>
              </a:lnSpc>
            </a:pPr>
            <a:r>
              <a:rPr sz="1100">
                <a:solidFill>
                  <a:srgbClr val="E6E8EE"/>
                </a:solidFill>
                <a:latin typeface="Consolas"/>
              </a:rPr>
              <a:t>      padding: const EdgeInsets.all(16),</a:t>
            </a:r>
          </a:p>
          <a:p>
            <a:pPr>
              <a:lnSpc>
                <a:spcPct val="100000"/>
              </a:lnSpc>
            </a:pPr>
            <a:r>
              <a:rPr sz="1100">
                <a:solidFill>
                  <a:srgbClr val="E6E8EE"/>
                </a:solidFill>
                <a:latin typeface="Consolas"/>
              </a:rPr>
              <a:t>      child: Column(/* ...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804671" y="361188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InkWell — di atas permukaan Material, dapat kesan riak (ripple) percuma</a:t>
            </a:r>
          </a:p>
        </p:txBody>
      </p:sp>
      <p:sp>
        <p:nvSpPr>
          <p:cNvPr id="6" name="TextBox 5"/>
          <p:cNvSpPr txBox="1"/>
          <p:nvPr/>
        </p:nvSpPr>
        <p:spPr>
          <a:xfrm>
            <a:off x="804671" y="383590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GestureDetector — gerak isyarat kompleks (seret, cubit) atau kawasan tanpa kesan visual</a:t>
            </a:r>
          </a:p>
        </p:txBody>
      </p:sp>
      <p:sp>
        <p:nvSpPr>
          <p:cNvPr id="7" name="TextBox 6"/>
          <p:cNvSpPr txBox="1"/>
          <p:nvPr/>
        </p:nvSpPr>
        <p:spPr>
          <a:xfrm>
            <a:off x="640080" y="4133088"/>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Projek sebenar guna InkWell untuk kad tawaran.</a:t>
            </a:r>
          </a:p>
        </p:txBody>
      </p:sp>
      <p:sp>
        <p:nvSpPr>
          <p:cNvPr id="8" name="TextBox 7"/>
          <p:cNvSpPr txBox="1"/>
          <p:nvPr/>
        </p:nvSpPr>
        <p:spPr>
          <a:xfrm>
            <a:off x="640080" y="4453128"/>
            <a:ext cx="10911535" cy="292608"/>
          </a:xfrm>
          <a:prstGeom prst="rect">
            <a:avLst/>
          </a:prstGeom>
          <a:noFill/>
        </p:spPr>
        <p:txBody>
          <a:bodyPr wrap="square" anchor="t" lIns="38100" rIns="38100" tIns="25400" bIns="25400">
            <a:spAutoFit/>
          </a:bodyPr>
          <a:lstStyle/>
          <a:p>
            <a:pPr algn="l">
              <a:lnSpc>
                <a:spcPct val="105000"/>
              </a:lnSpc>
            </a:pPr>
            <a:r>
              <a:rPr sz="1200" b="1">
                <a:solidFill>
                  <a:srgbClr val="1A2B5C"/>
                </a:solidFill>
                <a:latin typeface="Segoe UI"/>
              </a:rPr>
              <a:t>[ InkWell ]   [ GestureDetector ]</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setState() — Apa Sebenarnya Berlaku?</a:t>
            </a:r>
          </a:p>
        </p:txBody>
      </p:sp>
      <p:sp>
        <p:nvSpPr>
          <p:cNvPr id="3" name="Rounded Rectangle 2"/>
          <p:cNvSpPr/>
          <p:nvPr/>
        </p:nvSpPr>
        <p:spPr>
          <a:xfrm>
            <a:off x="640080" y="1051560"/>
            <a:ext cx="10911535" cy="113842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95554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setState(() {</a:t>
            </a:r>
          </a:p>
          <a:p>
            <a:pPr>
              <a:lnSpc>
                <a:spcPct val="100000"/>
              </a:lnSpc>
            </a:pPr>
            <a:r>
              <a:rPr sz="1100">
                <a:solidFill>
                  <a:srgbClr val="E6E8EE"/>
                </a:solidFill>
                <a:latin typeface="Consolas"/>
              </a:rPr>
              <a:t>  _fieldOfStudy = value;</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731519" y="2299716"/>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1.  Kod dalam closure dijalankan serta-merta — pembolehubah state berubah</a:t>
            </a:r>
          </a:p>
        </p:txBody>
      </p:sp>
      <p:sp>
        <p:nvSpPr>
          <p:cNvPr id="6" name="TextBox 5"/>
          <p:cNvSpPr txBox="1"/>
          <p:nvPr/>
        </p:nvSpPr>
        <p:spPr>
          <a:xfrm>
            <a:off x="731519" y="2537460"/>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2.  setState() beritahu Flutter: "data widget ini berubah, jadualkan build() semula"</a:t>
            </a:r>
          </a:p>
        </p:txBody>
      </p:sp>
      <p:sp>
        <p:nvSpPr>
          <p:cNvPr id="7" name="TextBox 6"/>
          <p:cNvSpPr txBox="1"/>
          <p:nvPr/>
        </p:nvSpPr>
        <p:spPr>
          <a:xfrm>
            <a:off x="731519" y="2775204"/>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3.  Flutter panggil semula build() — widget ini sahaja, bukan seluruh aplikasi</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Kenapa Wajib setState()?</a:t>
            </a:r>
          </a:p>
        </p:txBody>
      </p:sp>
      <p:sp>
        <p:nvSpPr>
          <p:cNvPr id="3" name="Rounded Rectangle 2"/>
          <p:cNvSpPr/>
          <p:nvPr/>
        </p:nvSpPr>
        <p:spPr>
          <a:xfrm>
            <a:off x="640080" y="1051560"/>
            <a:ext cx="10911535" cy="1513331"/>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330451"/>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SALAH — data berubah, tetapi UI TIDAK rebuild</a:t>
            </a:r>
          </a:p>
          <a:p>
            <a:pPr>
              <a:lnSpc>
                <a:spcPct val="100000"/>
              </a:lnSpc>
            </a:pPr>
            <a:r>
              <a:rPr sz="1100">
                <a:solidFill>
                  <a:srgbClr val="E6E8EE"/>
                </a:solidFill>
                <a:latin typeface="Consolas"/>
              </a:rPr>
              <a:t>onChanged: (v) =&gt; _country = v,</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BETUL — data berubah DAN UI diberitahu untuk rebuild</a:t>
            </a:r>
          </a:p>
          <a:p>
            <a:pPr>
              <a:lnSpc>
                <a:spcPct val="100000"/>
              </a:lnSpc>
            </a:pPr>
            <a:r>
              <a:rPr sz="1100">
                <a:solidFill>
                  <a:srgbClr val="E6E8EE"/>
                </a:solidFill>
                <a:latin typeface="Consolas"/>
              </a:rPr>
              <a:t>onChanged: (v) =&gt; _onCountryChanged(v), // dalaman panggil setState()</a:t>
            </a:r>
          </a:p>
          <a:p>
            <a:pPr>
              <a:lnSpc>
                <a:spcPct val="100000"/>
              </a:lnSpc>
            </a:pPr>
            <a:r>
              <a:rPr sz="1100">
                <a:solidFill>
                  <a:srgbClr val="E6E8EE"/>
                </a:solidFill>
                <a:latin typeface="Consolas"/>
              </a:rPr>
              <a:t>  </a:t>
            </a:r>
          </a:p>
        </p:txBody>
      </p:sp>
      <p:sp>
        <p:nvSpPr>
          <p:cNvPr id="5" name="TextBox 4"/>
          <p:cNvSpPr txBox="1"/>
          <p:nvPr/>
        </p:nvSpPr>
        <p:spPr>
          <a:xfrm>
            <a:off x="804671" y="267462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Flutter tidak memantau pembolehubah Dart secara automatik</a:t>
            </a:r>
          </a:p>
        </p:txBody>
      </p:sp>
      <p:sp>
        <p:nvSpPr>
          <p:cNvPr id="6" name="TextBox 5"/>
          <p:cNvSpPr txBox="1"/>
          <p:nvPr/>
        </p:nvSpPr>
        <p:spPr>
          <a:xfrm>
            <a:off x="804671" y="289864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Tanpa setState(): nilai dalaman berubah, tetapi skrin kelihatan tidak berubah</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Kitaran Hayat StatefulWidget</a:t>
            </a:r>
          </a:p>
        </p:txBody>
      </p:sp>
      <p:sp>
        <p:nvSpPr>
          <p:cNvPr id="3" name="Rounded Rectangle 2"/>
          <p:cNvSpPr/>
          <p:nvPr/>
        </p:nvSpPr>
        <p:spPr>
          <a:xfrm>
            <a:off x="640080" y="1051560"/>
            <a:ext cx="10911535" cy="113842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95554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createState() → initState() → build()</a:t>
            </a:r>
          </a:p>
          <a:p>
            <a:pPr>
              <a:lnSpc>
                <a:spcPct val="100000"/>
              </a:lnSpc>
            </a:pPr>
            <a:r>
              <a:rPr sz="1100">
                <a:solidFill>
                  <a:srgbClr val="E6E8EE"/>
                </a:solidFill>
                <a:latin typeface="Consolas"/>
              </a:rPr>
              <a:t>        → …setState() → build() (berulang)…</a:t>
            </a:r>
          </a:p>
          <a:p>
            <a:pPr>
              <a:lnSpc>
                <a:spcPct val="100000"/>
              </a:lnSpc>
            </a:pPr>
            <a:r>
              <a:rPr sz="1100">
                <a:solidFill>
                  <a:srgbClr val="E6E8EE"/>
                </a:solidFill>
                <a:latin typeface="Consolas"/>
              </a:rPr>
              <a:t>        → dispose()</a:t>
            </a:r>
          </a:p>
          <a:p>
            <a:pPr>
              <a:lnSpc>
                <a:spcPct val="100000"/>
              </a:lnSpc>
            </a:pPr>
            <a:r>
              <a:rPr sz="1100">
                <a:solidFill>
                  <a:srgbClr val="E6E8EE"/>
                </a:solidFill>
                <a:latin typeface="Consolas"/>
              </a:rPr>
              <a:t>  </a:t>
            </a:r>
          </a:p>
        </p:txBody>
      </p:sp>
      <p:graphicFrame>
        <p:nvGraphicFramePr>
          <p:cNvPr id="5" name="Table 4"/>
          <p:cNvGraphicFramePr>
            <a:graphicFrameLocks noGrp="1"/>
          </p:cNvGraphicFramePr>
          <p:nvPr/>
        </p:nvGraphicFramePr>
        <p:xfrm>
          <a:off x="640080" y="2299716"/>
          <a:ext cx="10911535" cy="137160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r>
                        <a:rPr sz="1100" b="1">
                          <a:solidFill>
                            <a:srgbClr val="FFFFFF"/>
                          </a:solidFill>
                          <a:latin typeface="Segoe UI"/>
                        </a:rPr>
                        <a:t>Kaedah</a:t>
                      </a:r>
                    </a:p>
                  </a:txBody>
                  <a:tcPr marL="63500" marR="63500" marT="25400" marB="25400">
                    <a:solidFill>
                      <a:srgbClr val="1A2B5C"/>
                    </a:solidFill>
                  </a:tcPr>
                </a:tc>
                <a:tc>
                  <a:txBody>
                    <a:bodyPr/>
                    <a:lstStyle/>
                    <a:p>
                      <a:r>
                        <a:rPr sz="1100" b="1">
                          <a:solidFill>
                            <a:srgbClr val="FFFFFF"/>
                          </a:solidFill>
                          <a:latin typeface="Segoe UI"/>
                        </a:rPr>
                        <a:t>Bila dipanggil</a:t>
                      </a:r>
                    </a:p>
                  </a:txBody>
                  <a:tcPr marL="63500" marR="63500" marT="25400" marB="25400">
                    <a:solidFill>
                      <a:srgbClr val="1A2B5C"/>
                    </a:solidFill>
                  </a:tcPr>
                </a:tc>
                <a:tc>
                  <a:txBody>
                    <a:bodyPr/>
                    <a:lstStyle/>
                    <a:p>
                      <a:r>
                        <a:rPr sz="1100" b="1">
                          <a:solidFill>
                            <a:srgbClr val="FFFFFF"/>
                          </a:solidFill>
                          <a:latin typeface="Segoe UI"/>
                        </a:rPr>
                        <a:t>Kegunaan biasa</a:t>
                      </a:r>
                    </a:p>
                  </a:txBody>
                  <a:tcPr marL="63500" marR="63500" marT="25400" marB="25400">
                    <a:solidFill>
                      <a:srgbClr val="1A2B5C"/>
                    </a:solidFill>
                  </a:tcPr>
                </a:tc>
              </a:tr>
              <a:tr h="274320">
                <a:tc>
                  <a:txBody>
                    <a:bodyPr/>
                    <a:lstStyle/>
                    <a:p>
                      <a:r>
                        <a:rPr sz="1100" b="0">
                          <a:solidFill>
                            <a:srgbClr val="566371"/>
                          </a:solidFill>
                          <a:latin typeface="Segoe UI"/>
                        </a:rPr>
                        <a:t>createState()</a:t>
                      </a:r>
                    </a:p>
                  </a:txBody>
                  <a:tcPr marL="63500" marR="63500" marT="25400" marB="25400">
                    <a:solidFill>
                      <a:srgbClr val="FFFFFF"/>
                    </a:solidFill>
                  </a:tcPr>
                </a:tc>
                <a:tc>
                  <a:txBody>
                    <a:bodyPr/>
                    <a:lstStyle/>
                    <a:p>
                      <a:r>
                        <a:rPr sz="1100" b="0">
                          <a:solidFill>
                            <a:srgbClr val="566371"/>
                          </a:solidFill>
                          <a:latin typeface="Segoe UI"/>
                        </a:rPr>
                        <a:t>Sekali, bila widget dicipta</a:t>
                      </a:r>
                    </a:p>
                  </a:txBody>
                  <a:tcPr marL="63500" marR="63500" marT="25400" marB="25400">
                    <a:solidFill>
                      <a:srgbClr val="FFFFFF"/>
                    </a:solidFill>
                  </a:tcPr>
                </a:tc>
                <a:tc>
                  <a:txBody>
                    <a:bodyPr/>
                    <a:lstStyle/>
                    <a:p>
                      <a:r>
                        <a:rPr sz="1100" b="0">
                          <a:solidFill>
                            <a:srgbClr val="566371"/>
                          </a:solidFill>
                          <a:latin typeface="Segoe UI"/>
                        </a:rPr>
                        <a:t>Mencipta objek State</a:t>
                      </a:r>
                    </a:p>
                  </a:txBody>
                  <a:tcPr marL="63500" marR="63500" marT="25400" marB="25400">
                    <a:solidFill>
                      <a:srgbClr val="FFFFFF"/>
                    </a:solidFill>
                  </a:tcPr>
                </a:tc>
              </a:tr>
              <a:tr h="274320">
                <a:tc>
                  <a:txBody>
                    <a:bodyPr/>
                    <a:lstStyle/>
                    <a:p>
                      <a:r>
                        <a:rPr sz="1100" b="0">
                          <a:solidFill>
                            <a:srgbClr val="566371"/>
                          </a:solidFill>
                          <a:latin typeface="Segoe UI"/>
                        </a:rPr>
                        <a:t>initState()</a:t>
                      </a:r>
                    </a:p>
                  </a:txBody>
                  <a:tcPr marL="63500" marR="63500" marT="25400" marB="25400">
                    <a:solidFill>
                      <a:srgbClr val="FFFFFF"/>
                    </a:solidFill>
                  </a:tcPr>
                </a:tc>
                <a:tc>
                  <a:txBody>
                    <a:bodyPr/>
                    <a:lstStyle/>
                    <a:p>
                      <a:r>
                        <a:rPr sz="1100" b="0">
                          <a:solidFill>
                            <a:srgbClr val="566371"/>
                          </a:solidFill>
                          <a:latin typeface="Segoe UI"/>
                        </a:rPr>
                        <a:t>Sekali, sebelum build() pertama</a:t>
                      </a:r>
                    </a:p>
                  </a:txBody>
                  <a:tcPr marL="63500" marR="63500" marT="25400" marB="25400">
                    <a:solidFill>
                      <a:srgbClr val="FFFFFF"/>
                    </a:solidFill>
                  </a:tcPr>
                </a:tc>
                <a:tc>
                  <a:txBody>
                    <a:bodyPr/>
                    <a:lstStyle/>
                    <a:p>
                      <a:r>
                        <a:rPr sz="1100" b="0">
                          <a:solidFill>
                            <a:srgbClr val="566371"/>
                          </a:solidFill>
                          <a:latin typeface="Segoe UI"/>
                        </a:rPr>
                        <a:t>Nilai awal, baca widget.xxx, mulakan controller</a:t>
                      </a:r>
                    </a:p>
                  </a:txBody>
                  <a:tcPr marL="63500" marR="63500" marT="25400" marB="25400">
                    <a:solidFill>
                      <a:srgbClr val="FFFFFF"/>
                    </a:solidFill>
                  </a:tcPr>
                </a:tc>
              </a:tr>
              <a:tr h="274320">
                <a:tc>
                  <a:txBody>
                    <a:bodyPr/>
                    <a:lstStyle/>
                    <a:p>
                      <a:r>
                        <a:rPr sz="1100" b="0">
                          <a:solidFill>
                            <a:srgbClr val="566371"/>
                          </a:solidFill>
                          <a:latin typeface="Segoe UI"/>
                        </a:rPr>
                        <a:t>build()</a:t>
                      </a:r>
                    </a:p>
                  </a:txBody>
                  <a:tcPr marL="63500" marR="63500" marT="25400" marB="25400">
                    <a:solidFill>
                      <a:srgbClr val="FFFFFF"/>
                    </a:solidFill>
                  </a:tcPr>
                </a:tc>
                <a:tc>
                  <a:txBody>
                    <a:bodyPr/>
                    <a:lstStyle/>
                    <a:p>
                      <a:r>
                        <a:rPr sz="1100" b="0">
                          <a:solidFill>
                            <a:srgbClr val="566371"/>
                          </a:solidFill>
                          <a:latin typeface="Segoe UI"/>
                        </a:rPr>
                        <a:t>Setiap kali setState()</a:t>
                      </a:r>
                    </a:p>
                  </a:txBody>
                  <a:tcPr marL="63500" marR="63500" marT="25400" marB="25400">
                    <a:solidFill>
                      <a:srgbClr val="FFFFFF"/>
                    </a:solidFill>
                  </a:tcPr>
                </a:tc>
                <a:tc>
                  <a:txBody>
                    <a:bodyPr/>
                    <a:lstStyle/>
                    <a:p>
                      <a:r>
                        <a:rPr sz="1100" b="0">
                          <a:solidFill>
                            <a:srgbClr val="566371"/>
                          </a:solidFill>
                          <a:latin typeface="Segoe UI"/>
                        </a:rPr>
                        <a:t>Bina/lukis semula UI berdasarkan state terkini</a:t>
                      </a:r>
                    </a:p>
                  </a:txBody>
                  <a:tcPr marL="63500" marR="63500" marT="25400" marB="25400">
                    <a:solidFill>
                      <a:srgbClr val="FFFFFF"/>
                    </a:solidFill>
                  </a:tcPr>
                </a:tc>
              </a:tr>
              <a:tr h="274320">
                <a:tc>
                  <a:txBody>
                    <a:bodyPr/>
                    <a:lstStyle/>
                    <a:p>
                      <a:r>
                        <a:rPr sz="1100" b="0">
                          <a:solidFill>
                            <a:srgbClr val="566371"/>
                          </a:solidFill>
                          <a:latin typeface="Segoe UI"/>
                        </a:rPr>
                        <a:t>dispose()</a:t>
                      </a:r>
                    </a:p>
                  </a:txBody>
                  <a:tcPr marL="63500" marR="63500" marT="25400" marB="25400">
                    <a:solidFill>
                      <a:srgbClr val="FFFFFF"/>
                    </a:solidFill>
                  </a:tcPr>
                </a:tc>
                <a:tc>
                  <a:txBody>
                    <a:bodyPr/>
                    <a:lstStyle/>
                    <a:p>
                      <a:r>
                        <a:rPr sz="1100" b="0">
                          <a:solidFill>
                            <a:srgbClr val="566371"/>
                          </a:solidFill>
                          <a:latin typeface="Segoe UI"/>
                        </a:rPr>
                        <a:t>Sekali, bila State dimusnahkan</a:t>
                      </a:r>
                    </a:p>
                  </a:txBody>
                  <a:tcPr marL="63500" marR="63500" marT="25400" marB="25400">
                    <a:solidFill>
                      <a:srgbClr val="FFFFFF"/>
                    </a:solidFill>
                  </a:tcPr>
                </a:tc>
                <a:tc>
                  <a:txBody>
                    <a:bodyPr/>
                    <a:lstStyle/>
                    <a:p>
                      <a:r>
                        <a:rPr sz="1100" b="0">
                          <a:solidFill>
                            <a:srgbClr val="566371"/>
                          </a:solidFill>
                          <a:latin typeface="Segoe UI"/>
                        </a:rPr>
                        <a:t>.dispose() controller, batal Timer/Stream</a:t>
                      </a:r>
                    </a:p>
                  </a:txBody>
                  <a:tcPr marL="63500" marR="63500" marT="25400" marB="25400">
                    <a:solidFill>
                      <a:srgbClr val="FFFFFF"/>
                    </a:solidFill>
                  </a:tcPr>
                </a:tc>
              </a:tr>
            </a:tbl>
          </a:graphicData>
        </a:graphic>
      </p:graphicFrame>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Kesilapan Biasa setState()</a:t>
            </a:r>
          </a:p>
        </p:txBody>
      </p:sp>
      <p:graphicFrame>
        <p:nvGraphicFramePr>
          <p:cNvPr id="3" name="Table 2"/>
          <p:cNvGraphicFramePr>
            <a:graphicFrameLocks noGrp="1"/>
          </p:cNvGraphicFramePr>
          <p:nvPr/>
        </p:nvGraphicFramePr>
        <p:xfrm>
          <a:off x="640080" y="1051560"/>
          <a:ext cx="10911535" cy="137160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r>
                        <a:rPr sz="1100" b="1">
                          <a:solidFill>
                            <a:srgbClr val="FFFFFF"/>
                          </a:solidFill>
                          <a:latin typeface="Segoe UI"/>
                        </a:rPr>
                        <a:t>Kesilapan</a:t>
                      </a:r>
                    </a:p>
                  </a:txBody>
                  <a:tcPr marL="63500" marR="63500" marT="25400" marB="25400">
                    <a:solidFill>
                      <a:srgbClr val="1A2B5C"/>
                    </a:solidFill>
                  </a:tcPr>
                </a:tc>
                <a:tc>
                  <a:txBody>
                    <a:bodyPr/>
                    <a:lstStyle/>
                    <a:p>
                      <a:r>
                        <a:rPr sz="1100" b="1">
                          <a:solidFill>
                            <a:srgbClr val="FFFFFF"/>
                          </a:solidFill>
                          <a:latin typeface="Segoe UI"/>
                        </a:rPr>
                        <a:t>Akibat</a:t>
                      </a:r>
                    </a:p>
                  </a:txBody>
                  <a:tcPr marL="63500" marR="63500" marT="25400" marB="25400">
                    <a:solidFill>
                      <a:srgbClr val="1A2B5C"/>
                    </a:solidFill>
                  </a:tcPr>
                </a:tc>
                <a:tc>
                  <a:txBody>
                    <a:bodyPr/>
                    <a:lstStyle/>
                    <a:p>
                      <a:r>
                        <a:rPr sz="1100" b="1">
                          <a:solidFill>
                            <a:srgbClr val="FFFFFF"/>
                          </a:solidFill>
                          <a:latin typeface="Segoe UI"/>
                        </a:rPr>
                        <a:t>Pembetulan</a:t>
                      </a:r>
                    </a:p>
                  </a:txBody>
                  <a:tcPr marL="63500" marR="63500" marT="25400" marB="25400">
                    <a:solidFill>
                      <a:srgbClr val="1A2B5C"/>
                    </a:solidFill>
                  </a:tcPr>
                </a:tc>
              </a:tr>
              <a:tr h="274320">
                <a:tc>
                  <a:txBody>
                    <a:bodyPr/>
                    <a:lstStyle/>
                    <a:p>
                      <a:r>
                        <a:rPr sz="1100" b="0">
                          <a:solidFill>
                            <a:srgbClr val="566371"/>
                          </a:solidFill>
                          <a:latin typeface="Segoe UI"/>
                        </a:rPr>
                        <a:t>setState() selepas dispose() (callback Future lewat)</a:t>
                      </a:r>
                    </a:p>
                  </a:txBody>
                  <a:tcPr marL="63500" marR="63500" marT="25400" marB="25400">
                    <a:solidFill>
                      <a:srgbClr val="FFFFFF"/>
                    </a:solidFill>
                  </a:tcPr>
                </a:tc>
                <a:tc>
                  <a:txBody>
                    <a:bodyPr/>
                    <a:lstStyle/>
                    <a:p>
                      <a:r>
                        <a:rPr sz="1100" b="0">
                          <a:solidFill>
                            <a:srgbClr val="566371"/>
                          </a:solidFill>
                          <a:latin typeface="Segoe UI"/>
                        </a:rPr>
                        <a:t>Ralat masa jalan</a:t>
                      </a:r>
                    </a:p>
                  </a:txBody>
                  <a:tcPr marL="63500" marR="63500" marT="25400" marB="25400">
                    <a:solidFill>
                      <a:srgbClr val="FFFFFF"/>
                    </a:solidFill>
                  </a:tcPr>
                </a:tc>
                <a:tc>
                  <a:txBody>
                    <a:bodyPr/>
                    <a:lstStyle/>
                    <a:p>
                      <a:r>
                        <a:rPr sz="1100" b="0">
                          <a:solidFill>
                            <a:srgbClr val="566371"/>
                          </a:solidFill>
                          <a:latin typeface="Segoe UI"/>
                        </a:rPr>
                        <a:t>if (!mounted) return; sebelum setState()</a:t>
                      </a:r>
                    </a:p>
                  </a:txBody>
                  <a:tcPr marL="63500" marR="63500" marT="25400" marB="25400">
                    <a:solidFill>
                      <a:srgbClr val="FFFFFF"/>
                    </a:solidFill>
                  </a:tcPr>
                </a:tc>
              </a:tr>
              <a:tr h="274320">
                <a:tc>
                  <a:txBody>
                    <a:bodyPr/>
                    <a:lstStyle/>
                    <a:p>
                      <a:r>
                        <a:rPr sz="1100" b="0">
                          <a:solidFill>
                            <a:srgbClr val="566371"/>
                          </a:solidFill>
                          <a:latin typeface="Segoe UI"/>
                        </a:rPr>
                        <a:t>setState() terus dalam build()</a:t>
                      </a:r>
                    </a:p>
                  </a:txBody>
                  <a:tcPr marL="63500" marR="63500" marT="25400" marB="25400">
                    <a:solidFill>
                      <a:srgbClr val="FFFFFF"/>
                    </a:solidFill>
                  </a:tcPr>
                </a:tc>
                <a:tc>
                  <a:txBody>
                    <a:bodyPr/>
                    <a:lstStyle/>
                    <a:p>
                      <a:r>
                        <a:rPr sz="1100" b="0">
                          <a:solidFill>
                            <a:srgbClr val="566371"/>
                          </a:solidFill>
                          <a:latin typeface="Segoe UI"/>
                        </a:rPr>
                        <a:t>Gelung rebuild tak terhingga</a:t>
                      </a:r>
                    </a:p>
                  </a:txBody>
                  <a:tcPr marL="63500" marR="63500" marT="25400" marB="25400">
                    <a:solidFill>
                      <a:srgbClr val="FFFFFF"/>
                    </a:solidFill>
                  </a:tcPr>
                </a:tc>
                <a:tc>
                  <a:txBody>
                    <a:bodyPr/>
                    <a:lstStyle/>
                    <a:p>
                      <a:r>
                        <a:rPr sz="1100" b="0">
                          <a:solidFill>
                            <a:srgbClr val="566371"/>
                          </a:solidFill>
                          <a:latin typeface="Segoe UI"/>
                        </a:rPr>
                        <a:t>Panggil hanya dari handler (onPressed, onChanged)</a:t>
                      </a:r>
                    </a:p>
                  </a:txBody>
                  <a:tcPr marL="63500" marR="63500" marT="25400" marB="25400">
                    <a:solidFill>
                      <a:srgbClr val="FFFFFF"/>
                    </a:solidFill>
                  </a:tcPr>
                </a:tc>
              </a:tr>
              <a:tr h="274320">
                <a:tc>
                  <a:txBody>
                    <a:bodyPr/>
                    <a:lstStyle/>
                    <a:p>
                      <a:r>
                        <a:rPr sz="1100" b="0">
                          <a:solidFill>
                            <a:srgbClr val="566371"/>
                          </a:solidFill>
                          <a:latin typeface="Segoe UI"/>
                        </a:rPr>
                        <a:t>Lupa super.initState() / super.dispose()</a:t>
                      </a:r>
                    </a:p>
                  </a:txBody>
                  <a:tcPr marL="63500" marR="63500" marT="25400" marB="25400">
                    <a:solidFill>
                      <a:srgbClr val="FFFFFF"/>
                    </a:solidFill>
                  </a:tcPr>
                </a:tc>
                <a:tc>
                  <a:txBody>
                    <a:bodyPr/>
                    <a:lstStyle/>
                    <a:p>
                      <a:r>
                        <a:rPr sz="1100" b="0">
                          <a:solidFill>
                            <a:srgbClr val="566371"/>
                          </a:solidFill>
                          <a:latin typeface="Segoe UI"/>
                        </a:rPr>
                        <a:t>Kelakuan luar jangka</a:t>
                      </a:r>
                    </a:p>
                  </a:txBody>
                  <a:tcPr marL="63500" marR="63500" marT="25400" marB="25400">
                    <a:solidFill>
                      <a:srgbClr val="FFFFFF"/>
                    </a:solidFill>
                  </a:tcPr>
                </a:tc>
                <a:tc>
                  <a:txBody>
                    <a:bodyPr/>
                    <a:lstStyle/>
                    <a:p>
                      <a:r>
                        <a:rPr sz="1100" b="0">
                          <a:solidFill>
                            <a:srgbClr val="566371"/>
                          </a:solidFill>
                          <a:latin typeface="Segoe UI"/>
                        </a:rPr>
                        <a:t>super.initState() baris pertama; super.dispose() baris terakhir</a:t>
                      </a:r>
                    </a:p>
                  </a:txBody>
                  <a:tcPr marL="63500" marR="63500" marT="25400" marB="25400">
                    <a:solidFill>
                      <a:srgbClr val="FFFFFF"/>
                    </a:solidFill>
                  </a:tcPr>
                </a:tc>
              </a:tr>
              <a:tr h="274320">
                <a:tc>
                  <a:txBody>
                    <a:bodyPr/>
                    <a:lstStyle/>
                    <a:p>
                      <a:r>
                        <a:rPr sz="1100" b="0">
                          <a:solidFill>
                            <a:srgbClr val="566371"/>
                          </a:solidFill>
                          <a:latin typeface="Segoe UI"/>
                        </a:rPr>
                        <a:t>Cipta Controller dalam build()</a:t>
                      </a:r>
                    </a:p>
                  </a:txBody>
                  <a:tcPr marL="63500" marR="63500" marT="25400" marB="25400">
                    <a:solidFill>
                      <a:srgbClr val="FFFFFF"/>
                    </a:solidFill>
                  </a:tcPr>
                </a:tc>
                <a:tc>
                  <a:txBody>
                    <a:bodyPr/>
                    <a:lstStyle/>
                    <a:p>
                      <a:r>
                        <a:rPr sz="1100" b="0">
                          <a:solidFill>
                            <a:srgbClr val="566371"/>
                          </a:solidFill>
                          <a:latin typeface="Segoe UI"/>
                        </a:rPr>
                        <a:t>Bocor memori</a:t>
                      </a:r>
                    </a:p>
                  </a:txBody>
                  <a:tcPr marL="63500" marR="63500" marT="25400" marB="25400">
                    <a:solidFill>
                      <a:srgbClr val="FFFFFF"/>
                    </a:solidFill>
                  </a:tcPr>
                </a:tc>
                <a:tc>
                  <a:txBody>
                    <a:bodyPr/>
                    <a:lstStyle/>
                    <a:p>
                      <a:r>
                        <a:rPr sz="1100" b="0">
                          <a:solidFill>
                            <a:srgbClr val="566371"/>
                          </a:solidFill>
                          <a:latin typeface="Segoe UI"/>
                        </a:rPr>
                        <a:t>Cipta sekali sebagai field kelas</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Bila Jumpa setState() called after dispose()</a:t>
            </a:r>
          </a:p>
        </p:txBody>
      </p:sp>
      <p:sp>
        <p:nvSpPr>
          <p:cNvPr id="3" name="TextBox 2"/>
          <p:cNvSpPr txBox="1"/>
          <p:nvPr/>
        </p:nvSpPr>
        <p:spPr>
          <a:xfrm>
            <a:off x="640080" y="1051560"/>
            <a:ext cx="10911535" cy="493776"/>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Biasanya berlaku bila Future/timer selesai selepas pengguna sudah tutup skrin. Tampal jejak ralat (stack trace) kepada AI dan minta ia jelaskan:</a:t>
            </a:r>
          </a:p>
        </p:txBody>
      </p:sp>
      <p:sp>
        <p:nvSpPr>
          <p:cNvPr id="4" name="Rounded Rectangle 3"/>
          <p:cNvSpPr/>
          <p:nvPr/>
        </p:nvSpPr>
        <p:spPr>
          <a:xfrm>
            <a:off x="640080" y="1618488"/>
            <a:ext cx="10911535" cy="1513331"/>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709928"/>
            <a:ext cx="10655503" cy="1330451"/>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Saya dapat ralat ini semasa menguji borang Flutter saya:</a:t>
            </a:r>
          </a:p>
          <a:p>
            <a:pPr>
              <a:lnSpc>
                <a:spcPct val="100000"/>
              </a:lnSpc>
            </a:pPr>
            <a:r>
              <a:rPr sz="1100">
                <a:solidFill>
                  <a:srgbClr val="E6E8EE"/>
                </a:solidFill>
                <a:latin typeface="Consolas"/>
              </a:rPr>
              <a:t>"setState() called after dispose(): _ApplicationFormScreenState…"</a:t>
            </a:r>
          </a:p>
          <a:p>
            <a:pPr>
              <a:lnSpc>
                <a:spcPct val="100000"/>
              </a:lnSpc>
            </a:pPr>
            <a:r>
              <a:rPr sz="1100">
                <a:solidFill>
                  <a:srgbClr val="E6E8EE"/>
                </a:solidFill>
                <a:latin typeface="Consolas"/>
              </a:rPr>
              <a:t>[tampal stack trace penuh di sini]</a:t>
            </a:r>
          </a:p>
          <a:p>
            <a:pPr>
              <a:lnSpc>
                <a:spcPct val="100000"/>
              </a:lnSpc>
            </a:pPr>
            <a:r>
              <a:rPr sz="1100">
                <a:solidFill>
                  <a:srgbClr val="E6E8EE"/>
                </a:solidFill>
                <a:latin typeface="Consolas"/>
              </a:rPr>
              <a:t>Jelaskan puncanya, dan tunjukkan di baris MANA dalam kod saya</a:t>
            </a:r>
          </a:p>
          <a:p>
            <a:pPr>
              <a:lnSpc>
                <a:spcPct val="100000"/>
              </a:lnSpc>
            </a:pPr>
            <a:r>
              <a:rPr sz="1100">
                <a:solidFill>
                  <a:srgbClr val="E6E8EE"/>
                </a:solidFill>
                <a:latin typeface="Consolas"/>
              </a:rPr>
              <a:t>semakan `if (!mounted) return;` patut ditambah.</a:t>
            </a:r>
          </a:p>
          <a:p>
            <a:pPr>
              <a:lnSpc>
                <a:spcPct val="100000"/>
              </a:lnSpc>
            </a:pPr>
            <a:r>
              <a:rPr sz="1100">
                <a:solidFill>
                  <a:srgbClr val="E6E8EE"/>
                </a:solidFill>
                <a:latin typeface="Consolas"/>
              </a:rPr>
              <a:t>  </a:t>
            </a:r>
          </a:p>
        </p:txBody>
      </p:sp>
      <p:sp>
        <p:nvSpPr>
          <p:cNvPr id="6" name="TextBox 5"/>
          <p:cNvSpPr txBox="1"/>
          <p:nvPr/>
        </p:nvSpPr>
        <p:spPr>
          <a:xfrm>
            <a:off x="640080" y="3241548"/>
            <a:ext cx="10911535" cy="493776"/>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Jawapannya hampir selalu semakan mounted — biar AI bantu kenal pasti baris tepat dalam kod anda, kemudian sahkan dengan menguji semula aliran yang sama.</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Rumusan Hari 3</a:t>
            </a:r>
          </a:p>
        </p:txBody>
      </p:sp>
      <p:sp>
        <p:nvSpPr>
          <p:cNvPr id="3" name="Rounded Rectangle 2"/>
          <p:cNvSpPr/>
          <p:nvPr/>
        </p:nvSpPr>
        <p:spPr>
          <a:xfrm>
            <a:off x="640080" y="1051560"/>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Navigasi</a:t>
            </a:r>
          </a:p>
        </p:txBody>
      </p:sp>
      <p:sp>
        <p:nvSpPr>
          <p:cNvPr id="5" name="TextBox 4"/>
          <p:cNvSpPr txBox="1"/>
          <p:nvPr/>
        </p:nvSpPr>
        <p:spPr>
          <a:xfrm>
            <a:off x="768096"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push/pop + MaterialPageRoute · named routes (pushNamed, onGenerateRoute) · data masuk (constructor) &amp; keluar (pop(value) + await push)</a:t>
            </a:r>
          </a:p>
        </p:txBody>
      </p:sp>
      <p:sp>
        <p:nvSpPr>
          <p:cNvPr id="6" name="Rounded Rectangle 5"/>
          <p:cNvSpPr/>
          <p:nvPr/>
        </p:nvSpPr>
        <p:spPr>
          <a:xfrm>
            <a:off x="4338218" y="1051560"/>
            <a:ext cx="3515258"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466234"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Borang eTT</a:t>
            </a:r>
          </a:p>
        </p:txBody>
      </p:sp>
      <p:sp>
        <p:nvSpPr>
          <p:cNvPr id="8" name="TextBox 7"/>
          <p:cNvSpPr txBox="1"/>
          <p:nvPr/>
        </p:nvSpPr>
        <p:spPr>
          <a:xfrm>
            <a:off x="4466234"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Form + GlobalKey · TextEditingController · validator diuji kes tepi · dropdown 1 negara + 1 bidang + 3 pilihan universiti</a:t>
            </a:r>
          </a:p>
        </p:txBody>
      </p:sp>
      <p:sp>
        <p:nvSpPr>
          <p:cNvPr id="9" name="Rounded Rectangle 8"/>
          <p:cNvSpPr/>
          <p:nvPr/>
        </p:nvSpPr>
        <p:spPr>
          <a:xfrm>
            <a:off x="8036356" y="1051560"/>
            <a:ext cx="3515258"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164372"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setState()</a:t>
            </a:r>
          </a:p>
        </p:txBody>
      </p:sp>
      <p:sp>
        <p:nvSpPr>
          <p:cNvPr id="11" name="TextBox 10"/>
          <p:cNvSpPr txBox="1"/>
          <p:nvPr/>
        </p:nvSpPr>
        <p:spPr>
          <a:xfrm>
            <a:off x="8164372"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Kitaran hayat createState → initState → build → dispose · semakan mounted · kesilapan biasa</a:t>
            </a:r>
          </a:p>
        </p:txBody>
      </p:sp>
      <p:sp>
        <p:nvSpPr>
          <p:cNvPr id="12" name="TextBox 11"/>
          <p:cNvSpPr txBox="1"/>
          <p:nvPr/>
        </p:nvSpPr>
        <p:spPr>
          <a:xfrm>
            <a:off x="640080" y="2221992"/>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Esok: sambungkan senarai tawaran ke REST API — pakej http, async/await &amp; pengendalian ralat.</a:t>
            </a:r>
          </a:p>
        </p:txBody>
      </p:sp>
      <p:sp>
        <p:nvSpPr>
          <p:cNvPr id="13" name="TextBox 12"/>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1A2B5C"/>
        </a:solidFill>
        <a:effectLst/>
      </p:bgPr>
    </p:bg>
    <p:spTree>
      <p:nvGrpSpPr>
        <p:cNvPr id="1" name=""/>
        <p:cNvGrpSpPr/>
        <p:nvPr/>
      </p:nvGrpSpPr>
      <p:grpSpPr/>
      <p:sp>
        <p:nvSpPr>
          <p:cNvPr id="2" name="TextBox 1"/>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300" b="1">
                <a:solidFill>
                  <a:srgbClr val="D4A017"/>
                </a:solidFill>
                <a:latin typeface="Segoe UI"/>
              </a:rPr>
              <a:t>HARI 4</a:t>
            </a:r>
          </a:p>
        </p:txBody>
      </p:sp>
      <p:sp>
        <p:nvSpPr>
          <p:cNvPr id="3" name="TextBox 2"/>
          <p:cNvSpPr txBox="1"/>
          <p:nvPr/>
        </p:nvSpPr>
        <p:spPr>
          <a:xfrm>
            <a:off x="640080" y="1554480"/>
            <a:ext cx="10911535" cy="566928"/>
          </a:xfrm>
          <a:prstGeom prst="rect">
            <a:avLst/>
          </a:prstGeom>
          <a:noFill/>
        </p:spPr>
        <p:txBody>
          <a:bodyPr wrap="square" anchor="t" lIns="38100" rIns="38100" tIns="25400" bIns="25400">
            <a:spAutoFit/>
          </a:bodyPr>
          <a:lstStyle/>
          <a:p>
            <a:pPr algn="l">
              <a:lnSpc>
                <a:spcPct val="105000"/>
              </a:lnSpc>
            </a:pPr>
            <a:r>
              <a:rPr sz="3400" b="1">
                <a:solidFill>
                  <a:srgbClr val="FFFFFF"/>
                </a:solidFill>
                <a:latin typeface="Segoe UI"/>
              </a:rPr>
              <a:t>REST API, Async &amp; Error Handling</a:t>
            </a:r>
          </a:p>
        </p:txBody>
      </p:sp>
      <p:sp>
        <p:nvSpPr>
          <p:cNvPr id="4" name="TextBox 3"/>
          <p:cNvSpPr txBox="1"/>
          <p:nvPr/>
        </p:nvSpPr>
        <p:spPr>
          <a:xfrm>
            <a:off x="640080" y="2231136"/>
            <a:ext cx="10911535" cy="384048"/>
          </a:xfrm>
          <a:prstGeom prst="rect">
            <a:avLst/>
          </a:prstGeom>
          <a:noFill/>
        </p:spPr>
        <p:txBody>
          <a:bodyPr wrap="square" anchor="t" lIns="38100" rIns="38100" tIns="25400" bIns="25400">
            <a:spAutoFit/>
          </a:bodyPr>
          <a:lstStyle/>
          <a:p>
            <a:pPr algn="l">
              <a:lnSpc>
                <a:spcPct val="105000"/>
              </a:lnSpc>
            </a:pPr>
            <a:r>
              <a:rPr sz="1800" b="1">
                <a:solidFill>
                  <a:srgbClr val="D4A017"/>
                </a:solidFill>
                <a:latin typeface="Segoe UI"/>
              </a:rPr>
              <a:t>23 Julai 2026 (Khamis) · SESI 6 &amp; SESI 7 — dari data hardcoded ke data dari pelayan, dengan loading, ralat &amp; muat semula</a:t>
            </a:r>
          </a:p>
        </p:txBody>
      </p:sp>
      <p:sp>
        <p:nvSpPr>
          <p:cNvPr id="5" name="TextBox 4"/>
          <p:cNvSpPr txBox="1"/>
          <p:nvPr/>
        </p:nvSpPr>
        <p:spPr>
          <a:xfrm>
            <a:off x="731519" y="268833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REST API: Backend vs Frontend · HTTP methods &amp; JSON</a:t>
            </a:r>
          </a:p>
        </p:txBody>
      </p:sp>
      <p:sp>
        <p:nvSpPr>
          <p:cNvPr id="6" name="TextBox 5"/>
          <p:cNvSpPr txBox="1"/>
          <p:nvPr/>
        </p:nvSpPr>
        <p:spPr>
          <a:xfrm>
            <a:off x="731519" y="296265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Pakej http · Async, Future &amp; await · fetch data</a:t>
            </a:r>
          </a:p>
        </p:txBody>
      </p:sp>
      <p:sp>
        <p:nvSpPr>
          <p:cNvPr id="7" name="TextBox 6"/>
          <p:cNvSpPr txBox="1"/>
          <p:nvPr/>
        </p:nvSpPr>
        <p:spPr>
          <a:xfrm>
            <a:off x="731519" y="323697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JSON → Dart model class · submit data (POST)</a:t>
            </a:r>
          </a:p>
        </p:txBody>
      </p:sp>
      <p:sp>
        <p:nvSpPr>
          <p:cNvPr id="8" name="TextBox 7"/>
          <p:cNvSpPr txBox="1"/>
          <p:nvPr/>
        </p:nvSpPr>
        <p:spPr>
          <a:xfrm>
            <a:off x="731519" y="351129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HTTP status code · try-catch, loading &amp; paparan ralat</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Aturcara Hari Ini</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5455767"/>
                <a:gridCol w="5455768"/>
              </a:tblGrid>
              <a:tr h="274319">
                <a:tc>
                  <a:txBody>
                    <a:bodyPr/>
                    <a:lstStyle/>
                    <a:p>
                      <a:r>
                        <a:rPr sz="1100" b="1">
                          <a:solidFill>
                            <a:srgbClr val="FFFFFF"/>
                          </a:solidFill>
                          <a:latin typeface="Segoe UI"/>
                        </a:rPr>
                        <a:t>Masa</a:t>
                      </a:r>
                    </a:p>
                  </a:txBody>
                  <a:tcPr marL="63500" marR="63500" marT="25400" marB="25400">
                    <a:solidFill>
                      <a:srgbClr val="1A2B5C"/>
                    </a:solidFill>
                  </a:tcPr>
                </a:tc>
                <a:tc>
                  <a:txBody>
                    <a:bodyPr/>
                    <a:lstStyle/>
                    <a:p>
                      <a:r>
                        <a:rPr sz="1100" b="1">
                          <a:solidFill>
                            <a:srgbClr val="FFFFFF"/>
                          </a:solidFill>
                          <a:latin typeface="Segoe UI"/>
                        </a:rPr>
                        <a:t>Sesi</a:t>
                      </a:r>
                    </a:p>
                  </a:txBody>
                  <a:tcPr marL="63500" marR="63500" marT="25400" marB="25400">
                    <a:solidFill>
                      <a:srgbClr val="1A2B5C"/>
                    </a:solidFill>
                  </a:tcPr>
                </a:tc>
              </a:tr>
              <a:tr h="274319">
                <a:tc>
                  <a:txBody>
                    <a:bodyPr/>
                    <a:lstStyle/>
                    <a:p>
                      <a:r>
                        <a:rPr sz="1100" b="0">
                          <a:solidFill>
                            <a:srgbClr val="566371"/>
                          </a:solidFill>
                          <a:latin typeface="Segoe UI"/>
                        </a:rPr>
                        <a:t>8.30 – 9.00 pagi</a:t>
                      </a:r>
                    </a:p>
                  </a:txBody>
                  <a:tcPr marL="63500" marR="63500" marT="25400" marB="25400">
                    <a:solidFill>
                      <a:srgbClr val="FFFFFF"/>
                    </a:solidFill>
                  </a:tcPr>
                </a:tc>
                <a:tc>
                  <a:txBody>
                    <a:bodyPr/>
                    <a:lstStyle/>
                    <a:p>
                      <a:r>
                        <a:rPr sz="1100" b="0">
                          <a:solidFill>
                            <a:srgbClr val="566371"/>
                          </a:solidFill>
                          <a:latin typeface="Segoe UI"/>
                        </a:rPr>
                        <a:t>Pendaftaran &amp; minum pagi</a:t>
                      </a:r>
                    </a:p>
                  </a:txBody>
                  <a:tcPr marL="63500" marR="63500" marT="25400" marB="25400">
                    <a:solidFill>
                      <a:srgbClr val="FFFFFF"/>
                    </a:solidFill>
                  </a:tcPr>
                </a:tc>
              </a:tr>
              <a:tr h="274319">
                <a:tc>
                  <a:txBody>
                    <a:bodyPr/>
                    <a:lstStyle/>
                    <a:p>
                      <a:r>
                        <a:rPr sz="1100" b="0">
                          <a:solidFill>
                            <a:srgbClr val="566371"/>
                          </a:solidFill>
                          <a:latin typeface="Segoe UI"/>
                        </a:rPr>
                        <a:t>9.00 pagi – 1.00 ptg</a:t>
                      </a:r>
                    </a:p>
                  </a:txBody>
                  <a:tcPr marL="63500" marR="63500" marT="25400" marB="25400">
                    <a:solidFill>
                      <a:srgbClr val="FFFFFF"/>
                    </a:solidFill>
                  </a:tcPr>
                </a:tc>
                <a:tc>
                  <a:txBody>
                    <a:bodyPr/>
                    <a:lstStyle/>
                    <a:p>
                      <a:r>
                        <a:rPr sz="1100" b="0">
                          <a:solidFill>
                            <a:srgbClr val="566371"/>
                          </a:solidFill>
                          <a:latin typeface="Segoe UI"/>
                        </a:rPr>
                        <a:t>SESI 6 — Konsep REST API &amp; Sambungan Backend</a:t>
                      </a:r>
                    </a:p>
                  </a:txBody>
                  <a:tcPr marL="63500" marR="63500" marT="25400" marB="25400">
                    <a:solidFill>
                      <a:srgbClr val="FFFFFF"/>
                    </a:solidFill>
                  </a:tcPr>
                </a:tc>
              </a:tr>
              <a:tr h="274319">
                <a:tc>
                  <a:txBody>
                    <a:bodyPr/>
                    <a:lstStyle/>
                    <a:p>
                      <a:r>
                        <a:rPr sz="1100" b="0">
                          <a:solidFill>
                            <a:srgbClr val="566371"/>
                          </a:solidFill>
                          <a:latin typeface="Segoe UI"/>
                        </a:rPr>
                        <a:t>1.00 – 2.30 ptg</a:t>
                      </a:r>
                    </a:p>
                  </a:txBody>
                  <a:tcPr marL="63500" marR="63500" marT="25400" marB="25400">
                    <a:solidFill>
                      <a:srgbClr val="FFFFFF"/>
                    </a:solidFill>
                  </a:tcPr>
                </a:tc>
                <a:tc>
                  <a:txBody>
                    <a:bodyPr/>
                    <a:lstStyle/>
                    <a:p>
                      <a:r>
                        <a:rPr sz="1100" b="0">
                          <a:solidFill>
                            <a:srgbClr val="566371"/>
                          </a:solidFill>
                          <a:latin typeface="Segoe UI"/>
                        </a:rPr>
                        <a:t>Rehat &amp; makan tengah hari</a:t>
                      </a:r>
                    </a:p>
                  </a:txBody>
                  <a:tcPr marL="63500" marR="63500" marT="25400" marB="25400">
                    <a:solidFill>
                      <a:srgbClr val="FFFFFF"/>
                    </a:solidFill>
                  </a:tcPr>
                </a:tc>
              </a:tr>
              <a:tr h="274319">
                <a:tc>
                  <a:txBody>
                    <a:bodyPr/>
                    <a:lstStyle/>
                    <a:p>
                      <a:r>
                        <a:rPr sz="1100" b="0">
                          <a:solidFill>
                            <a:srgbClr val="566371"/>
                          </a:solidFill>
                          <a:latin typeface="Segoe UI"/>
                        </a:rPr>
                        <a:t>2.30 – 5.00 ptg</a:t>
                      </a:r>
                    </a:p>
                  </a:txBody>
                  <a:tcPr marL="63500" marR="63500" marT="25400" marB="25400">
                    <a:solidFill>
                      <a:srgbClr val="FFFFFF"/>
                    </a:solidFill>
                  </a:tcPr>
                </a:tc>
                <a:tc>
                  <a:txBody>
                    <a:bodyPr/>
                    <a:lstStyle/>
                    <a:p>
                      <a:r>
                        <a:rPr sz="1100" b="0">
                          <a:solidFill>
                            <a:srgbClr val="566371"/>
                          </a:solidFill>
                          <a:latin typeface="Segoe UI"/>
                        </a:rPr>
                        <a:t>SESI 7 — Model Data &amp; Pengendalian Ralat</a:t>
                      </a:r>
                    </a:p>
                  </a:txBody>
                  <a:tcPr marL="63500" marR="63500" marT="25400" marB="25400">
                    <a:solidFill>
                      <a:srgbClr val="FFFFFF"/>
                    </a:solidFill>
                  </a:tcPr>
                </a:tc>
              </a:tr>
              <a:tr h="274324">
                <a:tc>
                  <a:txBody>
                    <a:bodyPr/>
                    <a:lstStyle/>
                    <a:p>
                      <a:r>
                        <a:rPr sz="1100" b="0">
                          <a:solidFill>
                            <a:srgbClr val="566371"/>
                          </a:solidFill>
                          <a:latin typeface="Segoe UI"/>
                        </a:rPr>
                        <a:t>5.00 ptg</a:t>
                      </a:r>
                    </a:p>
                  </a:txBody>
                  <a:tcPr marL="63500" marR="63500" marT="25400" marB="25400">
                    <a:solidFill>
                      <a:srgbClr val="FFFFFF"/>
                    </a:solidFill>
                  </a:tcPr>
                </a:tc>
                <a:tc>
                  <a:txBody>
                    <a:bodyPr/>
                    <a:lstStyle/>
                    <a:p>
                      <a:r>
                        <a:rPr sz="1100" b="0">
                          <a:solidFill>
                            <a:srgbClr val="566371"/>
                          </a:solidFill>
                          <a:latin typeface="Segoe UI"/>
                        </a:rPr>
                        <a:t>Bersurai</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Sebelum vs Selepas Hari Ini</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5455767"/>
                <a:gridCol w="5455768"/>
              </a:tblGrid>
              <a:tr h="274319">
                <a:tc>
                  <a:txBody>
                    <a:bodyPr/>
                    <a:lstStyle/>
                    <a:p>
                      <a:r>
                        <a:rPr sz="1100" b="1">
                          <a:solidFill>
                            <a:srgbClr val="FFFFFF"/>
                          </a:solidFill>
                          <a:latin typeface="Segoe UI"/>
                        </a:rPr>
                        <a:t>Sebelum (Hari 1–3)</a:t>
                      </a:r>
                    </a:p>
                  </a:txBody>
                  <a:tcPr marL="63500" marR="63500" marT="25400" marB="25400">
                    <a:solidFill>
                      <a:srgbClr val="1A2B5C"/>
                    </a:solidFill>
                  </a:tcPr>
                </a:tc>
                <a:tc>
                  <a:txBody>
                    <a:bodyPr/>
                    <a:lstStyle/>
                    <a:p>
                      <a:r>
                        <a:rPr sz="1100" b="1">
                          <a:solidFill>
                            <a:srgbClr val="FFFFFF"/>
                          </a:solidFill>
                          <a:latin typeface="Segoe UI"/>
                        </a:rPr>
                        <a:t>Selepas (Hari 4)</a:t>
                      </a:r>
                    </a:p>
                  </a:txBody>
                  <a:tcPr marL="63500" marR="63500" marT="25400" marB="25400">
                    <a:solidFill>
                      <a:srgbClr val="1A2B5C"/>
                    </a:solidFill>
                  </a:tcPr>
                </a:tc>
              </a:tr>
              <a:tr h="274319">
                <a:tc>
                  <a:txBody>
                    <a:bodyPr/>
                    <a:lstStyle/>
                    <a:p>
                      <a:r>
                        <a:rPr sz="1100" b="0">
                          <a:solidFill>
                            <a:srgbClr val="566371"/>
                          </a:solidFill>
                          <a:latin typeface="Segoe UI"/>
                        </a:rPr>
                        <a:t>sampleProgrammes yang const, sentiasa sama</a:t>
                      </a:r>
                    </a:p>
                  </a:txBody>
                  <a:tcPr marL="63500" marR="63500" marT="25400" marB="25400">
                    <a:solidFill>
                      <a:srgbClr val="FFFFFF"/>
                    </a:solidFill>
                  </a:tcPr>
                </a:tc>
                <a:tc>
                  <a:txBody>
                    <a:bodyPr/>
                    <a:lstStyle/>
                    <a:p>
                      <a:r>
                        <a:rPr sz="1100" b="0">
                          <a:solidFill>
                            <a:srgbClr val="566371"/>
                          </a:solidFill>
                          <a:latin typeface="Segoe UI"/>
                        </a:rPr>
                        <a:t>Senarai fetch daripada API JSON</a:t>
                      </a:r>
                    </a:p>
                  </a:txBody>
                  <a:tcPr marL="63500" marR="63500" marT="25400" marB="25400">
                    <a:solidFill>
                      <a:srgbClr val="FFFFFF"/>
                    </a:solidFill>
                  </a:tcPr>
                </a:tc>
              </a:tr>
              <a:tr h="274319">
                <a:tc>
                  <a:txBody>
                    <a:bodyPr/>
                    <a:lstStyle/>
                    <a:p>
                      <a:r>
                        <a:rPr sz="1100" b="0">
                          <a:solidFill>
                            <a:srgbClr val="566371"/>
                          </a:solidFill>
                          <a:latin typeface="Segoe UI"/>
                        </a:rPr>
                        <a:t>Terus papar — tiada "loading"</a:t>
                      </a:r>
                    </a:p>
                  </a:txBody>
                  <a:tcPr marL="63500" marR="63500" marT="25400" marB="25400">
                    <a:solidFill>
                      <a:srgbClr val="FFFFFF"/>
                    </a:solidFill>
                  </a:tcPr>
                </a:tc>
                <a:tc>
                  <a:txBody>
                    <a:bodyPr/>
                    <a:lstStyle/>
                    <a:p>
                      <a:r>
                        <a:rPr sz="1100" b="0">
                          <a:solidFill>
                            <a:srgbClr val="566371"/>
                          </a:solidFill>
                          <a:latin typeface="Segoe UI"/>
                        </a:rPr>
                        <a:t>CircularProgressIndicator semasa memuat</a:t>
                      </a:r>
                    </a:p>
                  </a:txBody>
                  <a:tcPr marL="63500" marR="63500" marT="25400" marB="25400">
                    <a:solidFill>
                      <a:srgbClr val="FFFFFF"/>
                    </a:solidFill>
                  </a:tcPr>
                </a:tc>
              </a:tr>
              <a:tr h="274319">
                <a:tc>
                  <a:txBody>
                    <a:bodyPr/>
                    <a:lstStyle/>
                    <a:p>
                      <a:r>
                        <a:rPr sz="1100" b="0">
                          <a:solidFill>
                            <a:srgbClr val="566371"/>
                          </a:solidFill>
                          <a:latin typeface="Segoe UI"/>
                        </a:rPr>
                        <a:t>Tiada pengendalian ralat rangkaian</a:t>
                      </a:r>
                    </a:p>
                  </a:txBody>
                  <a:tcPr marL="63500" marR="63500" marT="25400" marB="25400">
                    <a:solidFill>
                      <a:srgbClr val="FFFFFF"/>
                    </a:solidFill>
                  </a:tcPr>
                </a:tc>
                <a:tc>
                  <a:txBody>
                    <a:bodyPr/>
                    <a:lstStyle/>
                    <a:p>
                      <a:r>
                        <a:rPr sz="1100" b="0">
                          <a:solidFill>
                            <a:srgbClr val="566371"/>
                          </a:solidFill>
                          <a:latin typeface="Segoe UI"/>
                        </a:rPr>
                        <a:t>Skrin ralat + butang Cuba Lagi</a:t>
                      </a:r>
                    </a:p>
                  </a:txBody>
                  <a:tcPr marL="63500" marR="63500" marT="25400" marB="25400">
                    <a:solidFill>
                      <a:srgbClr val="FFFFFF"/>
                    </a:solidFill>
                  </a:tcPr>
                </a:tc>
              </a:tr>
              <a:tr h="274319">
                <a:tc>
                  <a:txBody>
                    <a:bodyPr/>
                    <a:lstStyle/>
                    <a:p>
                      <a:r>
                        <a:rPr sz="1100" b="0">
                          <a:solidFill>
                            <a:srgbClr val="566371"/>
                          </a:solidFill>
                          <a:latin typeface="Segoe UI"/>
                        </a:rPr>
                        <a:t>Borang simpan dalam memori sahaja</a:t>
                      </a:r>
                    </a:p>
                  </a:txBody>
                  <a:tcPr marL="63500" marR="63500" marT="25400" marB="25400">
                    <a:solidFill>
                      <a:srgbClr val="FFFFFF"/>
                    </a:solidFill>
                  </a:tcPr>
                </a:tc>
                <a:tc>
                  <a:txBody>
                    <a:bodyPr/>
                    <a:lstStyle/>
                    <a:p>
                      <a:r>
                        <a:rPr sz="1100" b="0">
                          <a:solidFill>
                            <a:srgbClr val="566371"/>
                          </a:solidFill>
                          <a:latin typeface="Segoe UI"/>
                        </a:rPr>
                        <a:t>Borang boleh POST ke pelayan mock</a:t>
                      </a:r>
                    </a:p>
                  </a:txBody>
                  <a:tcPr marL="63500" marR="63500" marT="25400" marB="25400">
                    <a:solidFill>
                      <a:srgbClr val="FFFFFF"/>
                    </a:solidFill>
                  </a:tcPr>
                </a:tc>
              </a:tr>
              <a:tr h="274324">
                <a:tc>
                  <a:txBody>
                    <a:bodyPr/>
                    <a:lstStyle/>
                    <a:p>
                      <a:r>
                        <a:rPr sz="1100" b="0">
                          <a:solidFill>
                            <a:srgbClr val="566371"/>
                          </a:solidFill>
                          <a:latin typeface="Segoe UI"/>
                        </a:rPr>
                        <a:t>Data berubah bila kod ditukar</a:t>
                      </a:r>
                    </a:p>
                  </a:txBody>
                  <a:tcPr marL="63500" marR="63500" marT="25400" marB="25400">
                    <a:solidFill>
                      <a:srgbClr val="FFFFFF"/>
                    </a:solidFill>
                  </a:tcPr>
                </a:tc>
                <a:tc>
                  <a:txBody>
                    <a:bodyPr/>
                    <a:lstStyle/>
                    <a:p>
                      <a:r>
                        <a:rPr sz="1100" b="0">
                          <a:solidFill>
                            <a:srgbClr val="566371"/>
                          </a:solidFill>
                          <a:latin typeface="Segoe UI"/>
                        </a:rPr>
                        <a:t>Pull-to-refresh bila-bila masa</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SESI 6 — Backend vs Frontend</a:t>
            </a:r>
          </a:p>
        </p:txBody>
      </p:sp>
      <p:graphicFrame>
        <p:nvGraphicFramePr>
          <p:cNvPr id="3" name="Table 2"/>
          <p:cNvGraphicFramePr>
            <a:graphicFrameLocks noGrp="1"/>
          </p:cNvGraphicFramePr>
          <p:nvPr/>
        </p:nvGraphicFramePr>
        <p:xfrm>
          <a:off x="640080" y="1051560"/>
          <a:ext cx="10911535" cy="109728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txBody>
                  <a:tcPr marL="63500" marR="63500" marT="25400" marB="25400">
                    <a:solidFill>
                      <a:srgbClr val="1A2B5C"/>
                    </a:solidFill>
                  </a:tcPr>
                </a:tc>
                <a:tc>
                  <a:txBody>
                    <a:bodyPr/>
                    <a:lstStyle/>
                    <a:p>
                      <a:r>
                        <a:rPr sz="1100" b="1">
                          <a:solidFill>
                            <a:srgbClr val="FFFFFF"/>
                          </a:solidFill>
                          <a:latin typeface="Segoe UI"/>
                        </a:rPr>
                        <a:t>Frontend (kita bina)</a:t>
                      </a:r>
                    </a:p>
                  </a:txBody>
                  <a:tcPr marL="63500" marR="63500" marT="25400" marB="25400">
                    <a:solidFill>
                      <a:srgbClr val="1A2B5C"/>
                    </a:solidFill>
                  </a:tcPr>
                </a:tc>
                <a:tc>
                  <a:txBody>
                    <a:bodyPr/>
                    <a:lstStyle/>
                    <a:p>
                      <a:r>
                        <a:rPr sz="1100" b="1">
                          <a:solidFill>
                            <a:srgbClr val="FFFFFF"/>
                          </a:solidFill>
                          <a:latin typeface="Segoe UI"/>
                        </a:rPr>
                        <a:t>Backend (pelayan)</a:t>
                      </a:r>
                    </a:p>
                  </a:txBody>
                  <a:tcPr marL="63500" marR="63500" marT="25400" marB="25400">
                    <a:solidFill>
                      <a:srgbClr val="1A2B5C"/>
                    </a:solidFill>
                  </a:tcPr>
                </a:tc>
              </a:tr>
              <a:tr h="274320">
                <a:tc>
                  <a:txBody>
                    <a:bodyPr/>
                    <a:lstStyle/>
                    <a:p>
                      <a:r>
                        <a:rPr sz="1100" b="0">
                          <a:solidFill>
                            <a:srgbClr val="566371"/>
                          </a:solidFill>
                          <a:latin typeface="Segoe UI"/>
                        </a:rPr>
                        <a:t>Contoh</a:t>
                      </a:r>
                    </a:p>
                  </a:txBody>
                  <a:tcPr marL="63500" marR="63500" marT="25400" marB="25400">
                    <a:solidFill>
                      <a:srgbClr val="FFFFFF"/>
                    </a:solidFill>
                  </a:tcPr>
                </a:tc>
                <a:tc>
                  <a:txBody>
                    <a:bodyPr/>
                    <a:lstStyle/>
                    <a:p>
                      <a:r>
                        <a:rPr sz="1100" b="0">
                          <a:solidFill>
                            <a:srgbClr val="566371"/>
                          </a:solidFill>
                          <a:latin typeface="Segoe UI"/>
                        </a:rPr>
                        <a:t>Aplikasi Flutter ett_mobile di telefon pelajar</a:t>
                      </a:r>
                    </a:p>
                  </a:txBody>
                  <a:tcPr marL="63500" marR="63500" marT="25400" marB="25400">
                    <a:solidFill>
                      <a:srgbClr val="FFFFFF"/>
                    </a:solidFill>
                  </a:tcPr>
                </a:tc>
                <a:tc>
                  <a:txBody>
                    <a:bodyPr/>
                    <a:lstStyle/>
                    <a:p>
                      <a:r>
                        <a:rPr sz="1100" b="0">
                          <a:solidFill>
                            <a:srgbClr val="566371"/>
                          </a:solidFill>
                          <a:latin typeface="Segoe UI"/>
                        </a:rPr>
                        <a:t>Pelayan KPT yang simpan senarai tawaran &amp; permohonan</a:t>
                      </a:r>
                    </a:p>
                  </a:txBody>
                  <a:tcPr marL="63500" marR="63500" marT="25400" marB="25400">
                    <a:solidFill>
                      <a:srgbClr val="FFFFFF"/>
                    </a:solidFill>
                  </a:tcPr>
                </a:tc>
              </a:tr>
              <a:tr h="274320">
                <a:tc>
                  <a:txBody>
                    <a:bodyPr/>
                    <a:lstStyle/>
                    <a:p>
                      <a:r>
                        <a:rPr sz="1100" b="0">
                          <a:solidFill>
                            <a:srgbClr val="566371"/>
                          </a:solidFill>
                          <a:latin typeface="Segoe UI"/>
                        </a:rPr>
                        <a:t>Peranan</a:t>
                      </a:r>
                    </a:p>
                  </a:txBody>
                  <a:tcPr marL="63500" marR="63500" marT="25400" marB="25400">
                    <a:solidFill>
                      <a:srgbClr val="FFFFFF"/>
                    </a:solidFill>
                  </a:tcPr>
                </a:tc>
                <a:tc>
                  <a:txBody>
                    <a:bodyPr/>
                    <a:lstStyle/>
                    <a:p>
                      <a:r>
                        <a:rPr sz="1100" b="0">
                          <a:solidFill>
                            <a:srgbClr val="566371"/>
                          </a:solidFill>
                          <a:latin typeface="Segoe UI"/>
                        </a:rPr>
                        <a:t>Papar UI, terima input, minta &amp; hantar data</a:t>
                      </a:r>
                    </a:p>
                  </a:txBody>
                  <a:tcPr marL="63500" marR="63500" marT="25400" marB="25400">
                    <a:solidFill>
                      <a:srgbClr val="FFFFFF"/>
                    </a:solidFill>
                  </a:tcPr>
                </a:tc>
                <a:tc>
                  <a:txBody>
                    <a:bodyPr/>
                    <a:lstStyle/>
                    <a:p>
                      <a:r>
                        <a:rPr sz="1100" b="0">
                          <a:solidFill>
                            <a:srgbClr val="566371"/>
                          </a:solidFill>
                          <a:latin typeface="Segoe UI"/>
                        </a:rPr>
                        <a:t>Simpan data pusat, proses logik, balas permintaan</a:t>
                      </a:r>
                    </a:p>
                  </a:txBody>
                  <a:tcPr marL="63500" marR="63500" marT="25400" marB="25400">
                    <a:solidFill>
                      <a:srgbClr val="FFFFFF"/>
                    </a:solidFill>
                  </a:tcPr>
                </a:tc>
              </a:tr>
              <a:tr h="274320">
                <a:tc>
                  <a:txBody>
                    <a:bodyPr/>
                    <a:lstStyle/>
                    <a:p>
                      <a:r>
                        <a:rPr sz="1100" b="0">
                          <a:solidFill>
                            <a:srgbClr val="566371"/>
                          </a:solidFill>
                          <a:latin typeface="Segoe UI"/>
                        </a:rPr>
                        <a:t>Siapa kawal</a:t>
                      </a:r>
                    </a:p>
                  </a:txBody>
                  <a:tcPr marL="63500" marR="63500" marT="25400" marB="25400">
                    <a:solidFill>
                      <a:srgbClr val="FFFFFF"/>
                    </a:solidFill>
                  </a:tcPr>
                </a:tc>
                <a:tc>
                  <a:txBody>
                    <a:bodyPr/>
                    <a:lstStyle/>
                    <a:p>
                      <a:r>
                        <a:rPr sz="1100" b="0">
                          <a:solidFill>
                            <a:srgbClr val="566371"/>
                          </a:solidFill>
                          <a:latin typeface="Segoe UI"/>
                        </a:rPr>
                        <a:t>Setiap peranti pengguna</a:t>
                      </a:r>
                    </a:p>
                  </a:txBody>
                  <a:tcPr marL="63500" marR="63500" marT="25400" marB="25400">
                    <a:solidFill>
                      <a:srgbClr val="FFFFFF"/>
                    </a:solidFill>
                  </a:tcPr>
                </a:tc>
                <a:tc>
                  <a:txBody>
                    <a:bodyPr/>
                    <a:lstStyle/>
                    <a:p>
                      <a:r>
                        <a:rPr sz="1100" b="0">
                          <a:solidFill>
                            <a:srgbClr val="566371"/>
                          </a:solidFill>
                          <a:latin typeface="Segoe UI"/>
                        </a:rPr>
                        <a:t>Satu kumpulan pelayan dikawal KPT</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Corak REST API</a:t>
            </a:r>
          </a:p>
        </p:txBody>
      </p:sp>
      <p:sp>
        <p:nvSpPr>
          <p:cNvPr id="3" name="Rounded Rectangle 2"/>
          <p:cNvSpPr/>
          <p:nvPr/>
        </p:nvSpPr>
        <p:spPr>
          <a:xfrm>
            <a:off x="640080" y="1051560"/>
            <a:ext cx="10911535" cy="132588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143000"/>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Backend (pelayan)                Frontend (app Flutter)</a:t>
            </a:r>
          </a:p>
          <a:p>
            <a:pPr>
              <a:lnSpc>
                <a:spcPct val="100000"/>
              </a:lnSpc>
            </a:pPr>
            <a:r>
              <a:rPr sz="1100">
                <a:solidFill>
                  <a:srgbClr val="E6E8EE"/>
                </a:solidFill>
                <a:latin typeface="Consolas"/>
              </a:rPr>
              <a:t>   │  sedia ENDPOINT (URL)           │</a:t>
            </a:r>
          </a:p>
          <a:p>
            <a:pPr>
              <a:lnSpc>
                <a:spcPct val="100000"/>
              </a:lnSpc>
            </a:pPr>
            <a:r>
              <a:rPr sz="1100">
                <a:solidFill>
                  <a:srgbClr val="E6E8EE"/>
                </a:solidFill>
                <a:latin typeface="Consolas"/>
              </a:rPr>
              <a:t>   │  ◄──── request ──────────────── │  "Bagi senarai tawaran"</a:t>
            </a:r>
          </a:p>
          <a:p>
            <a:pPr>
              <a:lnSpc>
                <a:spcPct val="100000"/>
              </a:lnSpc>
            </a:pPr>
            <a:r>
              <a:rPr sz="1100">
                <a:solidFill>
                  <a:srgbClr val="E6E8EE"/>
                </a:solidFill>
                <a:latin typeface="Consolas"/>
              </a:rPr>
              <a:t>   │  ──── response (JSON) ────────► │  papar dalam UI</a:t>
            </a:r>
          </a:p>
          <a:p>
            <a:pPr>
              <a:lnSpc>
                <a:spcPct val="100000"/>
              </a:lnSpc>
            </a:pPr>
            <a:r>
              <a:rPr sz="1100">
                <a:solidFill>
                  <a:srgbClr val="E6E8EE"/>
                </a:solidFill>
                <a:latin typeface="Consolas"/>
              </a:rPr>
              <a:t>  </a:t>
            </a:r>
          </a:p>
        </p:txBody>
      </p:sp>
      <p:sp>
        <p:nvSpPr>
          <p:cNvPr id="5" name="TextBox 4"/>
          <p:cNvSpPr txBox="1"/>
          <p:nvPr/>
        </p:nvSpPr>
        <p:spPr>
          <a:xfrm>
            <a:off x="804671" y="248716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Frontend hantar permintaan HTTP ke satu endpoint (URL)</a:t>
            </a:r>
          </a:p>
        </p:txBody>
      </p:sp>
      <p:sp>
        <p:nvSpPr>
          <p:cNvPr id="6" name="TextBox 5"/>
          <p:cNvSpPr txBox="1"/>
          <p:nvPr/>
        </p:nvSpPr>
        <p:spPr>
          <a:xfrm>
            <a:off x="804671" y="271119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Backend balas dengan data — biasanya format JSON</a:t>
            </a:r>
          </a:p>
        </p:txBody>
      </p:sp>
      <p:sp>
        <p:nvSpPr>
          <p:cNvPr id="7" name="TextBox 6"/>
          <p:cNvSpPr txBox="1"/>
          <p:nvPr/>
        </p:nvSpPr>
        <p:spPr>
          <a:xfrm>
            <a:off x="804671" y="293522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Frontend tak perlu tahu bagaimana data disimpan — cuma cara minta &amp; cara hurai jawapan</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Empat Kaedah HTTP Utama</a:t>
            </a:r>
          </a:p>
        </p:txBody>
      </p:sp>
      <p:graphicFrame>
        <p:nvGraphicFramePr>
          <p:cNvPr id="3" name="Table 2"/>
          <p:cNvGraphicFramePr>
            <a:graphicFrameLocks noGrp="1"/>
          </p:cNvGraphicFramePr>
          <p:nvPr/>
        </p:nvGraphicFramePr>
        <p:xfrm>
          <a:off x="640080" y="1051560"/>
          <a:ext cx="10911535" cy="137160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r>
                        <a:rPr sz="1100" b="1">
                          <a:solidFill>
                            <a:srgbClr val="FFFFFF"/>
                          </a:solidFill>
                          <a:latin typeface="Segoe UI"/>
                        </a:rPr>
                        <a:t>Kaedah</a:t>
                      </a:r>
                    </a:p>
                  </a:txBody>
                  <a:tcPr marL="63500" marR="63500" marT="25400" marB="25400">
                    <a:solidFill>
                      <a:srgbClr val="1A2B5C"/>
                    </a:solidFill>
                  </a:tcPr>
                </a:tc>
                <a:tc>
                  <a:txBody>
                    <a:bodyPr/>
                    <a:lstStyle/>
                    <a:p>
                      <a:r>
                        <a:rPr sz="1100" b="1">
                          <a:solidFill>
                            <a:srgbClr val="FFFFFF"/>
                          </a:solidFill>
                          <a:latin typeface="Segoe UI"/>
                        </a:rPr>
                        <a:t>Makna</a:t>
                      </a:r>
                    </a:p>
                  </a:txBody>
                  <a:tcPr marL="63500" marR="63500" marT="25400" marB="25400">
                    <a:solidFill>
                      <a:srgbClr val="1A2B5C"/>
                    </a:solidFill>
                  </a:tcPr>
                </a:tc>
                <a:tc>
                  <a:txBody>
                    <a:bodyPr/>
                    <a:lstStyle/>
                    <a:p>
                      <a:r>
                        <a:rPr sz="1100" b="1">
                          <a:solidFill>
                            <a:srgbClr val="FFFFFF"/>
                          </a:solidFill>
                          <a:latin typeface="Segoe UI"/>
                        </a:rPr>
                        <a:t>Dalam eTT Mobile</a:t>
                      </a:r>
                    </a:p>
                  </a:txBody>
                  <a:tcPr marL="63500" marR="63500" marT="25400" marB="25400">
                    <a:solidFill>
                      <a:srgbClr val="1A2B5C"/>
                    </a:solidFill>
                  </a:tcPr>
                </a:tc>
              </a:tr>
              <a:tr h="274320">
                <a:tc>
                  <a:txBody>
                    <a:bodyPr/>
                    <a:lstStyle/>
                    <a:p>
                      <a:r>
                        <a:rPr sz="1100" b="0">
                          <a:solidFill>
                            <a:srgbClr val="566371"/>
                          </a:solidFill>
                          <a:latin typeface="Segoe UI"/>
                        </a:rPr>
                        <a:t>GET</a:t>
                      </a:r>
                    </a:p>
                  </a:txBody>
                  <a:tcPr marL="63500" marR="63500" marT="25400" marB="25400">
                    <a:solidFill>
                      <a:srgbClr val="FFFFFF"/>
                    </a:solidFill>
                  </a:tcPr>
                </a:tc>
                <a:tc>
                  <a:txBody>
                    <a:bodyPr/>
                    <a:lstStyle/>
                    <a:p>
                      <a:r>
                        <a:rPr sz="1100" b="0">
                          <a:solidFill>
                            <a:srgbClr val="566371"/>
                          </a:solidFill>
                          <a:latin typeface="Segoe UI"/>
                        </a:rPr>
                        <a:t>Ambil (baca) data</a:t>
                      </a:r>
                    </a:p>
                  </a:txBody>
                  <a:tcPr marL="63500" marR="63500" marT="25400" marB="25400">
                    <a:solidFill>
                      <a:srgbClr val="FFFFFF"/>
                    </a:solidFill>
                  </a:tcPr>
                </a:tc>
                <a:tc>
                  <a:txBody>
                    <a:bodyPr/>
                    <a:lstStyle/>
                    <a:p>
                      <a:r>
                        <a:rPr sz="1100" b="0">
                          <a:solidFill>
                            <a:srgbClr val="566371"/>
                          </a:solidFill>
                          <a:latin typeface="Segoe UI"/>
                        </a:rPr>
                        <a:t>GET /programmes — senarai tawaran Mesir/Maghribi</a:t>
                      </a:r>
                    </a:p>
                  </a:txBody>
                  <a:tcPr marL="63500" marR="63500" marT="25400" marB="25400">
                    <a:solidFill>
                      <a:srgbClr val="FFFFFF"/>
                    </a:solidFill>
                  </a:tcPr>
                </a:tc>
              </a:tr>
              <a:tr h="274320">
                <a:tc>
                  <a:txBody>
                    <a:bodyPr/>
                    <a:lstStyle/>
                    <a:p>
                      <a:r>
                        <a:rPr sz="1100" b="0">
                          <a:solidFill>
                            <a:srgbClr val="566371"/>
                          </a:solidFill>
                          <a:latin typeface="Segoe UI"/>
                        </a:rPr>
                        <a:t>POST</a:t>
                      </a:r>
                    </a:p>
                  </a:txBody>
                  <a:tcPr marL="63500" marR="63500" marT="25400" marB="25400">
                    <a:solidFill>
                      <a:srgbClr val="FFFFFF"/>
                    </a:solidFill>
                  </a:tcPr>
                </a:tc>
                <a:tc>
                  <a:txBody>
                    <a:bodyPr/>
                    <a:lstStyle/>
                    <a:p>
                      <a:r>
                        <a:rPr sz="1100" b="0">
                          <a:solidFill>
                            <a:srgbClr val="566371"/>
                          </a:solidFill>
                          <a:latin typeface="Segoe UI"/>
                        </a:rPr>
                        <a:t>Cipta rekod baharu</a:t>
                      </a:r>
                    </a:p>
                  </a:txBody>
                  <a:tcPr marL="63500" marR="63500" marT="25400" marB="25400">
                    <a:solidFill>
                      <a:srgbClr val="FFFFFF"/>
                    </a:solidFill>
                  </a:tcPr>
                </a:tc>
                <a:tc>
                  <a:txBody>
                    <a:bodyPr/>
                    <a:lstStyle/>
                    <a:p>
                      <a:r>
                        <a:rPr sz="1100" b="0">
                          <a:solidFill>
                            <a:srgbClr val="566371"/>
                          </a:solidFill>
                          <a:latin typeface="Segoe UI"/>
                        </a:rPr>
                        <a:t>POST /applications — hantar permohonan pelajar</a:t>
                      </a:r>
                    </a:p>
                  </a:txBody>
                  <a:tcPr marL="63500" marR="63500" marT="25400" marB="25400">
                    <a:solidFill>
                      <a:srgbClr val="FFFFFF"/>
                    </a:solidFill>
                  </a:tcPr>
                </a:tc>
              </a:tr>
              <a:tr h="274320">
                <a:tc>
                  <a:txBody>
                    <a:bodyPr/>
                    <a:lstStyle/>
                    <a:p>
                      <a:r>
                        <a:rPr sz="1100" b="0">
                          <a:solidFill>
                            <a:srgbClr val="566371"/>
                          </a:solidFill>
                          <a:latin typeface="Segoe UI"/>
                        </a:rPr>
                        <a:t>PUT</a:t>
                      </a:r>
                    </a:p>
                  </a:txBody>
                  <a:tcPr marL="63500" marR="63500" marT="25400" marB="25400">
                    <a:solidFill>
                      <a:srgbClr val="FFFFFF"/>
                    </a:solidFill>
                  </a:tcPr>
                </a:tc>
                <a:tc>
                  <a:txBody>
                    <a:bodyPr/>
                    <a:lstStyle/>
                    <a:p>
                      <a:r>
                        <a:rPr sz="1100" b="0">
                          <a:solidFill>
                            <a:srgbClr val="566371"/>
                          </a:solidFill>
                          <a:latin typeface="Segoe UI"/>
                        </a:rPr>
                        <a:t>Kemas kini rekod sedia ada</a:t>
                      </a:r>
                    </a:p>
                  </a:txBody>
                  <a:tcPr marL="63500" marR="63500" marT="25400" marB="25400">
                    <a:solidFill>
                      <a:srgbClr val="FFFFFF"/>
                    </a:solidFill>
                  </a:tcPr>
                </a:tc>
                <a:tc>
                  <a:txBody>
                    <a:bodyPr/>
                    <a:lstStyle/>
                    <a:p>
                      <a:r>
                        <a:rPr sz="1100" b="0">
                          <a:solidFill>
                            <a:srgbClr val="566371"/>
                          </a:solidFill>
                          <a:latin typeface="Segoe UI"/>
                        </a:rPr>
                        <a:t>PUT /applications/{id} — tukar status permohonan</a:t>
                      </a:r>
                    </a:p>
                  </a:txBody>
                  <a:tcPr marL="63500" marR="63500" marT="25400" marB="25400">
                    <a:solidFill>
                      <a:srgbClr val="FFFFFF"/>
                    </a:solidFill>
                  </a:tcPr>
                </a:tc>
              </a:tr>
              <a:tr h="274320">
                <a:tc>
                  <a:txBody>
                    <a:bodyPr/>
                    <a:lstStyle/>
                    <a:p>
                      <a:r>
                        <a:rPr sz="1100" b="0">
                          <a:solidFill>
                            <a:srgbClr val="566371"/>
                          </a:solidFill>
                          <a:latin typeface="Segoe UI"/>
                        </a:rPr>
                        <a:t>DELETE</a:t>
                      </a:r>
                    </a:p>
                  </a:txBody>
                  <a:tcPr marL="63500" marR="63500" marT="25400" marB="25400">
                    <a:solidFill>
                      <a:srgbClr val="FFFFFF"/>
                    </a:solidFill>
                  </a:tcPr>
                </a:tc>
                <a:tc>
                  <a:txBody>
                    <a:bodyPr/>
                    <a:lstStyle/>
                    <a:p>
                      <a:r>
                        <a:rPr sz="1100" b="0">
                          <a:solidFill>
                            <a:srgbClr val="566371"/>
                          </a:solidFill>
                          <a:latin typeface="Segoe UI"/>
                        </a:rPr>
                        <a:t>Padam rekod</a:t>
                      </a:r>
                    </a:p>
                  </a:txBody>
                  <a:tcPr marL="63500" marR="63500" marT="25400" marB="25400">
                    <a:solidFill>
                      <a:srgbClr val="FFFFFF"/>
                    </a:solidFill>
                  </a:tcPr>
                </a:tc>
                <a:tc>
                  <a:txBody>
                    <a:bodyPr/>
                    <a:lstStyle/>
                    <a:p>
                      <a:r>
                        <a:rPr sz="1100" b="0">
                          <a:solidFill>
                            <a:srgbClr val="566371"/>
                          </a:solidFill>
                          <a:latin typeface="Segoe UI"/>
                        </a:rPr>
                        <a:t>DELETE /applications/{id} — batal draf</a:t>
                      </a:r>
                    </a:p>
                  </a:txBody>
                  <a:tcPr marL="63500" marR="63500" marT="25400" marB="25400">
                    <a:solidFill>
                      <a:srgbClr val="FFFFFF"/>
                    </a:solidFill>
                  </a:tcPr>
                </a:tc>
              </a:tr>
            </a:tbl>
          </a:graphicData>
        </a:graphic>
      </p:graphicFrame>
      <p:sp>
        <p:nvSpPr>
          <p:cNvPr id="4" name="TextBox 3"/>
          <p:cNvSpPr txBox="1"/>
          <p:nvPr/>
        </p:nvSpPr>
        <p:spPr>
          <a:xfrm>
            <a:off x="640080" y="2551176"/>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Fokus kelas: GET (SESI 6) &amp; POST (SESI 7) — PUT/DELETE dikenali konsepnya.</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JSON — Format Pertukaran Data</a:t>
            </a:r>
          </a:p>
        </p:txBody>
      </p:sp>
      <p:sp>
        <p:nvSpPr>
          <p:cNvPr id="3" name="Rounded Rectangle 2"/>
          <p:cNvSpPr/>
          <p:nvPr/>
        </p:nvSpPr>
        <p:spPr>
          <a:xfrm>
            <a:off x="640080" y="1051560"/>
            <a:ext cx="10911535" cy="282549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64261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"id": "ETT-001",</a:t>
            </a:r>
          </a:p>
          <a:p>
            <a:pPr>
              <a:lnSpc>
                <a:spcPct val="100000"/>
              </a:lnSpc>
            </a:pPr>
            <a:r>
              <a:rPr sz="1100">
                <a:solidFill>
                  <a:srgbClr val="E6E8EE"/>
                </a:solidFill>
                <a:latin typeface="Consolas"/>
              </a:rPr>
              <a:t>  "universityName": "Universiti Al-Azhar",</a:t>
            </a:r>
          </a:p>
          <a:p>
            <a:pPr>
              <a:lnSpc>
                <a:spcPct val="100000"/>
              </a:lnSpc>
            </a:pPr>
            <a:r>
              <a:rPr sz="1100">
                <a:solidFill>
                  <a:srgbClr val="E6E8EE"/>
                </a:solidFill>
                <a:latin typeface="Consolas"/>
              </a:rPr>
              <a:t>  "country": "Egypt",</a:t>
            </a:r>
          </a:p>
          <a:p>
            <a:pPr>
              <a:lnSpc>
                <a:spcPct val="100000"/>
              </a:lnSpc>
            </a:pPr>
            <a:r>
              <a:rPr sz="1100">
                <a:solidFill>
                  <a:srgbClr val="E6E8EE"/>
                </a:solidFill>
                <a:latin typeface="Consolas"/>
              </a:rPr>
              <a:t>  "city": "Kaherah (Cairo)",</a:t>
            </a:r>
          </a:p>
          <a:p>
            <a:pPr>
              <a:lnSpc>
                <a:spcPct val="100000"/>
              </a:lnSpc>
            </a:pPr>
            <a:r>
              <a:rPr sz="1100">
                <a:solidFill>
                  <a:srgbClr val="E6E8EE"/>
                </a:solidFill>
                <a:latin typeface="Consolas"/>
              </a:rPr>
              <a:t>  "fieldOfStudy": "Perubatan (Medicine)",</a:t>
            </a:r>
          </a:p>
          <a:p>
            <a:pPr>
              <a:lnSpc>
                <a:spcPct val="100000"/>
              </a:lnSpc>
            </a:pPr>
            <a:r>
              <a:rPr sz="1100">
                <a:solidFill>
                  <a:srgbClr val="E6E8EE"/>
                </a:solidFill>
                <a:latin typeface="Consolas"/>
              </a:rPr>
              <a:t>  "studyLevel": "bachelor",</a:t>
            </a:r>
          </a:p>
          <a:p>
            <a:pPr>
              <a:lnSpc>
                <a:spcPct val="100000"/>
              </a:lnSpc>
            </a:pPr>
            <a:r>
              <a:rPr sz="1100">
                <a:solidFill>
                  <a:srgbClr val="E6E8EE"/>
                </a:solidFill>
                <a:latin typeface="Consolas"/>
              </a:rPr>
              <a:t>  "category": "spm",</a:t>
            </a:r>
          </a:p>
          <a:p>
            <a:pPr>
              <a:lnSpc>
                <a:spcPct val="100000"/>
              </a:lnSpc>
            </a:pPr>
            <a:r>
              <a:rPr sz="1100">
                <a:solidFill>
                  <a:srgbClr val="E6E8EE"/>
                </a:solidFill>
                <a:latin typeface="Consolas"/>
              </a:rPr>
              <a:t>  "estimatedAnnualCostMyr": 23000.0,</a:t>
            </a:r>
          </a:p>
          <a:p>
            <a:pPr>
              <a:lnSpc>
                <a:spcPct val="100000"/>
              </a:lnSpc>
            </a:pPr>
            <a:r>
              <a:rPr sz="1100">
                <a:solidFill>
                  <a:srgbClr val="E6E8EE"/>
                </a:solidFill>
                <a:latin typeface="Consolas"/>
              </a:rPr>
              <a:t>  "intakeMonth": "September",</a:t>
            </a:r>
          </a:p>
          <a:p>
            <a:pPr>
              <a:lnSpc>
                <a:spcPct val="100000"/>
              </a:lnSpc>
            </a:pPr>
            <a:r>
              <a:rPr sz="1100">
                <a:solidFill>
                  <a:srgbClr val="E6E8EE"/>
                </a:solidFill>
                <a:latin typeface="Consolas"/>
              </a:rPr>
              <a:t>  "quotaSeats": 40</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Jenis Data JSON — Terhad!</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Ada dalam JSON:</a:t>
            </a:r>
          </a:p>
        </p:txBody>
      </p:sp>
      <p:sp>
        <p:nvSpPr>
          <p:cNvPr id="4" name="TextBox 3"/>
          <p:cNvSpPr txBox="1"/>
          <p:nvPr/>
        </p:nvSpPr>
        <p:spPr>
          <a:xfrm>
            <a:off x="804671" y="137160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Teks "..." · nombor · boolean</a:t>
            </a:r>
          </a:p>
        </p:txBody>
      </p:sp>
      <p:sp>
        <p:nvSpPr>
          <p:cNvPr id="5" name="TextBox 4"/>
          <p:cNvSpPr txBox="1"/>
          <p:nvPr/>
        </p:nvSpPr>
        <p:spPr>
          <a:xfrm>
            <a:off x="804671" y="159562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Senarai [...] · objek {...} · null</a:t>
            </a:r>
          </a:p>
        </p:txBody>
      </p:sp>
      <p:sp>
        <p:nvSpPr>
          <p:cNvPr id="6" name="TextBox 5"/>
          <p:cNvSpPr txBox="1"/>
          <p:nvPr/>
        </p:nvSpPr>
        <p:spPr>
          <a:xfrm>
            <a:off x="640080" y="1892808"/>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TIADA dalam JSON:</a:t>
            </a:r>
          </a:p>
        </p:txBody>
      </p:sp>
      <p:sp>
        <p:nvSpPr>
          <p:cNvPr id="7" name="TextBox 6"/>
          <p:cNvSpPr txBox="1"/>
          <p:nvPr/>
        </p:nvSpPr>
        <p:spPr>
          <a:xfrm>
            <a:off x="804671" y="221284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enum — dihantar sebagai String ("bachelor", "spm")</a:t>
            </a:r>
          </a:p>
        </p:txBody>
      </p:sp>
      <p:sp>
        <p:nvSpPr>
          <p:cNvPr id="8" name="TextBox 7"/>
          <p:cNvSpPr txBox="1"/>
          <p:nvPr/>
        </p:nvSpPr>
        <p:spPr>
          <a:xfrm>
            <a:off x="804671" y="243687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DateTime — dihantar sebagai String ISO-8601</a:t>
            </a:r>
          </a:p>
        </p:txBody>
      </p:sp>
      <p:sp>
        <p:nvSpPr>
          <p:cNvPr id="9" name="Rounded Rectangle 8"/>
          <p:cNvSpPr/>
          <p:nvPr/>
        </p:nvSpPr>
        <p:spPr>
          <a:xfrm>
            <a:off x="640080" y="2734056"/>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40080" y="2734056"/>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807208"/>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Sebab itulah model Dart kita perlukan fromString(...) untuk enum — nanti di fromJson.</a:t>
            </a:r>
          </a:p>
        </p:txBody>
      </p:sp>
      <p:sp>
        <p:nvSpPr>
          <p:cNvPr id="12" name="TextBox 11"/>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Pasang Pakej http</a:t>
            </a:r>
          </a:p>
        </p:txBody>
      </p:sp>
      <p:sp>
        <p:nvSpPr>
          <p:cNvPr id="3" name="Rounded Rectangle 2"/>
          <p:cNvSpPr/>
          <p:nvPr/>
        </p:nvSpPr>
        <p:spPr>
          <a:xfrm>
            <a:off x="640080" y="1051560"/>
            <a:ext cx="10911535" cy="76352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58064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flutter pub add http</a:t>
            </a:r>
          </a:p>
          <a:p>
            <a:pPr>
              <a:lnSpc>
                <a:spcPct val="100000"/>
              </a:lnSpc>
            </a:pPr>
            <a:r>
              <a:rPr sz="1100">
                <a:solidFill>
                  <a:srgbClr val="E6E8EE"/>
                </a:solidFill>
                <a:latin typeface="Consolas"/>
              </a:rPr>
              <a:t>  </a:t>
            </a:r>
          </a:p>
        </p:txBody>
      </p:sp>
      <p:sp>
        <p:nvSpPr>
          <p:cNvPr id="5" name="Rounded Rectangle 4"/>
          <p:cNvSpPr/>
          <p:nvPr/>
        </p:nvSpPr>
        <p:spPr>
          <a:xfrm>
            <a:off x="640080" y="1924812"/>
            <a:ext cx="10911535" cy="113842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68096" y="2016252"/>
            <a:ext cx="10655503" cy="95554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dependencies:</a:t>
            </a:r>
          </a:p>
          <a:p>
            <a:pPr>
              <a:lnSpc>
                <a:spcPct val="100000"/>
              </a:lnSpc>
            </a:pPr>
            <a:r>
              <a:rPr sz="1100">
                <a:solidFill>
                  <a:srgbClr val="E6E8EE"/>
                </a:solidFill>
                <a:latin typeface="Consolas"/>
              </a:rPr>
              <a:t>  # REST API / HTTP (SESI 6 &amp; 7)</a:t>
            </a:r>
          </a:p>
          <a:p>
            <a:pPr>
              <a:lnSpc>
                <a:spcPct val="100000"/>
              </a:lnSpc>
            </a:pPr>
            <a:r>
              <a:rPr sz="1100">
                <a:solidFill>
                  <a:srgbClr val="E6E8EE"/>
                </a:solidFill>
                <a:latin typeface="Consolas"/>
              </a:rPr>
              <a:t>  http: ^1.2.2</a:t>
            </a:r>
          </a:p>
          <a:p>
            <a:pPr>
              <a:lnSpc>
                <a:spcPct val="100000"/>
              </a:lnSpc>
            </a:pPr>
            <a:r>
              <a:rPr sz="1100">
                <a:solidFill>
                  <a:srgbClr val="E6E8EE"/>
                </a:solidFill>
                <a:latin typeface="Consolas"/>
              </a:rPr>
              <a:t>  </a:t>
            </a:r>
          </a:p>
        </p:txBody>
      </p:sp>
      <p:sp>
        <p:nvSpPr>
          <p:cNvPr id="7" name="TextBox 6"/>
          <p:cNvSpPr txBox="1"/>
          <p:nvPr/>
        </p:nvSpPr>
        <p:spPr>
          <a:xfrm>
            <a:off x="804671" y="317296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Pakej rasmi pasukan Dart untuk permintaan HTTP</a:t>
            </a:r>
          </a:p>
        </p:txBody>
      </p:sp>
      <p:sp>
        <p:nvSpPr>
          <p:cNvPr id="8" name="TextBox 7"/>
          <p:cNvSpPr txBox="1"/>
          <p:nvPr/>
        </p:nvSpPr>
        <p:spPr>
          <a:xfrm>
            <a:off x="804671" y="339699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flutter pub add tambah baris ke pubspec.yaml secara automatik</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Permintaan GET Paling Asas</a:t>
            </a:r>
          </a:p>
        </p:txBody>
      </p:sp>
      <p:sp>
        <p:nvSpPr>
          <p:cNvPr id="3" name="Rounded Rectangle 2"/>
          <p:cNvSpPr/>
          <p:nvPr/>
        </p:nvSpPr>
        <p:spPr>
          <a:xfrm>
            <a:off x="640080" y="1051560"/>
            <a:ext cx="10911535" cy="282549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64261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import 'package:http/http.dart' as http;</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Future&lt;void&gt; contohGet() async {</a:t>
            </a:r>
          </a:p>
          <a:p>
            <a:pPr>
              <a:lnSpc>
                <a:spcPct val="100000"/>
              </a:lnSpc>
            </a:pPr>
            <a:r>
              <a:rPr sz="1100">
                <a:solidFill>
                  <a:srgbClr val="E6E8EE"/>
                </a:solidFill>
                <a:latin typeface="Consolas"/>
              </a:rPr>
              <a:t>  final response =</a:t>
            </a:r>
          </a:p>
          <a:p>
            <a:pPr>
              <a:lnSpc>
                <a:spcPct val="100000"/>
              </a:lnSpc>
            </a:pPr>
            <a:r>
              <a:rPr sz="1100">
                <a:solidFill>
                  <a:srgbClr val="E6E8EE"/>
                </a:solidFill>
                <a:latin typeface="Consolas"/>
              </a:rPr>
              <a:t>      await http.get(Uri.parse('https://example.com/data.json'));</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if (response.statusCode == 200) {</a:t>
            </a:r>
          </a:p>
          <a:p>
            <a:pPr>
              <a:lnSpc>
                <a:spcPct val="100000"/>
              </a:lnSpc>
            </a:pPr>
            <a:r>
              <a:rPr sz="1100">
                <a:solidFill>
                  <a:srgbClr val="E6E8EE"/>
                </a:solidFill>
                <a:latin typeface="Consolas"/>
              </a:rPr>
              <a:t>    print('Berjaya! Badan respons: ${response.body}');</a:t>
            </a:r>
          </a:p>
          <a:p>
            <a:pPr>
              <a:lnSpc>
                <a:spcPct val="100000"/>
              </a:lnSpc>
            </a:pPr>
            <a:r>
              <a:rPr sz="1100">
                <a:solidFill>
                  <a:srgbClr val="E6E8EE"/>
                </a:solidFill>
                <a:latin typeface="Consolas"/>
              </a:rPr>
              <a:t>  } else {</a:t>
            </a:r>
          </a:p>
          <a:p>
            <a:pPr>
              <a:lnSpc>
                <a:spcPct val="100000"/>
              </a:lnSpc>
            </a:pPr>
            <a:r>
              <a:rPr sz="1100">
                <a:solidFill>
                  <a:srgbClr val="E6E8EE"/>
                </a:solidFill>
                <a:latin typeface="Consolas"/>
              </a:rPr>
              <a:t>    print('Gagal dengan kod status: ${response.statusCode}');</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graphicFrame>
        <p:nvGraphicFramePr>
          <p:cNvPr id="5" name="Table 4"/>
          <p:cNvGraphicFramePr>
            <a:graphicFrameLocks noGrp="1"/>
          </p:cNvGraphicFramePr>
          <p:nvPr/>
        </p:nvGraphicFramePr>
        <p:xfrm>
          <a:off x="640080" y="3986784"/>
          <a:ext cx="10911535" cy="822959"/>
        </p:xfrm>
        <a:graphic>
          <a:graphicData uri="http://schemas.openxmlformats.org/drawingml/2006/table">
            <a:tbl>
              <a:tblPr firstRow="1" bandRow="1">
                <a:tableStyleId>{5C22544A-7EE6-4342-B048-85BDC9FD1C3A}</a:tableStyleId>
              </a:tblPr>
              <a:tblGrid>
                <a:gridCol w="5455767"/>
                <a:gridCol w="5455768"/>
              </a:tblGrid>
              <a:tr h="274319">
                <a:tc>
                  <a:txBody>
                    <a:bodyPr/>
                    <a:lstStyle/>
                    <a:p>
                      <a:r>
                        <a:rPr sz="1100" b="1">
                          <a:solidFill>
                            <a:srgbClr val="FFFFFF"/>
                          </a:solidFill>
                          <a:latin typeface="Segoe UI"/>
                        </a:rPr>
                        <a:t>response.statusCode</a:t>
                      </a:r>
                    </a:p>
                  </a:txBody>
                  <a:tcPr marL="63500" marR="63500" marT="25400" marB="25400">
                    <a:solidFill>
                      <a:srgbClr val="1A2B5C"/>
                    </a:solidFill>
                  </a:tcPr>
                </a:tc>
                <a:tc>
                  <a:txBody>
                    <a:bodyPr/>
                    <a:lstStyle/>
                    <a:p>
                      <a:r>
                        <a:rPr sz="1100" b="1">
                          <a:solidFill>
                            <a:srgbClr val="FFFFFF"/>
                          </a:solidFill>
                          <a:latin typeface="Segoe UI"/>
                        </a:rPr>
                        <a:t>200 OK · 404 tidak dijumpai · 500 ralat pelayan</a:t>
                      </a:r>
                    </a:p>
                  </a:txBody>
                  <a:tcPr marL="63500" marR="63500" marT="25400" marB="25400">
                    <a:solidFill>
                      <a:srgbClr val="1A2B5C"/>
                    </a:solidFill>
                  </a:tcPr>
                </a:tc>
              </a:tr>
              <a:tr h="274319">
                <a:tc>
                  <a:txBody>
                    <a:bodyPr/>
                    <a:lstStyle/>
                    <a:p>
                      <a:r>
                        <a:rPr sz="1100" b="0">
                          <a:solidFill>
                            <a:srgbClr val="566371"/>
                          </a:solidFill>
                          <a:latin typeface="Segoe UI"/>
                        </a:rPr>
                        <a:t>response.body</a:t>
                      </a:r>
                    </a:p>
                  </a:txBody>
                  <a:tcPr marL="63500" marR="63500" marT="25400" marB="25400">
                    <a:solidFill>
                      <a:srgbClr val="FFFFFF"/>
                    </a:solidFill>
                  </a:tcPr>
                </a:tc>
                <a:tc>
                  <a:txBody>
                    <a:bodyPr/>
                    <a:lstStyle/>
                    <a:p>
                      <a:r>
                        <a:rPr sz="1100" b="0">
                          <a:solidFill>
                            <a:srgbClr val="566371"/>
                          </a:solidFill>
                          <a:latin typeface="Segoe UI"/>
                        </a:rPr>
                        <a:t>Badan respons sebagai String (biasanya teks JSON)</a:t>
                      </a:r>
                    </a:p>
                  </a:txBody>
                  <a:tcPr marL="63500" marR="63500" marT="25400" marB="25400">
                    <a:solidFill>
                      <a:srgbClr val="FFFFFF"/>
                    </a:solidFill>
                  </a:tcPr>
                </a:tc>
              </a:tr>
              <a:tr h="274321">
                <a:tc>
                  <a:txBody>
                    <a:bodyPr/>
                    <a:lstStyle/>
                    <a:p>
                      <a:r>
                        <a:rPr sz="1100" b="0">
                          <a:solidFill>
                            <a:srgbClr val="566371"/>
                          </a:solidFill>
                          <a:latin typeface="Segoe UI"/>
                        </a:rPr>
                        <a:t>Uri.parse(...)</a:t>
                      </a:r>
                    </a:p>
                  </a:txBody>
                  <a:tcPr marL="63500" marR="63500" marT="25400" marB="25400">
                    <a:solidFill>
                      <a:srgbClr val="FFFFFF"/>
                    </a:solidFill>
                  </a:tcPr>
                </a:tc>
                <a:tc>
                  <a:txBody>
                    <a:bodyPr/>
                    <a:lstStyle/>
                    <a:p>
                      <a:r>
                        <a:rPr sz="1100" b="0">
                          <a:solidFill>
                            <a:srgbClr val="566371"/>
                          </a:solidFill>
                          <a:latin typeface="Segoe UI"/>
                        </a:rPr>
                        <a:t>Tukar String URL kepada objek Uri</a:t>
                      </a:r>
                    </a:p>
                  </a:txBody>
                  <a:tcPr marL="63500" marR="63500" marT="25400" marB="25400">
                    <a:solidFill>
                      <a:srgbClr val="FFFFFF"/>
                    </a:solidFill>
                  </a:tcPr>
                </a:tc>
              </a:tr>
            </a:tbl>
          </a:graphicData>
        </a:graphic>
      </p:graphicFrame>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Kebenaran Internet Android</a:t>
            </a:r>
          </a:p>
        </p:txBody>
      </p:sp>
      <p:sp>
        <p:nvSpPr>
          <p:cNvPr id="3" name="Rounded Rectangle 2"/>
          <p:cNvSpPr/>
          <p:nvPr/>
        </p:nvSpPr>
        <p:spPr>
          <a:xfrm>
            <a:off x="640080" y="1051560"/>
            <a:ext cx="10911535" cy="76352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58064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&lt;uses-permission android:name="android.permission.INTERNET"/&gt;</a:t>
            </a:r>
          </a:p>
          <a:p>
            <a:pPr>
              <a:lnSpc>
                <a:spcPct val="100000"/>
              </a:lnSpc>
            </a:pPr>
            <a:r>
              <a:rPr sz="1100">
                <a:solidFill>
                  <a:srgbClr val="E6E8EE"/>
                </a:solidFill>
                <a:latin typeface="Consolas"/>
              </a:rPr>
              <a:t>  </a:t>
            </a:r>
          </a:p>
        </p:txBody>
      </p:sp>
      <p:sp>
        <p:nvSpPr>
          <p:cNvPr id="5" name="TextBox 4"/>
          <p:cNvSpPr txBox="1"/>
          <p:nvPr/>
        </p:nvSpPr>
        <p:spPr>
          <a:xfrm>
            <a:off x="804671" y="192481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Untuk debug (flutter run): sudah automatik dalam android/app/src/debug/AndroidManifest.xml — tiada apa perlu dibuat di kelas</a:t>
            </a:r>
          </a:p>
        </p:txBody>
      </p:sp>
      <p:sp>
        <p:nvSpPr>
          <p:cNvPr id="6" name="TextBox 5"/>
          <p:cNvSpPr txBox="1"/>
          <p:nvPr/>
        </p:nvSpPr>
        <p:spPr>
          <a:xfrm>
            <a:off x="804671" y="214884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Untuk release build: tambah baris di atas dalam tag &lt;manifest&gt; fail android/app/src/main/AndroidManifest.xml</a:t>
            </a:r>
          </a:p>
        </p:txBody>
      </p:sp>
      <p:sp>
        <p:nvSpPr>
          <p:cNvPr id="7" name="Rounded Rectangle 6"/>
          <p:cNvSpPr/>
          <p:nvPr/>
        </p:nvSpPr>
        <p:spPr>
          <a:xfrm>
            <a:off x="640080" y="2446020"/>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40080" y="2446020"/>
            <a:ext cx="54864" cy="42062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519172"/>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Simpan nota ini — lupa langkah ini bermakna APK release gagal buat sebarang panggilan rangkaian walaupun sempurna semasa flutter run.</a:t>
            </a:r>
          </a:p>
        </p:txBody>
      </p:sp>
      <p:sp>
        <p:nvSpPr>
          <p:cNvPr id="10" name="TextBox 9"/>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Masalah: UI Tersekat (Blocked)</a:t>
            </a:r>
          </a:p>
        </p:txBody>
      </p:sp>
      <p:sp>
        <p:nvSpPr>
          <p:cNvPr id="3" name="Rounded Rectangle 2"/>
          <p:cNvSpPr/>
          <p:nvPr/>
        </p:nvSpPr>
        <p:spPr>
          <a:xfrm>
            <a:off x="640080" y="1051560"/>
            <a:ext cx="10911535" cy="113842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95554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Ini TIDAK berfungsi macam ini di Flutter — ilustrasi konsep</a:t>
            </a:r>
          </a:p>
          <a:p>
            <a:pPr>
              <a:lnSpc>
                <a:spcPct val="100000"/>
              </a:lnSpc>
            </a:pPr>
            <a:r>
              <a:rPr sz="1100">
                <a:solidFill>
                  <a:srgbClr val="E6E8EE"/>
                </a:solidFill>
                <a:latin typeface="Consolas"/>
              </a:rPr>
              <a:t>List&lt;Programme&gt; data = getProgrammesFromInternet(); // 2 saat!</a:t>
            </a:r>
          </a:p>
          <a:p>
            <a:pPr>
              <a:lnSpc>
                <a:spcPct val="100000"/>
              </a:lnSpc>
            </a:pPr>
            <a:r>
              <a:rPr sz="1100">
                <a:solidFill>
                  <a:srgbClr val="E6E8EE"/>
                </a:solidFill>
                <a:latin typeface="Consolas"/>
              </a:rPr>
              <a:t>print('Selesai!');</a:t>
            </a:r>
          </a:p>
          <a:p>
            <a:pPr>
              <a:lnSpc>
                <a:spcPct val="100000"/>
              </a:lnSpc>
            </a:pPr>
            <a:r>
              <a:rPr sz="1100">
                <a:solidFill>
                  <a:srgbClr val="E6E8EE"/>
                </a:solidFill>
                <a:latin typeface="Consolas"/>
              </a:rPr>
              <a:t>  </a:t>
            </a:r>
          </a:p>
        </p:txBody>
      </p:sp>
      <p:sp>
        <p:nvSpPr>
          <p:cNvPr id="5" name="TextBox 4"/>
          <p:cNvSpPr txBox="1"/>
          <p:nvPr/>
        </p:nvSpPr>
        <p:spPr>
          <a:xfrm>
            <a:off x="804671" y="22997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Flutter berjalan atas satu thread utama — thread yang melukis skrin ialah thread yang menjalankan kod anda</a:t>
            </a:r>
          </a:p>
        </p:txBody>
      </p:sp>
      <p:sp>
        <p:nvSpPr>
          <p:cNvPr id="6" name="TextBox 5"/>
          <p:cNvSpPr txBox="1"/>
          <p:nvPr/>
        </p:nvSpPr>
        <p:spPr>
          <a:xfrm>
            <a:off x="804671" y="25237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Jika panggilan rangkaian menyekat 2 saat → seluruh app beku: animasi berhenti, butang mati, skrin macam "hang"</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Penyelesaian: Future, async, await</a:t>
            </a:r>
          </a:p>
        </p:txBody>
      </p:sp>
      <p:sp>
        <p:nvSpPr>
          <p:cNvPr id="3" name="Rounded Rectangle 2"/>
          <p:cNvSpPr/>
          <p:nvPr/>
        </p:nvSpPr>
        <p:spPr>
          <a:xfrm>
            <a:off x="640080" y="1051560"/>
            <a:ext cx="10911535" cy="245059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267712"/>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Future&lt;String&gt; ambilData() async {</a:t>
            </a:r>
          </a:p>
          <a:p>
            <a:pPr>
              <a:lnSpc>
                <a:spcPct val="100000"/>
              </a:lnSpc>
            </a:pPr>
            <a:r>
              <a:rPr sz="1100">
                <a:solidFill>
                  <a:srgbClr val="E6E8EE"/>
                </a:solidFill>
                <a:latin typeface="Consolas"/>
              </a:rPr>
              <a:t>  await Future.delayed(Duration(seconds: 2)); // simulasi rangkaian</a:t>
            </a:r>
          </a:p>
          <a:p>
            <a:pPr>
              <a:lnSpc>
                <a:spcPct val="100000"/>
              </a:lnSpc>
            </a:pPr>
            <a:r>
              <a:rPr sz="1100">
                <a:solidFill>
                  <a:srgbClr val="E6E8EE"/>
                </a:solidFill>
                <a:latin typeface="Consolas"/>
              </a:rPr>
              <a:t>  return 'Data siap';</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void main() async {</a:t>
            </a:r>
          </a:p>
          <a:p>
            <a:pPr>
              <a:lnSpc>
                <a:spcPct val="100000"/>
              </a:lnSpc>
            </a:pPr>
            <a:r>
              <a:rPr sz="1100">
                <a:solidFill>
                  <a:srgbClr val="E6E8EE"/>
                </a:solidFill>
                <a:latin typeface="Consolas"/>
              </a:rPr>
              <a:t>  print('Mula...');</a:t>
            </a:r>
          </a:p>
          <a:p>
            <a:pPr>
              <a:lnSpc>
                <a:spcPct val="100000"/>
              </a:lnSpc>
            </a:pPr>
            <a:r>
              <a:rPr sz="1100">
                <a:solidFill>
                  <a:srgbClr val="E6E8EE"/>
                </a:solidFill>
                <a:latin typeface="Consolas"/>
              </a:rPr>
              <a:t>  String hasil = await ambilData(); // tunggu TANPA sekat UI</a:t>
            </a:r>
          </a:p>
          <a:p>
            <a:pPr>
              <a:lnSpc>
                <a:spcPct val="100000"/>
              </a:lnSpc>
            </a:pPr>
            <a:r>
              <a:rPr sz="1100">
                <a:solidFill>
                  <a:srgbClr val="E6E8EE"/>
                </a:solidFill>
                <a:latin typeface="Consolas"/>
              </a:rPr>
              <a:t>  print(hasil);</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804671" y="361188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Future&lt;T&gt; — "resit" untuk nilai jenis T yang sampai kemudian</a:t>
            </a:r>
          </a:p>
        </p:txBody>
      </p:sp>
      <p:sp>
        <p:nvSpPr>
          <p:cNvPr id="6" name="TextBox 5"/>
          <p:cNvSpPr txBox="1"/>
          <p:nvPr/>
        </p:nvSpPr>
        <p:spPr>
          <a:xfrm>
            <a:off x="804671" y="383590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async — fungsi ini mungkin await; sentiasa pulangkan Future</a:t>
            </a:r>
          </a:p>
        </p:txBody>
      </p:sp>
      <p:sp>
        <p:nvSpPr>
          <p:cNvPr id="7" name="TextBox 6"/>
          <p:cNvSpPr txBox="1"/>
          <p:nvPr/>
        </p:nvSpPr>
        <p:spPr>
          <a:xfrm>
            <a:off x="804671" y="405993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await — tunggu di sini, tetapi jangan sekat thread utama</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Demo Pantas di DartPad</a:t>
            </a:r>
          </a:p>
        </p:txBody>
      </p:sp>
      <p:sp>
        <p:nvSpPr>
          <p:cNvPr id="3" name="Rounded Rectangle 2"/>
          <p:cNvSpPr/>
          <p:nvPr/>
        </p:nvSpPr>
        <p:spPr>
          <a:xfrm>
            <a:off x="640080" y="1051560"/>
            <a:ext cx="10911535" cy="263804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45516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void main() async {</a:t>
            </a:r>
          </a:p>
          <a:p>
            <a:pPr>
              <a:lnSpc>
                <a:spcPct val="100000"/>
              </a:lnSpc>
            </a:pPr>
            <a:r>
              <a:rPr sz="1100">
                <a:solidFill>
                  <a:srgbClr val="E6E8EE"/>
                </a:solidFill>
                <a:latin typeface="Consolas"/>
              </a:rPr>
              <a:t>  print('1. Mula memuat...');</a:t>
            </a:r>
          </a:p>
          <a:p>
            <a:pPr>
              <a:lnSpc>
                <a:spcPct val="100000"/>
              </a:lnSpc>
            </a:pPr>
            <a:r>
              <a:rPr sz="1100">
                <a:solidFill>
                  <a:srgbClr val="E6E8EE"/>
                </a:solidFill>
                <a:latin typeface="Consolas"/>
              </a:rPr>
              <a:t>  final data = await ambilTawaranEtt();</a:t>
            </a:r>
          </a:p>
          <a:p>
            <a:pPr>
              <a:lnSpc>
                <a:spcPct val="100000"/>
              </a:lnSpc>
            </a:pPr>
            <a:r>
              <a:rPr sz="1100">
                <a:solidFill>
                  <a:srgbClr val="E6E8EE"/>
                </a:solidFill>
                <a:latin typeface="Consolas"/>
              </a:rPr>
              <a:t>  print('3. Data diterima: $data');</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Future&lt;String&gt; ambilTawaranEtt() async {</a:t>
            </a:r>
          </a:p>
          <a:p>
            <a:pPr>
              <a:lnSpc>
                <a:spcPct val="100000"/>
              </a:lnSpc>
            </a:pPr>
            <a:r>
              <a:rPr sz="1100">
                <a:solidFill>
                  <a:srgbClr val="E6E8EE"/>
                </a:solidFill>
                <a:latin typeface="Consolas"/>
              </a:rPr>
              <a:t>  print('2. Sedang hubungi pelayan...'); // serta-merta</a:t>
            </a:r>
          </a:p>
          <a:p>
            <a:pPr>
              <a:lnSpc>
                <a:spcPct val="100000"/>
              </a:lnSpc>
            </a:pPr>
            <a:r>
              <a:rPr sz="1100">
                <a:solidFill>
                  <a:srgbClr val="E6E8EE"/>
                </a:solidFill>
                <a:latin typeface="Consolas"/>
              </a:rPr>
              <a:t>  await Future.delayed(const Duration(seconds: 2));</a:t>
            </a:r>
          </a:p>
          <a:p>
            <a:pPr>
              <a:lnSpc>
                <a:spcPct val="100000"/>
              </a:lnSpc>
            </a:pPr>
            <a:r>
              <a:rPr sz="1100">
                <a:solidFill>
                  <a:srgbClr val="E6E8EE"/>
                </a:solidFill>
                <a:latin typeface="Consolas"/>
              </a:rPr>
              <a:t>  return '8 tawaran pengajian dijumpai';</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Rounded Rectangle 4"/>
          <p:cNvSpPr/>
          <p:nvPr/>
        </p:nvSpPr>
        <p:spPr>
          <a:xfrm>
            <a:off x="640080" y="3799332"/>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3799332"/>
            <a:ext cx="54864" cy="420624"/>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872484"/>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Output tersusun 1, 2, 3 — mengikut bila setiap operasi benar-benar selesai, bukan susunan baris kod semata-mata.</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JSON → Dart: jsonDecode</a:t>
            </a:r>
          </a:p>
        </p:txBody>
      </p:sp>
      <p:sp>
        <p:nvSpPr>
          <p:cNvPr id="3" name="Rounded Rectangle 2"/>
          <p:cNvSpPr/>
          <p:nvPr/>
        </p:nvSpPr>
        <p:spPr>
          <a:xfrm>
            <a:off x="640080" y="1051560"/>
            <a:ext cx="10911535" cy="226314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080260"/>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import 'dart:convert';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const contohJson =</a:t>
            </a:r>
          </a:p>
          <a:p>
            <a:pPr>
              <a:lnSpc>
                <a:spcPct val="100000"/>
              </a:lnSpc>
            </a:pPr>
            <a:r>
              <a:rPr sz="1100">
                <a:solidFill>
                  <a:srgbClr val="E6E8EE"/>
                </a:solidFill>
                <a:latin typeface="Consolas"/>
              </a:rPr>
              <a:t>    '[{"id":"ETT-001","universityName":"Universiti Al-Azhar"}]';</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void contoh() {</a:t>
            </a:r>
          </a:p>
          <a:p>
            <a:pPr>
              <a:lnSpc>
                <a:spcPct val="100000"/>
              </a:lnSpc>
            </a:pPr>
            <a:r>
              <a:rPr sz="1100">
                <a:solidFill>
                  <a:srgbClr val="E6E8EE"/>
                </a:solidFill>
                <a:latin typeface="Consolas"/>
              </a:rPr>
              <a:t>  final List&lt;dynamic&gt; data = jsonDecode(contohJson) as List&lt;dynamic&gt;;</a:t>
            </a:r>
          </a:p>
          <a:p>
            <a:pPr>
              <a:lnSpc>
                <a:spcPct val="100000"/>
              </a:lnSpc>
            </a:pPr>
            <a:r>
              <a:rPr sz="1100">
                <a:solidFill>
                  <a:srgbClr val="E6E8EE"/>
                </a:solidFill>
                <a:latin typeface="Consolas"/>
              </a:rPr>
              <a:t>  print(data[0]['universityName']); // Universiti Al-Azhar</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804671" y="342442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Objek {} → Map&lt;String, dynamic&gt; · senarai [] → List&lt;dynamic&gt;</a:t>
            </a:r>
          </a:p>
        </p:txBody>
      </p:sp>
      <p:sp>
        <p:nvSpPr>
          <p:cNvPr id="6" name="TextBox 5"/>
          <p:cNvSpPr txBox="1"/>
          <p:nvPr/>
        </p:nvSpPr>
        <p:spPr>
          <a:xfrm>
            <a:off x="804671" y="364845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Masalah: dynamic tidak selamat jenis (type-safe) — menyusahkan dalam UI</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Programme.fromJson — Model Sebenar</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lib/models/programme.dart</a:t>
            </a:r>
          </a:p>
          <a:p>
            <a:pPr>
              <a:lnSpc>
                <a:spcPct val="100000"/>
              </a:lnSpc>
            </a:pPr>
            <a:r>
              <a:rPr sz="1100">
                <a:solidFill>
                  <a:srgbClr val="E6E8EE"/>
                </a:solidFill>
                <a:latin typeface="Consolas"/>
              </a:rPr>
              <a:t>factory Programme.fromJson(Map&lt;String, dynamic&gt; json) {</a:t>
            </a:r>
          </a:p>
          <a:p>
            <a:pPr>
              <a:lnSpc>
                <a:spcPct val="100000"/>
              </a:lnSpc>
            </a:pPr>
            <a:r>
              <a:rPr sz="1100">
                <a:solidFill>
                  <a:srgbClr val="E6E8EE"/>
                </a:solidFill>
                <a:latin typeface="Consolas"/>
              </a:rPr>
              <a:t>  return Programme(</a:t>
            </a:r>
          </a:p>
          <a:p>
            <a:pPr>
              <a:lnSpc>
                <a:spcPct val="100000"/>
              </a:lnSpc>
            </a:pPr>
            <a:r>
              <a:rPr sz="1100">
                <a:solidFill>
                  <a:srgbClr val="E6E8EE"/>
                </a:solidFill>
                <a:latin typeface="Consolas"/>
              </a:rPr>
              <a:t>    id: json['id'] as String,</a:t>
            </a:r>
          </a:p>
          <a:p>
            <a:pPr>
              <a:lnSpc>
                <a:spcPct val="100000"/>
              </a:lnSpc>
            </a:pPr>
            <a:r>
              <a:rPr sz="1100">
                <a:solidFill>
                  <a:srgbClr val="E6E8EE"/>
                </a:solidFill>
                <a:latin typeface="Consolas"/>
              </a:rPr>
              <a:t>    universityName: json['universityName'] as String,</a:t>
            </a:r>
          </a:p>
          <a:p>
            <a:pPr>
              <a:lnSpc>
                <a:spcPct val="100000"/>
              </a:lnSpc>
            </a:pPr>
            <a:r>
              <a:rPr sz="1100">
                <a:solidFill>
                  <a:srgbClr val="E6E8EE"/>
                </a:solidFill>
                <a:latin typeface="Consolas"/>
              </a:rPr>
              <a:t>    country: json['country'] as String,</a:t>
            </a:r>
          </a:p>
          <a:p>
            <a:pPr>
              <a:lnSpc>
                <a:spcPct val="100000"/>
              </a:lnSpc>
            </a:pPr>
            <a:r>
              <a:rPr sz="1100">
                <a:solidFill>
                  <a:srgbClr val="E6E8EE"/>
                </a:solidFill>
                <a:latin typeface="Consolas"/>
              </a:rPr>
              <a:t>    city: json['city'] as String,</a:t>
            </a:r>
          </a:p>
          <a:p>
            <a:pPr>
              <a:lnSpc>
                <a:spcPct val="100000"/>
              </a:lnSpc>
            </a:pPr>
            <a:r>
              <a:rPr sz="1100">
                <a:solidFill>
                  <a:srgbClr val="E6E8EE"/>
                </a:solidFill>
                <a:latin typeface="Consolas"/>
              </a:rPr>
              <a:t>    fieldOfStudy: json['fieldOfStudy'] as String,</a:t>
            </a:r>
          </a:p>
          <a:p>
            <a:pPr>
              <a:lnSpc>
                <a:spcPct val="100000"/>
              </a:lnSpc>
            </a:pPr>
            <a:r>
              <a:rPr sz="1100">
                <a:solidFill>
                  <a:srgbClr val="E6E8EE"/>
                </a:solidFill>
                <a:latin typeface="Consolas"/>
              </a:rPr>
              <a:t>    studyLevel: StudyLevel.fromString(json['studyLevel'] as String),</a:t>
            </a:r>
          </a:p>
          <a:p>
            <a:pPr>
              <a:lnSpc>
                <a:spcPct val="100000"/>
              </a:lnSpc>
            </a:pPr>
            <a:r>
              <a:rPr sz="1100">
                <a:solidFill>
                  <a:srgbClr val="E6E8EE"/>
                </a:solidFill>
                <a:latin typeface="Consolas"/>
              </a:rPr>
              <a:t>    category: EntryCategory.fromString(json['category'] as String),</a:t>
            </a:r>
          </a:p>
          <a:p>
            <a:pPr>
              <a:lnSpc>
                <a:spcPct val="100000"/>
              </a:lnSpc>
            </a:pPr>
            <a:r>
              <a:rPr sz="1100">
                <a:solidFill>
                  <a:srgbClr val="E6E8EE"/>
                </a:solidFill>
                <a:latin typeface="Consolas"/>
              </a:rPr>
              <a:t>    estimatedAnnualCostMyr:</a:t>
            </a:r>
          </a:p>
          <a:p>
            <a:pPr>
              <a:lnSpc>
                <a:spcPct val="100000"/>
              </a:lnSpc>
            </a:pPr>
            <a:r>
              <a:rPr sz="1100">
                <a:solidFill>
                  <a:srgbClr val="E6E8EE"/>
                </a:solidFill>
                <a:latin typeface="Consolas"/>
              </a:rPr>
              <a:t>        (json['estimatedAnnualCostMyr'] as num).toDouble(),</a:t>
            </a:r>
          </a:p>
          <a:p>
            <a:pPr>
              <a:lnSpc>
                <a:spcPct val="100000"/>
              </a:lnSpc>
            </a:pPr>
            <a:r>
              <a:rPr sz="1100">
                <a:solidFill>
                  <a:srgbClr val="E6E8EE"/>
                </a:solidFill>
                <a:latin typeface="Consolas"/>
              </a:rPr>
              <a:t>    intakeMonth: json['intakeMonth'] as String,</a:t>
            </a:r>
          </a:p>
          <a:p>
            <a:pPr>
              <a:lnSpc>
                <a:spcPct val="100000"/>
              </a:lnSpc>
            </a:pPr>
            <a:r>
              <a:rPr sz="1100">
                <a:solidFill>
                  <a:srgbClr val="E6E8EE"/>
                </a:solidFill>
                <a:latin typeface="Consolas"/>
              </a:rPr>
              <a:t>    recognitionNote: json['recognitionNote'] as String,</a:t>
            </a:r>
          </a:p>
          <a:p>
            <a:pPr>
              <a:lnSpc>
                <a:spcPct val="100000"/>
              </a:lnSpc>
            </a:pPr>
            <a:r>
              <a:rPr sz="1100">
                <a:solidFill>
                  <a:srgbClr val="E6E8EE"/>
                </a:solidFill>
                <a:latin typeface="Consolas"/>
              </a:rPr>
              <a:t>    quotaSeats: json['quotaSeats'] as int,</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Butiran Penting fromJson</a:t>
            </a:r>
          </a:p>
        </p:txBody>
      </p:sp>
      <p:sp>
        <p:nvSpPr>
          <p:cNvPr id="3" name="TextBox 2"/>
          <p:cNvSpPr txBox="1"/>
          <p:nvPr/>
        </p:nvSpPr>
        <p:spPr>
          <a:xfrm>
            <a:off x="804671" y="1051560"/>
            <a:ext cx="10746943" cy="448056"/>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Enum daripada String — StudyLevel.fromString(...) guna firstWhere(..., orElse: ...) supaya app tidak crash jika pelayan hantar nilai luar jangka</a:t>
            </a:r>
          </a:p>
        </p:txBody>
      </p:sp>
      <p:sp>
        <p:nvSpPr>
          <p:cNvPr id="4" name="TextBox 3"/>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as num).toDouble() — JSON boleh hantar 23000 sebagai int; as num terima kedua-duanya dahulu</a:t>
            </a:r>
          </a:p>
        </p:txBody>
      </p:sp>
      <p:sp>
        <p:nvSpPr>
          <p:cNvPr id="5" name="TextBox 4"/>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Tiada medan DateTime — intakeMonth sengaja kekal String biasa ("September")</a:t>
            </a:r>
          </a:p>
        </p:txBody>
      </p:sp>
      <p:sp>
        <p:nvSpPr>
          <p:cNvPr id="6" name="Rounded Rectangle 5"/>
          <p:cNvSpPr/>
          <p:nvPr/>
        </p:nvSpPr>
        <p:spPr>
          <a:xfrm>
            <a:off x="640080" y="2020824"/>
            <a:ext cx="10911535" cy="170078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2112264"/>
            <a:ext cx="10655503" cy="151790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static EntryCategory fromString(String value) {</a:t>
            </a:r>
          </a:p>
          <a:p>
            <a:pPr>
              <a:lnSpc>
                <a:spcPct val="100000"/>
              </a:lnSpc>
            </a:pPr>
            <a:r>
              <a:rPr sz="1100">
                <a:solidFill>
                  <a:srgbClr val="E6E8EE"/>
                </a:solidFill>
                <a:latin typeface="Consolas"/>
              </a:rPr>
              <a:t>  return EntryCategory.values.firstWhere(</a:t>
            </a:r>
          </a:p>
          <a:p>
            <a:pPr>
              <a:lnSpc>
                <a:spcPct val="100000"/>
              </a:lnSpc>
            </a:pPr>
            <a:r>
              <a:rPr sz="1100">
                <a:solidFill>
                  <a:srgbClr val="E6E8EE"/>
                </a:solidFill>
                <a:latin typeface="Consolas"/>
              </a:rPr>
              <a:t>    (c) =&gt; c.name == value,</a:t>
            </a:r>
          </a:p>
          <a:p>
            <a:pPr>
              <a:lnSpc>
                <a:spcPct val="100000"/>
              </a:lnSpc>
            </a:pPr>
            <a:r>
              <a:rPr sz="1100">
                <a:solidFill>
                  <a:srgbClr val="E6E8EE"/>
                </a:solidFill>
                <a:latin typeface="Consolas"/>
              </a:rPr>
              <a:t>    orElse: () =&gt; EntryCategory.spm,</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Menukar Senarai JSON Penuh</a:t>
            </a:r>
          </a:p>
        </p:txBody>
      </p:sp>
      <p:sp>
        <p:nvSpPr>
          <p:cNvPr id="3" name="Rounded Rectangle 2"/>
          <p:cNvSpPr/>
          <p:nvPr/>
        </p:nvSpPr>
        <p:spPr>
          <a:xfrm>
            <a:off x="640080" y="1051560"/>
            <a:ext cx="10911535" cy="1513331"/>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330451"/>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final List&lt;dynamic&gt; data =</a:t>
            </a:r>
          </a:p>
          <a:p>
            <a:pPr>
              <a:lnSpc>
                <a:spcPct val="100000"/>
              </a:lnSpc>
            </a:pPr>
            <a:r>
              <a:rPr sz="1100">
                <a:solidFill>
                  <a:srgbClr val="E6E8EE"/>
                </a:solidFill>
                <a:latin typeface="Consolas"/>
              </a:rPr>
              <a:t>    jsonDecode(response.body) as List&lt;dynamic&gt;;</a:t>
            </a:r>
          </a:p>
          <a:p>
            <a:pPr>
              <a:lnSpc>
                <a:spcPct val="100000"/>
              </a:lnSpc>
            </a:pPr>
            <a:r>
              <a:rPr sz="1100">
                <a:solidFill>
                  <a:srgbClr val="E6E8EE"/>
                </a:solidFill>
                <a:latin typeface="Consolas"/>
              </a:rPr>
              <a:t>final List&lt;Programme&gt; senarai = data</a:t>
            </a:r>
          </a:p>
          <a:p>
            <a:pPr>
              <a:lnSpc>
                <a:spcPct val="100000"/>
              </a:lnSpc>
            </a:pPr>
            <a:r>
              <a:rPr sz="1100">
                <a:solidFill>
                  <a:srgbClr val="E6E8EE"/>
                </a:solidFill>
                <a:latin typeface="Consolas"/>
              </a:rPr>
              <a:t>    .map((e) =&gt; Programme.fromJson(e as Map&lt;String, dynamic&gt;))</a:t>
            </a:r>
          </a:p>
          <a:p>
            <a:pPr>
              <a:lnSpc>
                <a:spcPct val="100000"/>
              </a:lnSpc>
            </a:pPr>
            <a:r>
              <a:rPr sz="1100">
                <a:solidFill>
                  <a:srgbClr val="E6E8EE"/>
                </a:solidFill>
                <a:latin typeface="Consolas"/>
              </a:rPr>
              <a:t>    .toList();</a:t>
            </a:r>
          </a:p>
          <a:p>
            <a:pPr>
              <a:lnSpc>
                <a:spcPct val="100000"/>
              </a:lnSpc>
            </a:pPr>
            <a:r>
              <a:rPr sz="1100">
                <a:solidFill>
                  <a:srgbClr val="E6E8EE"/>
                </a:solidFill>
                <a:latin typeface="Consolas"/>
              </a:rPr>
              <a:t>  </a:t>
            </a:r>
          </a:p>
        </p:txBody>
      </p:sp>
      <p:sp>
        <p:nvSpPr>
          <p:cNvPr id="5" name="TextBox 4"/>
          <p:cNvSpPr txBox="1"/>
          <p:nvPr/>
        </p:nvSpPr>
        <p:spPr>
          <a:xfrm>
            <a:off x="804671" y="267462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.map() jalankan fromJson untuk setiap elemen senarai</a:t>
            </a:r>
          </a:p>
        </p:txBody>
      </p:sp>
      <p:sp>
        <p:nvSpPr>
          <p:cNvPr id="6" name="TextBox 5"/>
          <p:cNvSpPr txBox="1"/>
          <p:nvPr/>
        </p:nvSpPr>
        <p:spPr>
          <a:xfrm>
            <a:off x="804671" y="289864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.toList() tukar Iterable&lt;Programme&gt; kepada List&lt;Programme&gt; sebenar</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Lapisan Servis — Kenapa Bukan Dalam Widget?</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Kod http.get tidak diletak terus dalam widget</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Diasingkan ke lib/services/programme_service.dart</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Widget cuma panggil satu method: fetchProgrammes()</a:t>
            </a:r>
          </a:p>
        </p:txBody>
      </p:sp>
      <p:sp>
        <p:nvSpPr>
          <p:cNvPr id="6" name="TextBox 5"/>
          <p:cNvSpPr txBox="1"/>
          <p:nvPr/>
        </p:nvSpPr>
        <p:spPr>
          <a:xfrm>
            <a:off x="640080" y="1796796"/>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Kelebihan</a:t>
            </a:r>
          </a:p>
        </p:txBody>
      </p:sp>
      <p:sp>
        <p:nvSpPr>
          <p:cNvPr id="7" name="TextBox 6"/>
          <p:cNvSpPr txBox="1"/>
          <p:nvPr/>
        </p:nvSpPr>
        <p:spPr>
          <a:xfrm>
            <a:off x="640080" y="2180844"/>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Widget tak perlu tahu dari mana data datang. URL boleh ditukar di satu tempat. Servis boleh diuji berasingan dengan http.Client mock.</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ProgrammeService — Kod Sebenar</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class ProgrammeService {</a:t>
            </a:r>
          </a:p>
          <a:p>
            <a:pPr>
              <a:lnSpc>
                <a:spcPct val="100000"/>
              </a:lnSpc>
            </a:pPr>
            <a:r>
              <a:rPr sz="1100">
                <a:solidFill>
                  <a:srgbClr val="E6E8EE"/>
                </a:solidFill>
                <a:latin typeface="Consolas"/>
              </a:rPr>
              <a:t>  ProgrammeService({http.Client? client})</a:t>
            </a:r>
          </a:p>
          <a:p>
            <a:pPr>
              <a:lnSpc>
                <a:spcPct val="100000"/>
              </a:lnSpc>
            </a:pPr>
            <a:r>
              <a:rPr sz="1100">
                <a:solidFill>
                  <a:srgbClr val="E6E8EE"/>
                </a:solidFill>
                <a:latin typeface="Consolas"/>
              </a:rPr>
              <a:t>      : _client = client ?? http.Client();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final http.Client _client;</a:t>
            </a:r>
          </a:p>
          <a:p>
            <a:pPr>
              <a:lnSpc>
                <a:spcPct val="100000"/>
              </a:lnSpc>
            </a:pPr>
            <a:r>
              <a:rPr sz="1100">
                <a:solidFill>
                  <a:srgbClr val="E6E8EE"/>
                </a:solidFill>
                <a:latin typeface="Consolas"/>
              </a:rPr>
              <a:t>  static const String _endpoint =</a:t>
            </a:r>
          </a:p>
          <a:p>
            <a:pPr>
              <a:lnSpc>
                <a:spcPct val="100000"/>
              </a:lnSpc>
            </a:pPr>
            <a:r>
              <a:rPr sz="1100">
                <a:solidFill>
                  <a:srgbClr val="E6E8EE"/>
                </a:solidFill>
                <a:latin typeface="Consolas"/>
              </a:rPr>
              <a:t>      'https://raw.githubusercontent.com/kpt-kursus/mock/main/programmes.json';</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Future&lt;List&lt;Programme&gt;&gt; fetchProgrammes() async {</a:t>
            </a:r>
          </a:p>
          <a:p>
            <a:pPr>
              <a:lnSpc>
                <a:spcPct val="100000"/>
              </a:lnSpc>
            </a:pPr>
            <a:r>
              <a:rPr sz="1100">
                <a:solidFill>
                  <a:srgbClr val="E6E8EE"/>
                </a:solidFill>
                <a:latin typeface="Consolas"/>
              </a:rPr>
              <a:t>    try {</a:t>
            </a:r>
          </a:p>
          <a:p>
            <a:pPr>
              <a:lnSpc>
                <a:spcPct val="100000"/>
              </a:lnSpc>
            </a:pPr>
            <a:r>
              <a:rPr sz="1100">
                <a:solidFill>
                  <a:srgbClr val="E6E8EE"/>
                </a:solidFill>
                <a:latin typeface="Consolas"/>
              </a:rPr>
              <a:t>      final response = await _client</a:t>
            </a:r>
          </a:p>
          <a:p>
            <a:pPr>
              <a:lnSpc>
                <a:spcPct val="100000"/>
              </a:lnSpc>
            </a:pPr>
            <a:r>
              <a:rPr sz="1100">
                <a:solidFill>
                  <a:srgbClr val="E6E8EE"/>
                </a:solidFill>
                <a:latin typeface="Consolas"/>
              </a:rPr>
              <a:t>          .get(Uri.parse(_endpoint))</a:t>
            </a:r>
          </a:p>
          <a:p>
            <a:pPr>
              <a:lnSpc>
                <a:spcPct val="100000"/>
              </a:lnSpc>
            </a:pPr>
            <a:r>
              <a:rPr sz="1100">
                <a:solidFill>
                  <a:srgbClr val="E6E8EE"/>
                </a:solidFill>
                <a:latin typeface="Consolas"/>
              </a:rPr>
              <a:t>          .timeout(const Duration(seconds: 8));</a:t>
            </a:r>
          </a:p>
          <a:p>
            <a:pPr>
              <a:lnSpc>
                <a:spcPct val="100000"/>
              </a:lnSpc>
            </a:pPr>
            <a:r>
              <a:rPr sz="1100">
                <a:solidFill>
                  <a:srgbClr val="E6E8EE"/>
                </a:solidFill>
                <a:latin typeface="Consolas"/>
              </a:rPr>
              <a:t>      if (response.statusCode == 200) {</a:t>
            </a:r>
          </a:p>
          <a:p>
            <a:pPr>
              <a:lnSpc>
                <a:spcPct val="100000"/>
              </a:lnSpc>
            </a:pPr>
            <a:r>
              <a:rPr sz="1100">
                <a:solidFill>
                  <a:srgbClr val="E6E8EE"/>
                </a:solidFill>
                <a:latin typeface="Consolas"/>
              </a:rPr>
              <a:t>        final List&lt;dynamic&gt; data =</a:t>
            </a:r>
          </a:p>
          <a:p>
            <a:pPr>
              <a:lnSpc>
                <a:spcPct val="100000"/>
              </a:lnSpc>
            </a:pPr>
            <a:r>
              <a:rPr sz="1100">
                <a:solidFill>
                  <a:srgbClr val="E6E8EE"/>
                </a:solidFill>
                <a:latin typeface="Consolas"/>
              </a:rPr>
              <a:t>            jsonDecode(response.body) as List&lt;dynamic&gt;;</a:t>
            </a:r>
          </a:p>
          <a:p>
            <a:pPr>
              <a:lnSpc>
                <a:spcPct val="100000"/>
              </a:lnSpc>
            </a:pPr>
            <a:r>
              <a:rPr sz="1100">
                <a:solidFill>
                  <a:srgbClr val="E6E8EE"/>
                </a:solidFill>
                <a:latin typeface="Consolas"/>
              </a:rPr>
              <a:t>        return data</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Kenapa Fallback ke Data Tempatan?</a:t>
            </a:r>
          </a:p>
        </p:txBody>
      </p:sp>
      <p:sp>
        <p:nvSpPr>
          <p:cNvPr id="3" name="Rounded Rectangle 2"/>
          <p:cNvSpPr/>
          <p:nvPr/>
        </p:nvSpPr>
        <p:spPr>
          <a:xfrm>
            <a:off x="640080" y="1051560"/>
            <a:ext cx="10911535" cy="1513331"/>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330451"/>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Simulasi kelewatan supaya penunjuk memuat kelihatan.</a:t>
            </a:r>
          </a:p>
          <a:p>
            <a:pPr>
              <a:lnSpc>
                <a:spcPct val="100000"/>
              </a:lnSpc>
            </a:pPr>
            <a:r>
              <a:rPr sz="1100">
                <a:solidFill>
                  <a:srgbClr val="E6E8EE"/>
                </a:solidFill>
                <a:latin typeface="Consolas"/>
              </a:rPr>
              <a:t>Future&lt;List&lt;Programme&gt;&gt; _fallback() async {</a:t>
            </a:r>
          </a:p>
          <a:p>
            <a:pPr>
              <a:lnSpc>
                <a:spcPct val="100000"/>
              </a:lnSpc>
            </a:pPr>
            <a:r>
              <a:rPr sz="1100">
                <a:solidFill>
                  <a:srgbClr val="E6E8EE"/>
                </a:solidFill>
                <a:latin typeface="Consolas"/>
              </a:rPr>
              <a:t>  await Future.delayed(const Duration(milliseconds: 600));</a:t>
            </a:r>
          </a:p>
          <a:p>
            <a:pPr>
              <a:lnSpc>
                <a:spcPct val="100000"/>
              </a:lnSpc>
            </a:pPr>
            <a:r>
              <a:rPr sz="1100">
                <a:solidFill>
                  <a:srgbClr val="E6E8EE"/>
                </a:solidFill>
                <a:latin typeface="Consolas"/>
              </a:rPr>
              <a:t>  return sampleProgrammes;</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804671" y="267462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.timeout(8s) — lontar TimeoutException jika pelayan tidak balas</a:t>
            </a:r>
          </a:p>
        </p:txBody>
      </p:sp>
      <p:sp>
        <p:nvSpPr>
          <p:cNvPr id="6" name="TextBox 5"/>
          <p:cNvSpPr txBox="1"/>
          <p:nvPr/>
        </p:nvSpPr>
        <p:spPr>
          <a:xfrm>
            <a:off x="804671" y="289864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try/catch — sebarang kegagalan (tiada internet, DNS, JSON rosak, timeout) dikendalikan sama: jatuh balik</a:t>
            </a:r>
          </a:p>
        </p:txBody>
      </p:sp>
      <p:sp>
        <p:nvSpPr>
          <p:cNvPr id="7" name="TextBox 6"/>
          <p:cNvSpPr txBox="1"/>
          <p:nvPr/>
        </p:nvSpPr>
        <p:spPr>
          <a:xfrm>
            <a:off x="804671" y="312267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Keputusan reka bentuk untuk kelas: WiFi tak stabil atau URL mock belum siap → app tetap berfungsi dengan sampleProgrammes</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841248"/>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Menyusun try/timeout/fallback — Mudah Tersilap</a:t>
            </a:r>
          </a:p>
        </p:txBody>
      </p:sp>
      <p:sp>
        <p:nvSpPr>
          <p:cNvPr id="3" name="TextBox 2"/>
          <p:cNvSpPr txBox="1"/>
          <p:nvPr/>
        </p:nvSpPr>
        <p:spPr>
          <a:xfrm>
            <a:off x="640080" y="1472184"/>
            <a:ext cx="10911535" cy="493776"/>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Menggabungkan ketiga-tiganya supaya semua jenis kegagalan jatuh balik ke sampleProgrammes mudah tersilap kalau ditulis tergesa-gesa. Kalau buntu, minta AI:</a:t>
            </a:r>
          </a:p>
        </p:txBody>
      </p:sp>
      <p:sp>
        <p:nvSpPr>
          <p:cNvPr id="4" name="Rounded Rectangle 3"/>
          <p:cNvSpPr/>
          <p:nvPr/>
        </p:nvSpPr>
        <p:spPr>
          <a:xfrm>
            <a:off x="640080" y="2039112"/>
            <a:ext cx="10911535" cy="170078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2130552"/>
            <a:ext cx="10655503" cy="151790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Tulis method fetchProgrammes() dalam kelas ProgrammeService (Dart,</a:t>
            </a:r>
          </a:p>
          <a:p>
            <a:pPr>
              <a:lnSpc>
                <a:spcPct val="100000"/>
              </a:lnSpc>
            </a:pPr>
            <a:r>
              <a:rPr sz="1100">
                <a:solidFill>
                  <a:srgbClr val="E6E8EE"/>
                </a:solidFill>
                <a:latin typeface="Consolas"/>
              </a:rPr>
              <a:t>pakej http). Ia perlu: GET ke _endpoint dengan timeout 8 saat, jika</a:t>
            </a:r>
          </a:p>
          <a:p>
            <a:pPr>
              <a:lnSpc>
                <a:spcPct val="100000"/>
              </a:lnSpc>
            </a:pPr>
            <a:r>
              <a:rPr sz="1100">
                <a:solidFill>
                  <a:srgbClr val="E6E8EE"/>
                </a:solidFill>
                <a:latin typeface="Consolas"/>
              </a:rPr>
              <a:t>statusCode 200 hurai JSON kepada List&lt;Programme&gt; guna</a:t>
            </a:r>
          </a:p>
          <a:p>
            <a:pPr>
              <a:lnSpc>
                <a:spcPct val="100000"/>
              </a:lnSpc>
            </a:pPr>
            <a:r>
              <a:rPr sz="1100">
                <a:solidFill>
                  <a:srgbClr val="E6E8EE"/>
                </a:solidFill>
                <a:latin typeface="Consolas"/>
              </a:rPr>
              <a:t>Programme.fromJson, jika status lain ATAU timeout ATAU sebarang</a:t>
            </a:r>
          </a:p>
          <a:p>
            <a:pPr>
              <a:lnSpc>
                <a:spcPct val="100000"/>
              </a:lnSpc>
            </a:pPr>
            <a:r>
              <a:rPr sz="1100">
                <a:solidFill>
                  <a:srgbClr val="E6E8EE"/>
                </a:solidFill>
                <a:latin typeface="Consolas"/>
              </a:rPr>
              <a:t>exception (termasuk JSON rosak) — kembalikan sampleProgrammes</a:t>
            </a:r>
          </a:p>
          <a:p>
            <a:pPr>
              <a:lnSpc>
                <a:spcPct val="100000"/>
              </a:lnSpc>
            </a:pPr>
            <a:r>
              <a:rPr sz="1100">
                <a:solidFill>
                  <a:srgbClr val="E6E8EE"/>
                </a:solidFill>
                <a:latin typeface="Consolas"/>
              </a:rPr>
              <a:t>sebagai fallback tanpa throw ralat ke pemanggil.</a:t>
            </a:r>
          </a:p>
          <a:p>
            <a:pPr>
              <a:lnSpc>
                <a:spcPct val="100000"/>
              </a:lnSpc>
            </a:pPr>
            <a:r>
              <a:rPr sz="1100">
                <a:solidFill>
                  <a:srgbClr val="E6E8EE"/>
                </a:solidFill>
                <a:latin typeface="Consolas"/>
              </a:rPr>
              <a:t>  </a:t>
            </a:r>
          </a:p>
        </p:txBody>
      </p:sp>
      <p:sp>
        <p:nvSpPr>
          <p:cNvPr id="6" name="TextBox 5"/>
          <p:cNvSpPr txBox="1"/>
          <p:nvPr/>
        </p:nvSpPr>
        <p:spPr>
          <a:xfrm>
            <a:off x="640080" y="3849624"/>
            <a:ext cx="10911535" cy="493776"/>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Semak hasilnya: matikan WiFi dan pastikan ia benar-benar jatuh ke fallback (bukan crash) — sesetengah draf hanya tangkap Exception dan terlepas TimeoutException atau ralat parsing.</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SESI 7 — JSON → Dart Model, Terus Dari Contoh</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Menulis fromJson/toJson secara manual memakan masa &amp; mudah tersilap. Tampal satu rekod contoh kepada AI dan minta kelas penuh:</a:t>
            </a:r>
          </a:p>
        </p:txBody>
      </p:sp>
      <p:sp>
        <p:nvSpPr>
          <p:cNvPr id="4" name="Rounded Rectangle 3"/>
          <p:cNvSpPr/>
          <p:nvPr/>
        </p:nvSpPr>
        <p:spPr>
          <a:xfrm>
            <a:off x="640080" y="1371600"/>
            <a:ext cx="10911535" cy="263804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463040"/>
            <a:ext cx="10655503" cy="245516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Berikut satu rekod JSON daripada API tawaran pengajian eTT:</a:t>
            </a:r>
          </a:p>
          <a:p>
            <a:pPr>
              <a:lnSpc>
                <a:spcPct val="100000"/>
              </a:lnSpc>
            </a:pPr>
            <a:r>
              <a:rPr sz="1100">
                <a:solidFill>
                  <a:srgbClr val="E6E8EE"/>
                </a:solidFill>
                <a:latin typeface="Consolas"/>
              </a:rPr>
              <a:t>{ "id": "ETT-001", "universityName": "Universiti Al-Azhar",</a:t>
            </a:r>
          </a:p>
          <a:p>
            <a:pPr>
              <a:lnSpc>
                <a:spcPct val="100000"/>
              </a:lnSpc>
            </a:pPr>
            <a:r>
              <a:rPr sz="1100">
                <a:solidFill>
                  <a:srgbClr val="E6E8EE"/>
                </a:solidFill>
                <a:latin typeface="Consolas"/>
              </a:rPr>
              <a:t>  "studyLevel": "bachelor", "category": "spm",</a:t>
            </a:r>
          </a:p>
          <a:p>
            <a:pPr>
              <a:lnSpc>
                <a:spcPct val="100000"/>
              </a:lnSpc>
            </a:pPr>
            <a:r>
              <a:rPr sz="1100">
                <a:solidFill>
                  <a:srgbClr val="E6E8EE"/>
                </a:solidFill>
                <a:latin typeface="Consolas"/>
              </a:rPr>
              <a:t>  "estimatedAnnualCostMyr": 23000.0, "quotaSeats": 40, …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Jana kelas Dart `Programme` (immutable, semua medan final) dengan:</a:t>
            </a:r>
          </a:p>
          <a:p>
            <a:pPr>
              <a:lnSpc>
                <a:spcPct val="100000"/>
              </a:lnSpc>
            </a:pPr>
            <a:r>
              <a:rPr sz="1100">
                <a:solidFill>
                  <a:srgbClr val="E6E8EE"/>
                </a:solidFill>
                <a:latin typeface="Consolas"/>
              </a:rPr>
              <a:t>- constructor const bernama parameter, semua required</a:t>
            </a:r>
          </a:p>
          <a:p>
            <a:pPr>
              <a:lnSpc>
                <a:spcPct val="100000"/>
              </a:lnSpc>
            </a:pPr>
            <a:r>
              <a:rPr sz="1100">
                <a:solidFill>
                  <a:srgbClr val="E6E8EE"/>
                </a:solidFill>
                <a:latin typeface="Consolas"/>
              </a:rPr>
              <a:t>- factory fromJson(Map&lt;String, dynamic&gt; json) + method toJson()</a:t>
            </a:r>
          </a:p>
          <a:p>
            <a:pPr>
              <a:lnSpc>
                <a:spcPct val="100000"/>
              </a:lnSpc>
            </a:pPr>
            <a:r>
              <a:rPr sz="1100">
                <a:solidFill>
                  <a:srgbClr val="E6E8EE"/>
                </a:solidFill>
                <a:latin typeface="Consolas"/>
              </a:rPr>
              <a:t>- enum berasingan StudyLevel &amp; EntryCategory, setiap satu dengan</a:t>
            </a:r>
          </a:p>
          <a:p>
            <a:pPr>
              <a:lnSpc>
                <a:spcPct val="100000"/>
              </a:lnSpc>
            </a:pPr>
            <a:r>
              <a:rPr sz="1100">
                <a:solidFill>
                  <a:srgbClr val="E6E8EE"/>
                </a:solidFill>
                <a:latin typeface="Consolas"/>
              </a:rPr>
              <a:t>  fromString(String) guna firstWhere(..., orElse: ...) supaya</a:t>
            </a:r>
          </a:p>
          <a:p>
            <a:pPr>
              <a:lnSpc>
                <a:spcPct val="100000"/>
              </a:lnSpc>
            </a:pPr>
            <a:r>
              <a:rPr sz="1100">
                <a:solidFill>
                  <a:srgbClr val="E6E8EE"/>
                </a:solidFill>
                <a:latin typeface="Consolas"/>
              </a:rPr>
              <a:t>  tidak crash jika nilai tidak dikenali.</a:t>
            </a:r>
          </a:p>
          <a:p>
            <a:pPr>
              <a:lnSpc>
                <a:spcPct val="100000"/>
              </a:lnSpc>
            </a:pPr>
            <a:r>
              <a:rPr sz="1100">
                <a:solidFill>
                  <a:srgbClr val="E6E8EE"/>
                </a:solidFill>
                <a:latin typeface="Consolas"/>
              </a:rPr>
              <a:t>  </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Sahkan Model Janaan — Senarai Semak</a:t>
            </a:r>
          </a:p>
        </p:txBody>
      </p:sp>
      <p:sp>
        <p:nvSpPr>
          <p:cNvPr id="3" name="TextBox 2"/>
          <p:cNvSpPr txBox="1"/>
          <p:nvPr/>
        </p:nvSpPr>
        <p:spPr>
          <a:xfrm>
            <a:off x="731519" y="1051560"/>
            <a:ext cx="10820095" cy="4754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1.  Nullability — dalam Programme semua medan required; tetapi dalam Application, submittedAt mesti DateTime? (draf belum tentu dihantar)</a:t>
            </a:r>
          </a:p>
        </p:txBody>
      </p:sp>
      <p:sp>
        <p:nvSpPr>
          <p:cNvPr id="4" name="TextBox 3"/>
          <p:cNvSpPr txBox="1"/>
          <p:nvPr/>
        </p:nvSpPr>
        <p:spPr>
          <a:xfrm>
            <a:off x="731519" y="1527048"/>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2.  Parsing enum — mesti firstWhere(..., orElse: ...), bukan values.byName(...) yang crash untuk nilai tak dikenali</a:t>
            </a:r>
          </a:p>
        </p:txBody>
      </p:sp>
      <p:sp>
        <p:nvSpPr>
          <p:cNvPr id="5" name="TextBox 4"/>
          <p:cNvSpPr txBox="1"/>
          <p:nvPr/>
        </p:nvSpPr>
        <p:spPr>
          <a:xfrm>
            <a:off x="731519" y="1764792"/>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3.  Nombor — (json[...] as num).toDouble(), bukan as double terus</a:t>
            </a:r>
          </a:p>
        </p:txBody>
      </p:sp>
      <p:sp>
        <p:nvSpPr>
          <p:cNvPr id="6" name="TextBox 5"/>
          <p:cNvSpPr txBox="1"/>
          <p:nvPr/>
        </p:nvSpPr>
        <p:spPr>
          <a:xfrm>
            <a:off x="731519" y="2002536"/>
            <a:ext cx="10820095" cy="4754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4.  Jangan tambah medan yang tak wujud — AI kadang "membantu lebih" dengan mereka-reka DateTime.parse untuk medan yang patut kekal String</a:t>
            </a:r>
          </a:p>
        </p:txBody>
      </p:sp>
      <p:sp>
        <p:nvSpPr>
          <p:cNvPr id="7" name="TextBox 6"/>
          <p:cNvSpPr txBox="1"/>
          <p:nvPr/>
        </p:nvSpPr>
        <p:spPr>
          <a:xfrm>
            <a:off x="731519" y="2478024"/>
            <a:ext cx="10820095" cy="4754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5.  Jalankan flutter analyze, kemudian uji dengan data sebenar: Programme.fromJson(jsonDecode(...)) — pastikan semua medan terisi betul</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Submit Data: Application.toJson()</a:t>
            </a:r>
          </a:p>
        </p:txBody>
      </p:sp>
      <p:sp>
        <p:nvSpPr>
          <p:cNvPr id="3" name="Rounded Rectangle 2"/>
          <p:cNvSpPr/>
          <p:nvPr/>
        </p:nvSpPr>
        <p:spPr>
          <a:xfrm>
            <a:off x="640080" y="1051560"/>
            <a:ext cx="10911535" cy="338785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204972"/>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 lib/models/application.dart</a:t>
            </a:r>
          </a:p>
          <a:p>
            <a:pPr>
              <a:lnSpc>
                <a:spcPct val="100000"/>
              </a:lnSpc>
            </a:pPr>
            <a:r>
              <a:rPr sz="1100">
                <a:solidFill>
                  <a:srgbClr val="E6E8EE"/>
                </a:solidFill>
                <a:latin typeface="Consolas"/>
              </a:rPr>
              <a:t>Map&lt;String, dynamic&gt; toJson() =&gt; {</a:t>
            </a:r>
          </a:p>
          <a:p>
            <a:pPr>
              <a:lnSpc>
                <a:spcPct val="100000"/>
              </a:lnSpc>
            </a:pPr>
            <a:r>
              <a:rPr sz="1100">
                <a:solidFill>
                  <a:srgbClr val="E6E8EE"/>
                </a:solidFill>
                <a:latin typeface="Consolas"/>
              </a:rPr>
              <a:t>      'id': id,</a:t>
            </a:r>
          </a:p>
          <a:p>
            <a:pPr>
              <a:lnSpc>
                <a:spcPct val="100000"/>
              </a:lnSpc>
            </a:pPr>
            <a:r>
              <a:rPr sz="1100">
                <a:solidFill>
                  <a:srgbClr val="E6E8EE"/>
                </a:solidFill>
                <a:latin typeface="Consolas"/>
              </a:rPr>
              <a:t>      'fullName': fullName,</a:t>
            </a:r>
          </a:p>
          <a:p>
            <a:pPr>
              <a:lnSpc>
                <a:spcPct val="100000"/>
              </a:lnSpc>
            </a:pPr>
            <a:r>
              <a:rPr sz="1100">
                <a:solidFill>
                  <a:srgbClr val="E6E8EE"/>
                </a:solidFill>
                <a:latin typeface="Consolas"/>
              </a:rPr>
              <a:t>      'icNumber': icNumber,</a:t>
            </a:r>
          </a:p>
          <a:p>
            <a:pPr>
              <a:lnSpc>
                <a:spcPct val="100000"/>
              </a:lnSpc>
            </a:pPr>
            <a:r>
              <a:rPr sz="1100">
                <a:solidFill>
                  <a:srgbClr val="E6E8EE"/>
                </a:solidFill>
                <a:latin typeface="Consolas"/>
              </a:rPr>
              <a:t>      'email': email,</a:t>
            </a:r>
          </a:p>
          <a:p>
            <a:pPr>
              <a:lnSpc>
                <a:spcPct val="100000"/>
              </a:lnSpc>
            </a:pPr>
            <a:r>
              <a:rPr sz="1100">
                <a:solidFill>
                  <a:srgbClr val="E6E8EE"/>
                </a:solidFill>
                <a:latin typeface="Consolas"/>
              </a:rPr>
              <a:t>      'phoneNumber': phoneNumber,</a:t>
            </a:r>
          </a:p>
          <a:p>
            <a:pPr>
              <a:lnSpc>
                <a:spcPct val="100000"/>
              </a:lnSpc>
            </a:pPr>
            <a:r>
              <a:rPr sz="1100">
                <a:solidFill>
                  <a:srgbClr val="E6E8EE"/>
                </a:solidFill>
                <a:latin typeface="Consolas"/>
              </a:rPr>
              <a:t>      'academicCategory': academicCategory.name, // enum → "spm"</a:t>
            </a:r>
          </a:p>
          <a:p>
            <a:pPr>
              <a:lnSpc>
                <a:spcPct val="100000"/>
              </a:lnSpc>
            </a:pPr>
            <a:r>
              <a:rPr sz="1100">
                <a:solidFill>
                  <a:srgbClr val="E6E8EE"/>
                </a:solidFill>
                <a:latin typeface="Consolas"/>
              </a:rPr>
              <a:t>      'country': country,</a:t>
            </a:r>
          </a:p>
          <a:p>
            <a:pPr>
              <a:lnSpc>
                <a:spcPct val="100000"/>
              </a:lnSpc>
            </a:pPr>
            <a:r>
              <a:rPr sz="1100">
                <a:solidFill>
                  <a:srgbClr val="E6E8EE"/>
                </a:solidFill>
                <a:latin typeface="Consolas"/>
              </a:rPr>
              <a:t>      'fieldOfStudy': fieldOfStudy,</a:t>
            </a:r>
          </a:p>
          <a:p>
            <a:pPr>
              <a:lnSpc>
                <a:spcPct val="100000"/>
              </a:lnSpc>
            </a:pPr>
            <a:r>
              <a:rPr sz="1100">
                <a:solidFill>
                  <a:srgbClr val="E6E8EE"/>
                </a:solidFill>
                <a:latin typeface="Consolas"/>
              </a:rPr>
              <a:t>      'universityChoiceIds': universityChoiceIds,</a:t>
            </a:r>
          </a:p>
          <a:p>
            <a:pPr>
              <a:lnSpc>
                <a:spcPct val="100000"/>
              </a:lnSpc>
            </a:pPr>
            <a:r>
              <a:rPr sz="1100">
                <a:solidFill>
                  <a:srgbClr val="E6E8EE"/>
                </a:solidFill>
                <a:latin typeface="Consolas"/>
              </a:rPr>
              <a:t>      'uploadedDocuments': uploadedDocuments,</a:t>
            </a:r>
          </a:p>
          <a:p>
            <a:pPr>
              <a:lnSpc>
                <a:spcPct val="100000"/>
              </a:lnSpc>
            </a:pPr>
            <a:r>
              <a:rPr sz="1100">
                <a:solidFill>
                  <a:srgbClr val="E6E8EE"/>
                </a:solidFill>
                <a:latin typeface="Consolas"/>
              </a:rPr>
              <a:t>      'status': status.name,</a:t>
            </a:r>
          </a:p>
          <a:p>
            <a:pPr>
              <a:lnSpc>
                <a:spcPct val="100000"/>
              </a:lnSpc>
            </a:pPr>
            <a:r>
              <a:rPr sz="1100">
                <a:solidFill>
                  <a:srgbClr val="E6E8EE"/>
                </a:solidFill>
                <a:latin typeface="Consolas"/>
              </a:rPr>
              <a:t>      'submittedAt': submittedAt?.toIso8601String(),</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p:txBody>
      </p:sp>
      <p:sp>
        <p:nvSpPr>
          <p:cNvPr id="5" name="TextBox 4"/>
          <p:cNvSpPr txBox="1"/>
          <p:nvPr/>
        </p:nvSpPr>
        <p:spPr>
          <a:xfrm>
            <a:off x="804671" y="454914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Arah bertentangan daripada fromJson: objek Dart → Map sedia untuk JSON</a:t>
            </a:r>
          </a:p>
        </p:txBody>
      </p:sp>
      <p:sp>
        <p:nvSpPr>
          <p:cNvPr id="6" name="TextBox 5"/>
          <p:cNvSpPr txBox="1"/>
          <p:nvPr/>
        </p:nvSpPr>
        <p:spPr>
          <a:xfrm>
            <a:off x="804671" y="477316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enum.name · submittedAt?.toIso8601String() (? kerana boleh null)</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Hantar dengan http.post</a:t>
            </a:r>
          </a:p>
        </p:txBody>
      </p:sp>
      <p:sp>
        <p:nvSpPr>
          <p:cNvPr id="3" name="Rounded Rectangle 2"/>
          <p:cNvSpPr/>
          <p:nvPr/>
        </p:nvSpPr>
        <p:spPr>
          <a:xfrm>
            <a:off x="640080" y="1051560"/>
            <a:ext cx="10911535" cy="207568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892807"/>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Future&lt;bool&gt; submitApplication(Application application) async {</a:t>
            </a:r>
          </a:p>
          <a:p>
            <a:pPr>
              <a:lnSpc>
                <a:spcPct val="100000"/>
              </a:lnSpc>
            </a:pPr>
            <a:r>
              <a:rPr sz="1100">
                <a:solidFill>
                  <a:srgbClr val="E6E8EE"/>
                </a:solidFill>
                <a:latin typeface="Consolas"/>
              </a:rPr>
              <a:t>  final response = await http.post(</a:t>
            </a:r>
          </a:p>
          <a:p>
            <a:pPr>
              <a:lnSpc>
                <a:spcPct val="100000"/>
              </a:lnSpc>
            </a:pPr>
            <a:r>
              <a:rPr sz="1100">
                <a:solidFill>
                  <a:srgbClr val="E6E8EE"/>
                </a:solidFill>
                <a:latin typeface="Consolas"/>
              </a:rPr>
              <a:t>    Uri.parse('$_baseUrl/applications'),</a:t>
            </a:r>
          </a:p>
          <a:p>
            <a:pPr>
              <a:lnSpc>
                <a:spcPct val="100000"/>
              </a:lnSpc>
            </a:pPr>
            <a:r>
              <a:rPr sz="1100">
                <a:solidFill>
                  <a:srgbClr val="E6E8EE"/>
                </a:solidFill>
                <a:latin typeface="Consolas"/>
              </a:rPr>
              <a:t>    headers: {'Content-Type': 'application/json'},</a:t>
            </a:r>
          </a:p>
          <a:p>
            <a:pPr>
              <a:lnSpc>
                <a:spcPct val="100000"/>
              </a:lnSpc>
            </a:pPr>
            <a:r>
              <a:rPr sz="1100">
                <a:solidFill>
                  <a:srgbClr val="E6E8EE"/>
                </a:solidFill>
                <a:latin typeface="Consolas"/>
              </a:rPr>
              <a:t>    body: jsonEncode(application.toJson()),</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return response.statusCode == 200 || response.statusCode == 201;</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t>
            </a:r>
          </a:p>
        </p:txBody>
      </p:sp>
      <p:sp>
        <p:nvSpPr>
          <p:cNvPr id="5" name="TextBox 4"/>
          <p:cNvSpPr txBox="1"/>
          <p:nvPr/>
        </p:nvSpPr>
        <p:spPr>
          <a:xfrm>
            <a:off x="804671" y="323697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headers — beritahu pelayan badan berformat JSON</a:t>
            </a:r>
          </a:p>
        </p:txBody>
      </p:sp>
      <p:sp>
        <p:nvSpPr>
          <p:cNvPr id="6" name="TextBox 5"/>
          <p:cNvSpPr txBox="1"/>
          <p:nvPr/>
        </p:nvSpPr>
        <p:spPr>
          <a:xfrm>
            <a:off x="804671" y="346100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jsonEncode(...) — tukar Map kepada String JSON</a:t>
            </a:r>
          </a:p>
        </p:txBody>
      </p:sp>
      <p:sp>
        <p:nvSpPr>
          <p:cNvPr id="7" name="TextBox 6"/>
          <p:cNvSpPr txBox="1"/>
          <p:nvPr/>
        </p:nvSpPr>
        <p:spPr>
          <a:xfrm>
            <a:off x="804671" y="368503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Semak statusCode — jangan andaikan berjaya</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Kod Status HTTP — Apa Aplikasi Patut Buat</a:t>
            </a:r>
          </a:p>
        </p:txBody>
      </p:sp>
      <p:graphicFrame>
        <p:nvGraphicFramePr>
          <p:cNvPr id="3" name="Table 2"/>
          <p:cNvGraphicFramePr>
            <a:graphicFrameLocks noGrp="1"/>
          </p:cNvGraphicFramePr>
          <p:nvPr/>
        </p:nvGraphicFramePr>
        <p:xfrm>
          <a:off x="640080" y="1051560"/>
          <a:ext cx="10911535" cy="192024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r>
                        <a:rPr sz="1100" b="1">
                          <a:solidFill>
                            <a:srgbClr val="FFFFFF"/>
                          </a:solidFill>
                          <a:latin typeface="Segoe UI"/>
                        </a:rPr>
                        <a:t>Kod</a:t>
                      </a:r>
                    </a:p>
                  </a:txBody>
                  <a:tcPr marL="63500" marR="63500" marT="25400" marB="25400">
                    <a:solidFill>
                      <a:srgbClr val="1A2B5C"/>
                    </a:solidFill>
                  </a:tcPr>
                </a:tc>
                <a:tc>
                  <a:txBody>
                    <a:bodyPr/>
                    <a:lstStyle/>
                    <a:p>
                      <a:r>
                        <a:rPr sz="1100" b="1">
                          <a:solidFill>
                            <a:srgbClr val="FFFFFF"/>
                          </a:solidFill>
                          <a:latin typeface="Segoe UI"/>
                        </a:rPr>
                        <a:t>Makna</a:t>
                      </a:r>
                    </a:p>
                  </a:txBody>
                  <a:tcPr marL="63500" marR="63500" marT="25400" marB="25400">
                    <a:solidFill>
                      <a:srgbClr val="1A2B5C"/>
                    </a:solidFill>
                  </a:tcPr>
                </a:tc>
                <a:tc>
                  <a:txBody>
                    <a:bodyPr/>
                    <a:lstStyle/>
                    <a:p>
                      <a:r>
                        <a:rPr sz="1100" b="1">
                          <a:solidFill>
                            <a:srgbClr val="FFFFFF"/>
                          </a:solidFill>
                          <a:latin typeface="Segoe UI"/>
                        </a:rPr>
                        <a:t>Tindakan aplikasi</a:t>
                      </a:r>
                    </a:p>
                  </a:txBody>
                  <a:tcPr marL="63500" marR="63500" marT="25400" marB="25400">
                    <a:solidFill>
                      <a:srgbClr val="1A2B5C"/>
                    </a:solidFill>
                  </a:tcPr>
                </a:tc>
              </a:tr>
              <a:tr h="274320">
                <a:tc>
                  <a:txBody>
                    <a:bodyPr/>
                    <a:lstStyle/>
                    <a:p>
                      <a:r>
                        <a:rPr sz="1100" b="0">
                          <a:solidFill>
                            <a:srgbClr val="566371"/>
                          </a:solidFill>
                          <a:latin typeface="Segoe UI"/>
                        </a:rPr>
                        <a:t>200 OK</a:t>
                      </a:r>
                    </a:p>
                  </a:txBody>
                  <a:tcPr marL="63500" marR="63500" marT="25400" marB="25400">
                    <a:solidFill>
                      <a:srgbClr val="FFFFFF"/>
                    </a:solidFill>
                  </a:tcPr>
                </a:tc>
                <a:tc>
                  <a:txBody>
                    <a:bodyPr/>
                    <a:lstStyle/>
                    <a:p>
                      <a:r>
                        <a:rPr sz="1100" b="0">
                          <a:solidFill>
                            <a:srgbClr val="566371"/>
                          </a:solidFill>
                          <a:latin typeface="Segoe UI"/>
                        </a:rPr>
                        <a:t>GET berjaya</a:t>
                      </a:r>
                    </a:p>
                  </a:txBody>
                  <a:tcPr marL="63500" marR="63500" marT="25400" marB="25400">
                    <a:solidFill>
                      <a:srgbClr val="FFFFFF"/>
                    </a:solidFill>
                  </a:tcPr>
                </a:tc>
                <a:tc>
                  <a:txBody>
                    <a:bodyPr/>
                    <a:lstStyle/>
                    <a:p>
                      <a:r>
                        <a:rPr sz="1100" b="0">
                          <a:solidFill>
                            <a:srgbClr val="566371"/>
                          </a:solidFill>
                          <a:latin typeface="Segoe UI"/>
                        </a:rPr>
                        <a:t>Papar data (LoadState.loaded)</a:t>
                      </a:r>
                    </a:p>
                  </a:txBody>
                  <a:tcPr marL="63500" marR="63500" marT="25400" marB="25400">
                    <a:solidFill>
                      <a:srgbClr val="FFFFFF"/>
                    </a:solidFill>
                  </a:tcPr>
                </a:tc>
              </a:tr>
              <a:tr h="274320">
                <a:tc>
                  <a:txBody>
                    <a:bodyPr/>
                    <a:lstStyle/>
                    <a:p>
                      <a:r>
                        <a:rPr sz="1100" b="0">
                          <a:solidFill>
                            <a:srgbClr val="566371"/>
                          </a:solidFill>
                          <a:latin typeface="Segoe UI"/>
                        </a:rPr>
                        <a:t>201 Created</a:t>
                      </a:r>
                    </a:p>
                  </a:txBody>
                  <a:tcPr marL="63500" marR="63500" marT="25400" marB="25400">
                    <a:solidFill>
                      <a:srgbClr val="FFFFFF"/>
                    </a:solidFill>
                  </a:tcPr>
                </a:tc>
                <a:tc>
                  <a:txBody>
                    <a:bodyPr/>
                    <a:lstStyle/>
                    <a:p>
                      <a:r>
                        <a:rPr sz="1100" b="0">
                          <a:solidFill>
                            <a:srgbClr val="566371"/>
                          </a:solidFill>
                          <a:latin typeface="Segoe UI"/>
                        </a:rPr>
                        <a:t>Rekod baharu dicipta (POST)</a:t>
                      </a:r>
                    </a:p>
                  </a:txBody>
                  <a:tcPr marL="63500" marR="63500" marT="25400" marB="25400">
                    <a:solidFill>
                      <a:srgbClr val="FFFFFF"/>
                    </a:solidFill>
                  </a:tcPr>
                </a:tc>
                <a:tc>
                  <a:txBody>
                    <a:bodyPr/>
                    <a:lstStyle/>
                    <a:p>
                      <a:r>
                        <a:rPr sz="1100" b="0">
                          <a:solidFill>
                            <a:srgbClr val="566371"/>
                          </a:solidFill>
                          <a:latin typeface="Segoe UI"/>
                        </a:rPr>
                        <a:t>SnackBar kejayaan, tutup borang</a:t>
                      </a:r>
                    </a:p>
                  </a:txBody>
                  <a:tcPr marL="63500" marR="63500" marT="25400" marB="25400">
                    <a:solidFill>
                      <a:srgbClr val="FFFFFF"/>
                    </a:solidFill>
                  </a:tcPr>
                </a:tc>
              </a:tr>
              <a:tr h="274320">
                <a:tc>
                  <a:txBody>
                    <a:bodyPr/>
                    <a:lstStyle/>
                    <a:p>
                      <a:r>
                        <a:rPr sz="1100" b="0">
                          <a:solidFill>
                            <a:srgbClr val="566371"/>
                          </a:solidFill>
                          <a:latin typeface="Segoe UI"/>
                        </a:rPr>
                        <a:t>400 Bad Request</a:t>
                      </a:r>
                    </a:p>
                  </a:txBody>
                  <a:tcPr marL="63500" marR="63500" marT="25400" marB="25400">
                    <a:solidFill>
                      <a:srgbClr val="FFFFFF"/>
                    </a:solidFill>
                  </a:tcPr>
                </a:tc>
                <a:tc>
                  <a:txBody>
                    <a:bodyPr/>
                    <a:lstStyle/>
                    <a:p>
                      <a:r>
                        <a:rPr sz="1100" b="0">
                          <a:solidFill>
                            <a:srgbClr val="566371"/>
                          </a:solidFill>
                          <a:latin typeface="Segoe UI"/>
                        </a:rPr>
                        <a:t>Data dihantar tidak sah</a:t>
                      </a:r>
                    </a:p>
                  </a:txBody>
                  <a:tcPr marL="63500" marR="63500" marT="25400" marB="25400">
                    <a:solidFill>
                      <a:srgbClr val="FFFFFF"/>
                    </a:solidFill>
                  </a:tcPr>
                </a:tc>
                <a:tc>
                  <a:txBody>
                    <a:bodyPr/>
                    <a:lstStyle/>
                    <a:p>
                      <a:r>
                        <a:rPr sz="1100" b="0">
                          <a:solidFill>
                            <a:srgbClr val="566371"/>
                          </a:solidFill>
                          <a:latin typeface="Segoe UI"/>
                        </a:rPr>
                        <a:t>Papar ralat borang — jangan biar pengguna sangka berjaya</a:t>
                      </a:r>
                    </a:p>
                  </a:txBody>
                  <a:tcPr marL="63500" marR="63500" marT="25400" marB="25400">
                    <a:solidFill>
                      <a:srgbClr val="FFFFFF"/>
                    </a:solidFill>
                  </a:tcPr>
                </a:tc>
              </a:tr>
              <a:tr h="274320">
                <a:tc>
                  <a:txBody>
                    <a:bodyPr/>
                    <a:lstStyle/>
                    <a:p>
                      <a:r>
                        <a:rPr sz="1100" b="0">
                          <a:solidFill>
                            <a:srgbClr val="566371"/>
                          </a:solidFill>
                          <a:latin typeface="Segoe UI"/>
                        </a:rPr>
                        <a:t>401 Unauthorized</a:t>
                      </a:r>
                    </a:p>
                  </a:txBody>
                  <a:tcPr marL="63500" marR="63500" marT="25400" marB="25400">
                    <a:solidFill>
                      <a:srgbClr val="FFFFFF"/>
                    </a:solidFill>
                  </a:tcPr>
                </a:tc>
                <a:tc>
                  <a:txBody>
                    <a:bodyPr/>
                    <a:lstStyle/>
                    <a:p>
                      <a:r>
                        <a:rPr sz="1100" b="0">
                          <a:solidFill>
                            <a:srgbClr val="566371"/>
                          </a:solidFill>
                          <a:latin typeface="Segoe UI"/>
                        </a:rPr>
                        <a:t>Token/kebenaran tidak sah</a:t>
                      </a:r>
                    </a:p>
                  </a:txBody>
                  <a:tcPr marL="63500" marR="63500" marT="25400" marB="25400">
                    <a:solidFill>
                      <a:srgbClr val="FFFFFF"/>
                    </a:solidFill>
                  </a:tcPr>
                </a:tc>
                <a:tc>
                  <a:txBody>
                    <a:bodyPr/>
                    <a:lstStyle/>
                    <a:p>
                      <a:r>
                        <a:rPr sz="1100" b="0">
                          <a:solidFill>
                            <a:srgbClr val="566371"/>
                          </a:solidFill>
                          <a:latin typeface="Segoe UI"/>
                        </a:rPr>
                        <a:t>Halakan ke log masuk semula</a:t>
                      </a:r>
                    </a:p>
                  </a:txBody>
                  <a:tcPr marL="63500" marR="63500" marT="25400" marB="25400">
                    <a:solidFill>
                      <a:srgbClr val="FFFFFF"/>
                    </a:solidFill>
                  </a:tcPr>
                </a:tc>
              </a:tr>
              <a:tr h="274320">
                <a:tc>
                  <a:txBody>
                    <a:bodyPr/>
                    <a:lstStyle/>
                    <a:p>
                      <a:r>
                        <a:rPr sz="1100" b="0">
                          <a:solidFill>
                            <a:srgbClr val="566371"/>
                          </a:solidFill>
                          <a:latin typeface="Segoe UI"/>
                        </a:rPr>
                        <a:t>404 Not Found</a:t>
                      </a:r>
                    </a:p>
                  </a:txBody>
                  <a:tcPr marL="63500" marR="63500" marT="25400" marB="25400">
                    <a:solidFill>
                      <a:srgbClr val="FFFFFF"/>
                    </a:solidFill>
                  </a:tcPr>
                </a:tc>
                <a:tc>
                  <a:txBody>
                    <a:bodyPr/>
                    <a:lstStyle/>
                    <a:p>
                      <a:r>
                        <a:rPr sz="1100" b="0">
                          <a:solidFill>
                            <a:srgbClr val="566371"/>
                          </a:solidFill>
                          <a:latin typeface="Segoe UI"/>
                        </a:rPr>
                        <a:t>URL/ID tidak wujud</a:t>
                      </a:r>
                    </a:p>
                  </a:txBody>
                  <a:tcPr marL="63500" marR="63500" marT="25400" marB="25400">
                    <a:solidFill>
                      <a:srgbClr val="FFFFFF"/>
                    </a:solidFill>
                  </a:tcPr>
                </a:tc>
                <a:tc>
                  <a:txBody>
                    <a:bodyPr/>
                    <a:lstStyle/>
                    <a:p>
                      <a:r>
                        <a:rPr sz="1100" b="0">
                          <a:solidFill>
                            <a:srgbClr val="566371"/>
                          </a:solidFill>
                          <a:latin typeface="Segoe UI"/>
                        </a:rPr>
                        <a:t>"Rekod tidak dijumpai" — semak _endpoint/ID</a:t>
                      </a:r>
                    </a:p>
                  </a:txBody>
                  <a:tcPr marL="63500" marR="63500" marT="25400" marB="25400">
                    <a:solidFill>
                      <a:srgbClr val="FFFFFF"/>
                    </a:solidFill>
                  </a:tcPr>
                </a:tc>
              </a:tr>
              <a:tr h="274320">
                <a:tc>
                  <a:txBody>
                    <a:bodyPr/>
                    <a:lstStyle/>
                    <a:p>
                      <a:r>
                        <a:rPr sz="1100" b="0">
                          <a:solidFill>
                            <a:srgbClr val="566371"/>
                          </a:solidFill>
                          <a:latin typeface="Segoe UI"/>
                        </a:rPr>
                        <a:t>500 Server Error</a:t>
                      </a:r>
                    </a:p>
                  </a:txBody>
                  <a:tcPr marL="63500" marR="63500" marT="25400" marB="25400">
                    <a:solidFill>
                      <a:srgbClr val="FFFFFF"/>
                    </a:solidFill>
                  </a:tcPr>
                </a:tc>
                <a:tc>
                  <a:txBody>
                    <a:bodyPr/>
                    <a:lstStyle/>
                    <a:p>
                      <a:r>
                        <a:rPr sz="1100" b="0">
                          <a:solidFill>
                            <a:srgbClr val="566371"/>
                          </a:solidFill>
                          <a:latin typeface="Segoe UI"/>
                        </a:rPr>
                        <a:t>Pelayan sendiri gagal</a:t>
                      </a:r>
                    </a:p>
                  </a:txBody>
                  <a:tcPr marL="63500" marR="63500" marT="25400" marB="25400">
                    <a:solidFill>
                      <a:srgbClr val="FFFFFF"/>
                    </a:solidFill>
                  </a:tcPr>
                </a:tc>
                <a:tc>
                  <a:txBody>
                    <a:bodyPr/>
                    <a:lstStyle/>
                    <a:p>
                      <a:r>
                        <a:rPr sz="1100" b="0">
                          <a:solidFill>
                            <a:srgbClr val="566371"/>
                          </a:solidFill>
                          <a:latin typeface="Segoe UI"/>
                        </a:rPr>
                        <a:t>Mesej umum + butang Cuba Lagi</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Status HTTP ≠ ApplicationStatus</a:t>
            </a:r>
          </a:p>
        </p:txBody>
      </p:sp>
      <p:sp>
        <p:nvSpPr>
          <p:cNvPr id="3" name="TextBox 2"/>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Status HTTP</a:t>
            </a:r>
          </a:p>
        </p:txBody>
      </p:sp>
      <p:sp>
        <p:nvSpPr>
          <p:cNvPr id="4" name="TextBox 3"/>
          <p:cNvSpPr txBox="1"/>
          <p:nvPr/>
        </p:nvSpPr>
        <p:spPr>
          <a:xfrm>
            <a:off x="640080" y="1435608"/>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200/201/400/500… — status permintaan rangkaian. POST berjaya (201) = permohonan berjaya dihantar. Itu sahaja.</a:t>
            </a:r>
          </a:p>
        </p:txBody>
      </p:sp>
      <p:sp>
        <p:nvSpPr>
          <p:cNvPr id="5" name="TextBox 4"/>
          <p:cNvSpPr txBox="1"/>
          <p:nvPr/>
        </p:nvSpPr>
        <p:spPr>
          <a:xfrm>
            <a:off x="640080" y="1755648"/>
            <a:ext cx="10911535" cy="310896"/>
          </a:xfrm>
          <a:prstGeom prst="rect">
            <a:avLst/>
          </a:prstGeom>
          <a:noFill/>
        </p:spPr>
        <p:txBody>
          <a:bodyPr wrap="square" anchor="t" lIns="38100" rIns="38100" tIns="25400" bIns="25400">
            <a:spAutoFit/>
          </a:bodyPr>
          <a:lstStyle/>
          <a:p>
            <a:pPr algn="l">
              <a:lnSpc>
                <a:spcPct val="105000"/>
              </a:lnSpc>
            </a:pPr>
            <a:r>
              <a:rPr sz="1800" b="1">
                <a:solidFill>
                  <a:srgbClr val="1A2B5C"/>
                </a:solidFill>
                <a:latin typeface="Segoe UI"/>
              </a:rPr>
              <a:t>ApplicationStatus (domain eTT)</a:t>
            </a:r>
          </a:p>
        </p:txBody>
      </p:sp>
      <p:sp>
        <p:nvSpPr>
          <p:cNvPr id="6" name="TextBox 5"/>
          <p:cNvSpPr txBox="1"/>
          <p:nvPr/>
        </p:nvSpPr>
        <p:spPr>
          <a:xfrm>
            <a:off x="640080" y="2139696"/>
            <a:ext cx="10911535" cy="493776"/>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Draf → Dihantar → Dalam Semakan → LAYAK / TIDAK LAYAK → Tawaran… — kitaran hayat permohonan, disemak ~7 hari bekerja selepas permohonan ditutup.</a:t>
            </a:r>
          </a:p>
        </p:txBody>
      </p:sp>
      <p:sp>
        <p:nvSpPr>
          <p:cNvPr id="7" name="Rounded Rectangle 6"/>
          <p:cNvSpPr/>
          <p:nvPr/>
        </p:nvSpPr>
        <p:spPr>
          <a:xfrm>
            <a:off x="640080" y="2706624"/>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40080" y="2706624"/>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779776"/>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201 Created tidak bermakna permohonan sudah "Layak" — kelayakan ditentukan kemudian oleh pihak KPT, bukan oleh kod status HTTP.</a:t>
            </a:r>
          </a:p>
        </p:txBody>
      </p:sp>
      <p:sp>
        <p:nvSpPr>
          <p:cNvPr id="10" name="TextBox 9"/>
          <p:cNvSpPr txBox="1"/>
          <p:nvPr/>
        </p:nvSpPr>
        <p:spPr>
          <a:xfrm>
            <a:off x="640080" y="3236976"/>
            <a:ext cx="10911535" cy="292608"/>
          </a:xfrm>
          <a:prstGeom prst="rect">
            <a:avLst/>
          </a:prstGeom>
          <a:noFill/>
        </p:spPr>
        <p:txBody>
          <a:bodyPr wrap="square" anchor="t" lIns="38100" rIns="38100" tIns="25400" bIns="25400">
            <a:spAutoFit/>
          </a:bodyPr>
          <a:lstStyle/>
          <a:p>
            <a:pPr algn="l">
              <a:lnSpc>
                <a:spcPct val="105000"/>
              </a:lnSpc>
            </a:pPr>
            <a:r>
              <a:rPr sz="1200" b="1">
                <a:solidFill>
                  <a:srgbClr val="1A2B5C"/>
                </a:solidFill>
                <a:latin typeface="Segoe UI"/>
              </a:rPr>
              <a:t>[ LAYAK ]   [ TIDAK LAYAK ]</a:t>
            </a:r>
          </a:p>
        </p:txBody>
      </p:sp>
      <p:sp>
        <p:nvSpPr>
          <p:cNvPr id="11" name="TextBox 10"/>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Menghurai Badan Ralat Mengikut Status</a:t>
            </a:r>
          </a:p>
        </p:txBody>
      </p:sp>
      <p:sp>
        <p:nvSpPr>
          <p:cNvPr id="3" name="TextBox 2"/>
          <p:cNvSpPr txBox="1"/>
          <p:nvPr/>
        </p:nvSpPr>
        <p:spPr>
          <a:xfrm>
            <a:off x="640080" y="1051560"/>
            <a:ext cx="10911535" cy="493776"/>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Pelayan sering pulangkan mesej ralat sebagai JSON juga — cth. {"error": "icNumber tidak sah"}. Menghurainya mengikut kod status boleh jadi rumit; minta AI rangka fungsinya:</a:t>
            </a:r>
          </a:p>
        </p:txBody>
      </p:sp>
      <p:sp>
        <p:nvSpPr>
          <p:cNvPr id="4" name="Rounded Rectangle 3"/>
          <p:cNvSpPr/>
          <p:nvPr/>
        </p:nvSpPr>
        <p:spPr>
          <a:xfrm>
            <a:off x="640080" y="1618488"/>
            <a:ext cx="10911535" cy="188823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709928"/>
            <a:ext cx="10655503" cy="1705356"/>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Tulis fungsi Dart yang terima http.Response daripada percubaan</a:t>
            </a:r>
          </a:p>
          <a:p>
            <a:pPr>
              <a:lnSpc>
                <a:spcPct val="100000"/>
              </a:lnSpc>
            </a:pPr>
            <a:r>
              <a:rPr sz="1100">
                <a:solidFill>
                  <a:srgbClr val="E6E8EE"/>
                </a:solidFill>
                <a:latin typeface="Consolas"/>
              </a:rPr>
              <a:t>submitApplication(). Jika statusCode 201, pulangkan null (tiada</a:t>
            </a:r>
          </a:p>
          <a:p>
            <a:pPr>
              <a:lnSpc>
                <a:spcPct val="100000"/>
              </a:lnSpc>
            </a:pPr>
            <a:r>
              <a:rPr sz="1100">
                <a:solidFill>
                  <a:srgbClr val="E6E8EE"/>
                </a:solidFill>
                <a:latin typeface="Consolas"/>
              </a:rPr>
              <a:t>ralat). Jika 400, cuba jsonDecode response.body dan ambil medan</a:t>
            </a:r>
          </a:p>
          <a:p>
            <a:pPr>
              <a:lnSpc>
                <a:spcPct val="100000"/>
              </a:lnSpc>
            </a:pPr>
            <a:r>
              <a:rPr sz="1100">
                <a:solidFill>
                  <a:srgbClr val="E6E8EE"/>
                </a:solidFill>
                <a:latin typeface="Consolas"/>
              </a:rPr>
              <a:t>"error" sebagai mesej; jika parsing gagal atau medan tiada, pulangkan</a:t>
            </a:r>
          </a:p>
          <a:p>
            <a:pPr>
              <a:lnSpc>
                <a:spcPct val="100000"/>
              </a:lnSpc>
            </a:pPr>
            <a:r>
              <a:rPr sz="1100">
                <a:solidFill>
                  <a:srgbClr val="E6E8EE"/>
                </a:solidFill>
                <a:latin typeface="Consolas"/>
              </a:rPr>
              <a:t>"Data tidak sah". Jika 401/404/500, pulangkan mesej generik yang</a:t>
            </a:r>
          </a:p>
          <a:p>
            <a:pPr>
              <a:lnSpc>
                <a:spcPct val="100000"/>
              </a:lnSpc>
            </a:pPr>
            <a:r>
              <a:rPr sz="1100">
                <a:solidFill>
                  <a:srgbClr val="E6E8EE"/>
                </a:solidFill>
                <a:latin typeface="Consolas"/>
              </a:rPr>
              <a:t>sesuai. Fungsi ini TIDAK boleh throw — sentiasa pulangkan</a:t>
            </a:r>
          </a:p>
          <a:p>
            <a:pPr>
              <a:lnSpc>
                <a:spcPct val="100000"/>
              </a:lnSpc>
            </a:pPr>
            <a:r>
              <a:rPr sz="1100">
                <a:solidFill>
                  <a:srgbClr val="E6E8EE"/>
                </a:solidFill>
                <a:latin typeface="Consolas"/>
              </a:rPr>
              <a:t>String? mesej ralat atau null.</a:t>
            </a:r>
          </a:p>
          <a:p>
            <a:pPr>
              <a:lnSpc>
                <a:spcPct val="100000"/>
              </a:lnSpc>
            </a:pPr>
            <a:r>
              <a:rPr sz="1100">
                <a:solidFill>
                  <a:srgbClr val="E6E8EE"/>
                </a:solidFill>
                <a:latin typeface="Consolas"/>
              </a:rPr>
              <a:t>  </a:t>
            </a:r>
          </a:p>
        </p:txBody>
      </p:sp>
      <p:sp>
        <p:nvSpPr>
          <p:cNvPr id="6" name="TextBox 5"/>
          <p:cNvSpPr txBox="1"/>
          <p:nvPr/>
        </p:nvSpPr>
        <p:spPr>
          <a:xfrm>
            <a:off x="640080" y="3616452"/>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Semak: adakah ia jsonDecode badan yang mungkin bukan JSON sah (cth. HTML halaman ralat 500)? Bungkus bahagian itu dalam try/catch tersendiri.</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Empat Keadaan Operasi Rangkaian: LoadState</a:t>
            </a:r>
          </a:p>
        </p:txBody>
      </p:sp>
      <p:sp>
        <p:nvSpPr>
          <p:cNvPr id="3" name="Rounded Rectangle 2"/>
          <p:cNvSpPr/>
          <p:nvPr/>
        </p:nvSpPr>
        <p:spPr>
          <a:xfrm>
            <a:off x="640080" y="1051560"/>
            <a:ext cx="10911535" cy="76352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58064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enum LoadState { idle, loading, loaded, error }</a:t>
            </a:r>
          </a:p>
          <a:p>
            <a:pPr>
              <a:lnSpc>
                <a:spcPct val="100000"/>
              </a:lnSpc>
            </a:pPr>
            <a:r>
              <a:rPr sz="1100">
                <a:solidFill>
                  <a:srgbClr val="E6E8EE"/>
                </a:solidFill>
                <a:latin typeface="Consolas"/>
              </a:rPr>
              <a:t>  </a:t>
            </a:r>
          </a:p>
        </p:txBody>
      </p:sp>
      <p:graphicFrame>
        <p:nvGraphicFramePr>
          <p:cNvPr id="5" name="Table 4"/>
          <p:cNvGraphicFramePr>
            <a:graphicFrameLocks noGrp="1"/>
          </p:cNvGraphicFramePr>
          <p:nvPr/>
        </p:nvGraphicFramePr>
        <p:xfrm>
          <a:off x="640080" y="1924812"/>
          <a:ext cx="10911535" cy="137160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r>
                        <a:rPr sz="1100" b="1">
                          <a:solidFill>
                            <a:srgbClr val="FFFFFF"/>
                          </a:solidFill>
                          <a:latin typeface="Segoe UI"/>
                        </a:rPr>
                        <a:t>Keadaan</a:t>
                      </a:r>
                    </a:p>
                  </a:txBody>
                  <a:tcPr marL="63500" marR="63500" marT="25400" marB="25400">
                    <a:solidFill>
                      <a:srgbClr val="1A2B5C"/>
                    </a:solidFill>
                  </a:tcPr>
                </a:tc>
                <a:tc>
                  <a:txBody>
                    <a:bodyPr/>
                    <a:lstStyle/>
                    <a:p>
                      <a:r>
                        <a:rPr sz="1100" b="1">
                          <a:solidFill>
                            <a:srgbClr val="FFFFFF"/>
                          </a:solidFill>
                          <a:latin typeface="Segoe UI"/>
                        </a:rPr>
                        <a:t>Bila</a:t>
                      </a:r>
                    </a:p>
                  </a:txBody>
                  <a:tcPr marL="63500" marR="63500" marT="25400" marB="25400">
                    <a:solidFill>
                      <a:srgbClr val="1A2B5C"/>
                    </a:solidFill>
                  </a:tcPr>
                </a:tc>
                <a:tc>
                  <a:txBody>
                    <a:bodyPr/>
                    <a:lstStyle/>
                    <a:p>
                      <a:r>
                        <a:rPr sz="1100" b="1">
                          <a:solidFill>
                            <a:srgbClr val="FFFFFF"/>
                          </a:solidFill>
                          <a:latin typeface="Segoe UI"/>
                        </a:rPr>
                        <a:t>UI dipaparkan</a:t>
                      </a:r>
                    </a:p>
                  </a:txBody>
                  <a:tcPr marL="63500" marR="63500" marT="25400" marB="25400">
                    <a:solidFill>
                      <a:srgbClr val="1A2B5C"/>
                    </a:solidFill>
                  </a:tcPr>
                </a:tc>
              </a:tr>
              <a:tr h="274320">
                <a:tc>
                  <a:txBody>
                    <a:bodyPr/>
                    <a:lstStyle/>
                    <a:p>
                      <a:r>
                        <a:rPr sz="1100" b="0">
                          <a:solidFill>
                            <a:srgbClr val="566371"/>
                          </a:solidFill>
                          <a:latin typeface="Segoe UI"/>
                        </a:rPr>
                        <a:t>idle</a:t>
                      </a:r>
                    </a:p>
                  </a:txBody>
                  <a:tcPr marL="63500" marR="63500" marT="25400" marB="25400">
                    <a:solidFill>
                      <a:srgbClr val="FFFFFF"/>
                    </a:solidFill>
                  </a:tcPr>
                </a:tc>
                <a:tc>
                  <a:txBody>
                    <a:bodyPr/>
                    <a:lstStyle/>
                    <a:p>
                      <a:r>
                        <a:rPr sz="1100" b="0">
                          <a:solidFill>
                            <a:srgbClr val="566371"/>
                          </a:solidFill>
                          <a:latin typeface="Segoe UI"/>
                        </a:rPr>
                        <a:t>Sebelum fetch pertama</a:t>
                      </a:r>
                    </a:p>
                  </a:txBody>
                  <a:tcPr marL="63500" marR="63500" marT="25400" marB="25400">
                    <a:solidFill>
                      <a:srgbClr val="FFFFFF"/>
                    </a:solidFill>
                  </a:tcPr>
                </a:tc>
                <a:tc>
                  <a:txBody>
                    <a:bodyPr/>
                    <a:lstStyle/>
                    <a:p>
                      <a:r>
                        <a:rPr sz="1100" b="0">
                          <a:solidFill>
                            <a:srgbClr val="566371"/>
                          </a:solidFill>
                          <a:latin typeface="Segoe UI"/>
                        </a:rPr>
                        <a:t>Sama seperti loading</a:t>
                      </a:r>
                    </a:p>
                  </a:txBody>
                  <a:tcPr marL="63500" marR="63500" marT="25400" marB="25400">
                    <a:solidFill>
                      <a:srgbClr val="FFFFFF"/>
                    </a:solidFill>
                  </a:tcPr>
                </a:tc>
              </a:tr>
              <a:tr h="274320">
                <a:tc>
                  <a:txBody>
                    <a:bodyPr/>
                    <a:lstStyle/>
                    <a:p>
                      <a:r>
                        <a:rPr sz="1100" b="0">
                          <a:solidFill>
                            <a:srgbClr val="566371"/>
                          </a:solidFill>
                          <a:latin typeface="Segoe UI"/>
                        </a:rPr>
                        <a:t>loading</a:t>
                      </a:r>
                    </a:p>
                  </a:txBody>
                  <a:tcPr marL="63500" marR="63500" marT="25400" marB="25400">
                    <a:solidFill>
                      <a:srgbClr val="FFFFFF"/>
                    </a:solidFill>
                  </a:tcPr>
                </a:tc>
                <a:tc>
                  <a:txBody>
                    <a:bodyPr/>
                    <a:lstStyle/>
                    <a:p>
                      <a:r>
                        <a:rPr sz="1100" b="0">
                          <a:solidFill>
                            <a:srgbClr val="566371"/>
                          </a:solidFill>
                          <a:latin typeface="Segoe UI"/>
                        </a:rPr>
                        <a:t>fetchProgrammes() sedang berjalan</a:t>
                      </a:r>
                    </a:p>
                  </a:txBody>
                  <a:tcPr marL="63500" marR="63500" marT="25400" marB="25400">
                    <a:solidFill>
                      <a:srgbClr val="FFFFFF"/>
                    </a:solidFill>
                  </a:tcPr>
                </a:tc>
                <a:tc>
                  <a:txBody>
                    <a:bodyPr/>
                    <a:lstStyle/>
                    <a:p>
                      <a:r>
                        <a:rPr sz="1100" b="0">
                          <a:solidFill>
                            <a:srgbClr val="566371"/>
                          </a:solidFill>
                          <a:latin typeface="Segoe UI"/>
                        </a:rPr>
                        <a:t>CircularProgressIndicator</a:t>
                      </a:r>
                    </a:p>
                  </a:txBody>
                  <a:tcPr marL="63500" marR="63500" marT="25400" marB="25400">
                    <a:solidFill>
                      <a:srgbClr val="FFFFFF"/>
                    </a:solidFill>
                  </a:tcPr>
                </a:tc>
              </a:tr>
              <a:tr h="274320">
                <a:tc>
                  <a:txBody>
                    <a:bodyPr/>
                    <a:lstStyle/>
                    <a:p>
                      <a:r>
                        <a:rPr sz="1100" b="0">
                          <a:solidFill>
                            <a:srgbClr val="566371"/>
                          </a:solidFill>
                          <a:latin typeface="Segoe UI"/>
                        </a:rPr>
                        <a:t>loaded</a:t>
                      </a:r>
                    </a:p>
                  </a:txBody>
                  <a:tcPr marL="63500" marR="63500" marT="25400" marB="25400">
                    <a:solidFill>
                      <a:srgbClr val="FFFFFF"/>
                    </a:solidFill>
                  </a:tcPr>
                </a:tc>
                <a:tc>
                  <a:txBody>
                    <a:bodyPr/>
                    <a:lstStyle/>
                    <a:p>
                      <a:r>
                        <a:rPr sz="1100" b="0">
                          <a:solidFill>
                            <a:srgbClr val="566371"/>
                          </a:solidFill>
                          <a:latin typeface="Segoe UI"/>
                        </a:rPr>
                        <a:t>Data diterima (API atau fallback)</a:t>
                      </a:r>
                    </a:p>
                  </a:txBody>
                  <a:tcPr marL="63500" marR="63500" marT="25400" marB="25400">
                    <a:solidFill>
                      <a:srgbClr val="FFFFFF"/>
                    </a:solidFill>
                  </a:tcPr>
                </a:tc>
                <a:tc>
                  <a:txBody>
                    <a:bodyPr/>
                    <a:lstStyle/>
                    <a:p>
                      <a:r>
                        <a:rPr sz="1100" b="0">
                          <a:solidFill>
                            <a:srgbClr val="566371"/>
                          </a:solidFill>
                          <a:latin typeface="Segoe UI"/>
                        </a:rPr>
                        <a:t>Senarai ProgrammeCard</a:t>
                      </a:r>
                    </a:p>
                  </a:txBody>
                  <a:tcPr marL="63500" marR="63500" marT="25400" marB="25400">
                    <a:solidFill>
                      <a:srgbClr val="FFFFFF"/>
                    </a:solidFill>
                  </a:tcPr>
                </a:tc>
              </a:tr>
              <a:tr h="274320">
                <a:tc>
                  <a:txBody>
                    <a:bodyPr/>
                    <a:lstStyle/>
                    <a:p>
                      <a:r>
                        <a:rPr sz="1100" b="0">
                          <a:solidFill>
                            <a:srgbClr val="566371"/>
                          </a:solidFill>
                          <a:latin typeface="Segoe UI"/>
                        </a:rPr>
                        <a:t>error</a:t>
                      </a:r>
                    </a:p>
                  </a:txBody>
                  <a:tcPr marL="63500" marR="63500" marT="25400" marB="25400">
                    <a:solidFill>
                      <a:srgbClr val="FFFFFF"/>
                    </a:solidFill>
                  </a:tcPr>
                </a:tc>
                <a:tc>
                  <a:txBody>
                    <a:bodyPr/>
                    <a:lstStyle/>
                    <a:p>
                      <a:r>
                        <a:rPr sz="1100" b="0">
                          <a:solidFill>
                            <a:srgbClr val="566371"/>
                          </a:solidFill>
                          <a:latin typeface="Segoe UI"/>
                        </a:rPr>
                        <a:t>Kegagalan tanpa fallback</a:t>
                      </a:r>
                    </a:p>
                  </a:txBody>
                  <a:tcPr marL="63500" marR="63500" marT="25400" marB="25400">
                    <a:solidFill>
                      <a:srgbClr val="FFFFFF"/>
                    </a:solidFill>
                  </a:tcPr>
                </a:tc>
                <a:tc>
                  <a:txBody>
                    <a:bodyPr/>
                    <a:lstStyle/>
                    <a:p>
                      <a:r>
                        <a:rPr sz="1100" b="0">
                          <a:solidFill>
                            <a:srgbClr val="566371"/>
                          </a:solidFill>
                          <a:latin typeface="Segoe UI"/>
                        </a:rPr>
                        <a:t>Ikon + mesej + butang Cuba Lagi</a:t>
                      </a:r>
                    </a:p>
                  </a:txBody>
                  <a:tcPr marL="63500" marR="63500" marT="25400" marB="25400">
                    <a:solidFill>
                      <a:srgbClr val="FFFFFF"/>
                    </a:solidFill>
                  </a:tcPr>
                </a:tc>
              </a:tr>
            </a:tbl>
          </a:graphicData>
        </a:graphic>
      </p:graphicFrame>
      <p:sp>
        <p:nvSpPr>
          <p:cNvPr id="6" name="Rounded Rectangle 5"/>
          <p:cNvSpPr/>
          <p:nvPr/>
        </p:nvSpPr>
        <p:spPr>
          <a:xfrm>
            <a:off x="640080" y="3424428"/>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40080" y="3424428"/>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497580"/>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Satu enum lebih jelas daripada beberapa boolean berasingan seperti isLoading &amp; hasError.</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_load() — Fetch dengan setState()</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class _DemoScreenState extends State&lt;DemoScreen&gt; {</a:t>
            </a:r>
          </a:p>
          <a:p>
            <a:pPr>
              <a:lnSpc>
                <a:spcPct val="100000"/>
              </a:lnSpc>
            </a:pPr>
            <a:r>
              <a:rPr sz="1100">
                <a:solidFill>
                  <a:srgbClr val="E6E8EE"/>
                </a:solidFill>
                <a:latin typeface="Consolas"/>
              </a:rPr>
              <a:t>  LoadState _state = LoadState.idle;</a:t>
            </a:r>
          </a:p>
          <a:p>
            <a:pPr>
              <a:lnSpc>
                <a:spcPct val="100000"/>
              </a:lnSpc>
            </a:pPr>
            <a:r>
              <a:rPr sz="1100">
                <a:solidFill>
                  <a:srgbClr val="E6E8EE"/>
                </a:solidFill>
                <a:latin typeface="Consolas"/>
              </a:rPr>
              <a:t>  List&lt;Programme&gt; _programmes = [];</a:t>
            </a:r>
          </a:p>
          <a:p>
            <a:pPr>
              <a:lnSpc>
                <a:spcPct val="100000"/>
              </a:lnSpc>
            </a:pPr>
            <a:r>
              <a:rPr sz="1100">
                <a:solidFill>
                  <a:srgbClr val="E6E8EE"/>
                </a:solidFill>
                <a:latin typeface="Consolas"/>
              </a:rPr>
              <a:t>  final _service = ProgrammeService();</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Future&lt;void&gt; _load() async {</a:t>
            </a:r>
          </a:p>
          <a:p>
            <a:pPr>
              <a:lnSpc>
                <a:spcPct val="100000"/>
              </a:lnSpc>
            </a:pPr>
            <a:r>
              <a:rPr sz="1100">
                <a:solidFill>
                  <a:srgbClr val="E6E8EE"/>
                </a:solidFill>
                <a:latin typeface="Consolas"/>
              </a:rPr>
              <a:t>    setState(() =&gt; _state = LoadState.loading);</a:t>
            </a:r>
          </a:p>
          <a:p>
            <a:pPr>
              <a:lnSpc>
                <a:spcPct val="100000"/>
              </a:lnSpc>
            </a:pPr>
            <a:r>
              <a:rPr sz="1100">
                <a:solidFill>
                  <a:srgbClr val="E6E8EE"/>
                </a:solidFill>
                <a:latin typeface="Consolas"/>
              </a:rPr>
              <a:t>    try {</a:t>
            </a:r>
          </a:p>
          <a:p>
            <a:pPr>
              <a:lnSpc>
                <a:spcPct val="100000"/>
              </a:lnSpc>
            </a:pPr>
            <a:r>
              <a:rPr sz="1100">
                <a:solidFill>
                  <a:srgbClr val="E6E8EE"/>
                </a:solidFill>
                <a:latin typeface="Consolas"/>
              </a:rPr>
              <a:t>      final data = await _service.fetchProgrammes();</a:t>
            </a:r>
          </a:p>
          <a:p>
            <a:pPr>
              <a:lnSpc>
                <a:spcPct val="100000"/>
              </a:lnSpc>
            </a:pPr>
            <a:r>
              <a:rPr sz="1100">
                <a:solidFill>
                  <a:srgbClr val="E6E8EE"/>
                </a:solidFill>
                <a:latin typeface="Consolas"/>
              </a:rPr>
              <a:t>      setState(() {</a:t>
            </a:r>
          </a:p>
          <a:p>
            <a:pPr>
              <a:lnSpc>
                <a:spcPct val="100000"/>
              </a:lnSpc>
            </a:pPr>
            <a:r>
              <a:rPr sz="1100">
                <a:solidFill>
                  <a:srgbClr val="E6E8EE"/>
                </a:solidFill>
                <a:latin typeface="Consolas"/>
              </a:rPr>
              <a:t>        _programmes = data;</a:t>
            </a:r>
          </a:p>
          <a:p>
            <a:pPr>
              <a:lnSpc>
                <a:spcPct val="100000"/>
              </a:lnSpc>
            </a:pPr>
            <a:r>
              <a:rPr sz="1100">
                <a:solidFill>
                  <a:srgbClr val="E6E8EE"/>
                </a:solidFill>
                <a:latin typeface="Consolas"/>
              </a:rPr>
              <a:t>        _state = LoadState.loaded;</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 catch (_) {</a:t>
            </a:r>
          </a:p>
          <a:p>
            <a:pPr>
              <a:lnSpc>
                <a:spcPct val="100000"/>
              </a:lnSpc>
            </a:pPr>
            <a:r>
              <a:rPr sz="1100">
                <a:solidFill>
                  <a:srgbClr val="E6E8EE"/>
                </a:solidFill>
                <a:latin typeface="Consolas"/>
              </a:rPr>
              <a:t>      setState(() =&gt; _state = LoadState.error);</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build() — switch Atas Keadaan</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switch (_state) {</a:t>
            </a:r>
          </a:p>
          <a:p>
            <a:pPr>
              <a:lnSpc>
                <a:spcPct val="100000"/>
              </a:lnSpc>
            </a:pPr>
            <a:r>
              <a:rPr sz="1100">
                <a:solidFill>
                  <a:srgbClr val="E6E8EE"/>
                </a:solidFill>
                <a:latin typeface="Consolas"/>
              </a:rPr>
              <a:t>  case LoadState.idle:</a:t>
            </a:r>
          </a:p>
          <a:p>
            <a:pPr>
              <a:lnSpc>
                <a:spcPct val="100000"/>
              </a:lnSpc>
            </a:pPr>
            <a:r>
              <a:rPr sz="1100">
                <a:solidFill>
                  <a:srgbClr val="E6E8EE"/>
                </a:solidFill>
                <a:latin typeface="Consolas"/>
              </a:rPr>
              <a:t>  case LoadState.loading:</a:t>
            </a:r>
          </a:p>
          <a:p>
            <a:pPr>
              <a:lnSpc>
                <a:spcPct val="100000"/>
              </a:lnSpc>
            </a:pPr>
            <a:r>
              <a:rPr sz="1100">
                <a:solidFill>
                  <a:srgbClr val="E6E8EE"/>
                </a:solidFill>
                <a:latin typeface="Consolas"/>
              </a:rPr>
              <a:t>    return const Center(child: CircularProgressIndicator());</a:t>
            </a:r>
          </a:p>
          <a:p>
            <a:pPr>
              <a:lnSpc>
                <a:spcPct val="100000"/>
              </a:lnSpc>
            </a:pPr>
            <a:r>
              <a:rPr sz="1100">
                <a:solidFill>
                  <a:srgbClr val="E6E8EE"/>
                </a:solidFill>
                <a:latin typeface="Consolas"/>
              </a:rPr>
              <a:t>  case LoadState.error:</a:t>
            </a:r>
          </a:p>
          <a:p>
            <a:pPr>
              <a:lnSpc>
                <a:spcPct val="100000"/>
              </a:lnSpc>
            </a:pPr>
            <a:r>
              <a:rPr sz="1100">
                <a:solidFill>
                  <a:srgbClr val="E6E8EE"/>
                </a:solidFill>
                <a:latin typeface="Consolas"/>
              </a:rPr>
              <a:t>    return Center(</a:t>
            </a:r>
          </a:p>
          <a:p>
            <a:pPr>
              <a:lnSpc>
                <a:spcPct val="100000"/>
              </a:lnSpc>
            </a:pPr>
            <a:r>
              <a:rPr sz="1100">
                <a:solidFill>
                  <a:srgbClr val="E6E8EE"/>
                </a:solidFill>
                <a:latin typeface="Consolas"/>
              </a:rPr>
              <a:t>      child: Column(mainAxisSize: MainAxisSize.min, children: [</a:t>
            </a:r>
          </a:p>
          <a:p>
            <a:pPr>
              <a:lnSpc>
                <a:spcPct val="100000"/>
              </a:lnSpc>
            </a:pPr>
            <a:r>
              <a:rPr sz="1100">
                <a:solidFill>
                  <a:srgbClr val="E6E8EE"/>
                </a:solidFill>
                <a:latin typeface="Consolas"/>
              </a:rPr>
              <a:t>        const Icon(Icons.wifi_off, size: 48, color: Colors.grey),</a:t>
            </a:r>
          </a:p>
          <a:p>
            <a:pPr>
              <a:lnSpc>
                <a:spcPct val="100000"/>
              </a:lnSpc>
            </a:pPr>
            <a:r>
              <a:rPr sz="1100">
                <a:solidFill>
                  <a:srgbClr val="E6E8EE"/>
                </a:solidFill>
                <a:latin typeface="Consolas"/>
              </a:rPr>
              <a:t>        const Text('Gagal memuat data program.'),</a:t>
            </a:r>
          </a:p>
          <a:p>
            <a:pPr>
              <a:lnSpc>
                <a:spcPct val="100000"/>
              </a:lnSpc>
            </a:pPr>
            <a:r>
              <a:rPr sz="1100">
                <a:solidFill>
                  <a:srgbClr val="E6E8EE"/>
                </a:solidFill>
                <a:latin typeface="Consolas"/>
              </a:rPr>
              <a:t>        FilledButton(onPressed: _load, child: const Text('Cuba Lagi')),</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case LoadState.loaded:</a:t>
            </a:r>
          </a:p>
          <a:p>
            <a:pPr>
              <a:lnSpc>
                <a:spcPct val="100000"/>
              </a:lnSpc>
            </a:pPr>
            <a:r>
              <a:rPr sz="1100">
                <a:solidFill>
                  <a:srgbClr val="E6E8EE"/>
                </a:solidFill>
                <a:latin typeface="Consolas"/>
              </a:rPr>
              <a:t>    return ListView.builder(</a:t>
            </a:r>
          </a:p>
          <a:p>
            <a:pPr>
              <a:lnSpc>
                <a:spcPct val="100000"/>
              </a:lnSpc>
            </a:pPr>
            <a:r>
              <a:rPr sz="1100">
                <a:solidFill>
                  <a:srgbClr val="E6E8EE"/>
                </a:solidFill>
                <a:latin typeface="Consolas"/>
              </a:rPr>
              <a:t>      itemCount: _programmes.length,</a:t>
            </a:r>
          </a:p>
          <a:p>
            <a:pPr>
              <a:lnSpc>
                <a:spcPct val="100000"/>
              </a:lnSpc>
            </a:pPr>
            <a:r>
              <a:rPr sz="1100">
                <a:solidFill>
                  <a:srgbClr val="E6E8EE"/>
                </a:solidFill>
                <a:latin typeface="Consolas"/>
              </a:rPr>
              <a:t>      itemBuilder: (context, i) =&gt;</a:t>
            </a:r>
          </a:p>
          <a:p>
            <a:pPr>
              <a:lnSpc>
                <a:spcPct val="100000"/>
              </a:lnSpc>
            </a:pPr>
            <a:r>
              <a:rPr sz="1100">
                <a:solidFill>
                  <a:srgbClr val="E6E8EE"/>
                </a:solidFill>
                <a:latin typeface="Consolas"/>
              </a:rPr>
              <a:t>          ProgrammeCard(programme: _programmes[i]),</a:t>
            </a:r>
          </a:p>
          <a:p>
            <a:pPr>
              <a:lnSpc>
                <a:spcPct val="100000"/>
              </a:lnSpc>
            </a:pPr>
            <a:r>
              <a:rPr sz="1100">
                <a:solidFill>
                  <a:srgbClr val="E6E8EE"/>
                </a:solidFill>
                <a:latin typeface="Consolas"/>
              </a:rPr>
              <a:t>…</a:t>
            </a:r>
          </a:p>
        </p:txBody>
      </p:sp>
      <p:sp>
        <p:nvSpPr>
          <p:cNvPr id="5" name="Rounded Rectangle 4"/>
          <p:cNvSpPr/>
          <p:nvPr/>
        </p:nvSpPr>
        <p:spPr>
          <a:xfrm>
            <a:off x="640080" y="4924044"/>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4924044"/>
            <a:ext cx="54864" cy="420624"/>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4997196"/>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switch tanpa default atas enum lengkap = exhaustive switch — Dart beri amaran masa kompil jika satu keadaan terlepas.</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Widget Ralat Boleh Guna Semula</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Blok ikon + mesej + butang Cuba Lagi agak berulang untuk ditulis tangan setiap kali ada skrin baharu yang fetch data. Minta AI bina rangkanya:</a:t>
            </a:r>
          </a:p>
        </p:txBody>
      </p:sp>
      <p:sp>
        <p:nvSpPr>
          <p:cNvPr id="4" name="Rounded Rectangle 3"/>
          <p:cNvSpPr/>
          <p:nvPr/>
        </p:nvSpPr>
        <p:spPr>
          <a:xfrm>
            <a:off x="640080" y="1371600"/>
            <a:ext cx="10911535" cy="1513331"/>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463040"/>
            <a:ext cx="10655503" cy="1330451"/>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Bina widget Flutter reusable ErrorStateView yang terima String</a:t>
            </a:r>
          </a:p>
          <a:p>
            <a:pPr>
              <a:lnSpc>
                <a:spcPct val="100000"/>
              </a:lnSpc>
            </a:pPr>
            <a:r>
              <a:rPr sz="1100">
                <a:solidFill>
                  <a:srgbClr val="E6E8EE"/>
                </a:solidFill>
                <a:latin typeface="Consolas"/>
              </a:rPr>
              <a:t>message dan VoidCallback onRetry. Papar Column di tengah</a:t>
            </a:r>
          </a:p>
          <a:p>
            <a:pPr>
              <a:lnSpc>
                <a:spcPct val="100000"/>
              </a:lnSpc>
            </a:pPr>
            <a:r>
              <a:rPr sz="1100">
                <a:solidFill>
                  <a:srgbClr val="E6E8EE"/>
                </a:solidFill>
                <a:latin typeface="Consolas"/>
              </a:rPr>
              <a:t>(Icon Icons.wifi_off, SizedBox, Text(message), SizedBox,</a:t>
            </a:r>
          </a:p>
          <a:p>
            <a:pPr>
              <a:lnSpc>
                <a:spcPct val="100000"/>
              </a:lnSpc>
            </a:pPr>
            <a:r>
              <a:rPr sz="1100">
                <a:solidFill>
                  <a:srgbClr val="E6E8EE"/>
                </a:solidFill>
                <a:latin typeface="Consolas"/>
              </a:rPr>
              <a:t>FilledButton "Cuba Lagi" yang panggil onRetry).</a:t>
            </a:r>
          </a:p>
          <a:p>
            <a:pPr>
              <a:lnSpc>
                <a:spcPct val="100000"/>
              </a:lnSpc>
            </a:pPr>
            <a:r>
              <a:rPr sz="1100">
                <a:solidFill>
                  <a:srgbClr val="E6E8EE"/>
                </a:solidFill>
                <a:latin typeface="Consolas"/>
              </a:rPr>
              <a:t>Guna const constructor di mana boleh.</a:t>
            </a:r>
          </a:p>
          <a:p>
            <a:pPr>
              <a:lnSpc>
                <a:spcPct val="100000"/>
              </a:lnSpc>
            </a:pPr>
            <a:r>
              <a:rPr sz="1100">
                <a:solidFill>
                  <a:srgbClr val="E6E8EE"/>
                </a:solidFill>
                <a:latin typeface="Consolas"/>
              </a:rPr>
              <a:t>  </a:t>
            </a:r>
          </a:p>
        </p:txBody>
      </p:sp>
      <p:sp>
        <p:nvSpPr>
          <p:cNvPr id="6" name="TextBox 5"/>
          <p:cNvSpPr txBox="1"/>
          <p:nvPr/>
        </p:nvSpPr>
        <p:spPr>
          <a:xfrm>
            <a:off x="640080" y="2994660"/>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Semak const diletak di tempat betul (widget statik ya, FilledButton dengan onPressed dinamik tidak) &amp; jalankan flutter analyze sebelum guna.</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Pull-to-Refresh: RefreshIndicator</a:t>
            </a:r>
          </a:p>
        </p:txBody>
      </p:sp>
      <p:sp>
        <p:nvSpPr>
          <p:cNvPr id="3" name="Rounded Rectangle 2"/>
          <p:cNvSpPr/>
          <p:nvPr/>
        </p:nvSpPr>
        <p:spPr>
          <a:xfrm>
            <a:off x="640080" y="1051560"/>
            <a:ext cx="10911535" cy="3762755"/>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579875"/>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RefreshIndicator(</a:t>
            </a:r>
          </a:p>
          <a:p>
            <a:pPr>
              <a:lnSpc>
                <a:spcPct val="100000"/>
              </a:lnSpc>
            </a:pPr>
            <a:r>
              <a:rPr sz="1100">
                <a:solidFill>
                  <a:srgbClr val="E6E8EE"/>
                </a:solidFill>
                <a:latin typeface="Consolas"/>
              </a:rPr>
              <a:t>  onRefresh: _load,</a:t>
            </a:r>
          </a:p>
          <a:p>
            <a:pPr>
              <a:lnSpc>
                <a:spcPct val="100000"/>
              </a:lnSpc>
            </a:pPr>
            <a:r>
              <a:rPr sz="1100">
                <a:solidFill>
                  <a:srgbClr val="E6E8EE"/>
                </a:solidFill>
                <a:latin typeface="Consolas"/>
              </a:rPr>
              <a:t>  child: ListView.builder(</a:t>
            </a:r>
          </a:p>
          <a:p>
            <a:pPr>
              <a:lnSpc>
                <a:spcPct val="100000"/>
              </a:lnSpc>
            </a:pPr>
            <a:r>
              <a:rPr sz="1100">
                <a:solidFill>
                  <a:srgbClr val="E6E8EE"/>
                </a:solidFill>
                <a:latin typeface="Consolas"/>
              </a:rPr>
              <a:t>    padding: const EdgeInsets.only(bottom: 16),</a:t>
            </a:r>
          </a:p>
          <a:p>
            <a:pPr>
              <a:lnSpc>
                <a:spcPct val="100000"/>
              </a:lnSpc>
            </a:pPr>
            <a:r>
              <a:rPr sz="1100">
                <a:solidFill>
                  <a:srgbClr val="E6E8EE"/>
                </a:solidFill>
                <a:latin typeface="Consolas"/>
              </a:rPr>
              <a:t>    itemCount: _programmes.length,</a:t>
            </a:r>
          </a:p>
          <a:p>
            <a:pPr>
              <a:lnSpc>
                <a:spcPct val="100000"/>
              </a:lnSpc>
            </a:pPr>
            <a:r>
              <a:rPr sz="1100">
                <a:solidFill>
                  <a:srgbClr val="E6E8EE"/>
                </a:solidFill>
                <a:latin typeface="Consolas"/>
              </a:rPr>
              <a:t>    itemBuilder: (context, index) {</a:t>
            </a:r>
          </a:p>
          <a:p>
            <a:pPr>
              <a:lnSpc>
                <a:spcPct val="100000"/>
              </a:lnSpc>
            </a:pPr>
            <a:r>
              <a:rPr sz="1100">
                <a:solidFill>
                  <a:srgbClr val="E6E8EE"/>
                </a:solidFill>
                <a:latin typeface="Consolas"/>
              </a:rPr>
              <a:t>      final p = _programmes[index];</a:t>
            </a:r>
          </a:p>
          <a:p>
            <a:pPr>
              <a:lnSpc>
                <a:spcPct val="100000"/>
              </a:lnSpc>
            </a:pPr>
            <a:r>
              <a:rPr sz="1100">
                <a:solidFill>
                  <a:srgbClr val="E6E8EE"/>
                </a:solidFill>
                <a:latin typeface="Consolas"/>
              </a:rPr>
              <a:t>      return ProgrammeCard(</a:t>
            </a:r>
          </a:p>
          <a:p>
            <a:pPr>
              <a:lnSpc>
                <a:spcPct val="100000"/>
              </a:lnSpc>
            </a:pPr>
            <a:r>
              <a:rPr sz="1100">
                <a:solidFill>
                  <a:srgbClr val="E6E8EE"/>
                </a:solidFill>
                <a:latin typeface="Consolas"/>
              </a:rPr>
              <a:t>        programme: p,</a:t>
            </a:r>
          </a:p>
          <a:p>
            <a:pPr>
              <a:lnSpc>
                <a:spcPct val="100000"/>
              </a:lnSpc>
            </a:pPr>
            <a:r>
              <a:rPr sz="1100">
                <a:solidFill>
                  <a:srgbClr val="E6E8EE"/>
                </a:solidFill>
                <a:latin typeface="Consolas"/>
              </a:rPr>
              <a:t>        onTap: () =&gt; Navigator.of(context).push(</a:t>
            </a:r>
          </a:p>
          <a:p>
            <a:pPr>
              <a:lnSpc>
                <a:spcPct val="100000"/>
              </a:lnSpc>
            </a:pPr>
            <a:r>
              <a:rPr sz="1100">
                <a:solidFill>
                  <a:srgbClr val="E6E8EE"/>
                </a:solidFill>
                <a:latin typeface="Consolas"/>
              </a:rPr>
              <a:t>          MaterialPageRoute(</a:t>
            </a:r>
          </a:p>
          <a:p>
            <a:pPr>
              <a:lnSpc>
                <a:spcPct val="100000"/>
              </a:lnSpc>
            </a:pPr>
            <a:r>
              <a:rPr sz="1100">
                <a:solidFill>
                  <a:srgbClr val="E6E8EE"/>
                </a:solidFill>
                <a:latin typeface="Consolas"/>
              </a:rPr>
              <a:t>              builder: (_) =&gt; ProgrammeDetailScreen(programme: p)),</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a:t>
            </a:r>
          </a:p>
        </p:txBody>
      </p:sp>
      <p:sp>
        <p:nvSpPr>
          <p:cNvPr id="5" name="TextBox 4"/>
          <p:cNvSpPr txBox="1"/>
          <p:nvPr/>
        </p:nvSpPr>
        <p:spPr>
          <a:xfrm>
            <a:off x="804671" y="49240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onRefresh mesti Future&lt;void&gt; Function() — spinner menunggu Future selesai</a:t>
            </a:r>
          </a:p>
        </p:txBody>
      </p:sp>
      <p:sp>
        <p:nvSpPr>
          <p:cNvPr id="6" name="TextBox 5"/>
          <p:cNvSpPr txBox="1"/>
          <p:nvPr/>
        </p:nvSpPr>
        <p:spPr>
          <a:xfrm>
            <a:off x="804671" y="51480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Anak terus mesti scrollable (ListView, GridView) — bukan Column biasa</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Menghos Mock API Anda — 3 Cara</a:t>
            </a:r>
          </a:p>
        </p:txBody>
      </p:sp>
      <p:sp>
        <p:nvSpPr>
          <p:cNvPr id="3" name="Rounded Rectangle 2"/>
          <p:cNvSpPr/>
          <p:nvPr/>
        </p:nvSpPr>
        <p:spPr>
          <a:xfrm>
            <a:off x="640080" y="1051560"/>
            <a:ext cx="3515258"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A: GitHub raw</a:t>
            </a:r>
          </a:p>
        </p:txBody>
      </p:sp>
      <p:sp>
        <p:nvSpPr>
          <p:cNvPr id="5" name="TextBox 4"/>
          <p:cNvSpPr txBox="1"/>
          <p:nvPr/>
        </p:nvSpPr>
        <p:spPr>
          <a:xfrm>
            <a:off x="768096"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Muat naik programmes.json ke repo, klik Raw, salin URL. Percuma &amp; kekal — tetapi ubah data perlu commit semula.</a:t>
            </a:r>
          </a:p>
        </p:txBody>
      </p:sp>
      <p:sp>
        <p:nvSpPr>
          <p:cNvPr id="6" name="Rounded Rectangle 5"/>
          <p:cNvSpPr/>
          <p:nvPr/>
        </p:nvSpPr>
        <p:spPr>
          <a:xfrm>
            <a:off x="4338218" y="1051560"/>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466234"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B: json-server</a:t>
            </a:r>
          </a:p>
        </p:txBody>
      </p:sp>
      <p:sp>
        <p:nvSpPr>
          <p:cNvPr id="8" name="TextBox 7"/>
          <p:cNvSpPr txBox="1"/>
          <p:nvPr/>
        </p:nvSpPr>
        <p:spPr>
          <a:xfrm>
            <a:off x="4466234"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npx json-server --watch programmes.json --port 3001 — pelayan tempatan segera, sesuai demo langsung.</a:t>
            </a:r>
          </a:p>
        </p:txBody>
      </p:sp>
      <p:sp>
        <p:nvSpPr>
          <p:cNvPr id="9" name="Rounded Rectangle 8"/>
          <p:cNvSpPr/>
          <p:nvPr/>
        </p:nvSpPr>
        <p:spPr>
          <a:xfrm>
            <a:off x="8036356" y="1051560"/>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164372"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C: mocki.io / mockapi.io</a:t>
            </a:r>
          </a:p>
        </p:txBody>
      </p:sp>
      <p:sp>
        <p:nvSpPr>
          <p:cNvPr id="11" name="TextBox 10"/>
          <p:cNvSpPr txBox="1"/>
          <p:nvPr/>
        </p:nvSpPr>
        <p:spPr>
          <a:xfrm>
            <a:off x="8164372"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Tampal JSON, dapat URL unik yang boleh dicapai dari mana-mana peranti.</a:t>
            </a:r>
          </a:p>
        </p:txBody>
      </p:sp>
      <p:sp>
        <p:nvSpPr>
          <p:cNvPr id="12" name="TextBox 11"/>
          <p:cNvSpPr txBox="1"/>
          <p:nvPr/>
        </p:nvSpPr>
        <p:spPr>
          <a:xfrm>
            <a:off x="640080" y="2221992"/>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Data sumber sudah sedia: projek/mock-api/programmes.json — 8 tawaran (Al-Azhar, Alexandria, Ain Shams, Tanta; Al Quaraouiyine, Mohammed V).</a:t>
            </a:r>
          </a:p>
        </p:txBody>
      </p:sp>
      <p:sp>
        <p:nvSpPr>
          <p:cNvPr id="13" name="TextBox 12"/>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Dua Perangkap Selepas Tukar _endpoint</a:t>
            </a:r>
          </a:p>
        </p:txBody>
      </p:sp>
      <p:sp>
        <p:nvSpPr>
          <p:cNvPr id="3" name="TextBox 2"/>
          <p:cNvSpPr txBox="1"/>
          <p:nvPr/>
        </p:nvSpPr>
        <p:spPr>
          <a:xfrm>
            <a:off x="804671" y="1051560"/>
            <a:ext cx="10746943" cy="448056"/>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Emulator Android localhost tidak menunjuk ke komputer anda — guna http://10.0.2.2:3001/programmes (alias khas emulator). Peranti fizikal: IP rangkaian komputer, WiFi sama.</a:t>
            </a:r>
          </a:p>
        </p:txBody>
      </p:sp>
      <p:sp>
        <p:nvSpPr>
          <p:cNvPr id="4" name="TextBox 3"/>
          <p:cNvSpPr txBox="1"/>
          <p:nvPr/>
        </p:nvSpPr>
        <p:spPr>
          <a:xfrm>
            <a:off x="804671" y="1499616"/>
            <a:ext cx="10746943" cy="448056"/>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Hot restart _endpoint ialah static const — tekan R besar (hot restart), bukan r kecil (hot reload), supaya main() dijalankan semula.</a:t>
            </a:r>
          </a:p>
        </p:txBody>
      </p:sp>
      <p:sp>
        <p:nvSpPr>
          <p:cNvPr id="5" name="Rounded Rectangle 4"/>
          <p:cNvSpPr/>
          <p:nvPr/>
        </p:nvSpPr>
        <p:spPr>
          <a:xfrm>
            <a:off x="640080" y="2020824"/>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0080" y="2020824"/>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093976"/>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Selepas restart, tarik-untuk-muat-semula dan sahkan data datang dari pelayan sebenar, bukan fallback tempatan.</a:t>
            </a:r>
          </a:p>
        </p:txBody>
      </p:sp>
      <p:sp>
        <p:nvSpPr>
          <p:cNvPr id="8" name="TextBox 7"/>
          <p:cNvSpPr txBox="1"/>
          <p:nvPr/>
        </p:nvSpPr>
        <p:spPr>
          <a:xfrm>
            <a:off x="640080" y="2551176"/>
            <a:ext cx="10911535" cy="292608"/>
          </a:xfrm>
          <a:prstGeom prst="rect">
            <a:avLst/>
          </a:prstGeom>
          <a:noFill/>
        </p:spPr>
        <p:txBody>
          <a:bodyPr wrap="square" anchor="t" lIns="38100" rIns="38100" tIns="25400" bIns="25400">
            <a:spAutoFit/>
          </a:bodyPr>
          <a:lstStyle/>
          <a:p>
            <a:pPr algn="l">
              <a:lnSpc>
                <a:spcPct val="105000"/>
              </a:lnSpc>
            </a:pPr>
            <a:r>
              <a:rPr sz="1200" b="1">
                <a:solidFill>
                  <a:srgbClr val="1A2B5C"/>
                </a:solidFill>
                <a:latin typeface="Segoe UI"/>
              </a:rPr>
              <a:t>[ Emulator Android ]   [ Hot restart ]</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Alur Penuh — Semua Kepingan Bersambung</a:t>
            </a:r>
          </a:p>
        </p:txBody>
      </p:sp>
      <p:sp>
        <p:nvSpPr>
          <p:cNvPr id="3" name="Rounded Rectangle 2"/>
          <p:cNvSpPr/>
          <p:nvPr/>
        </p:nvSpPr>
        <p:spPr>
          <a:xfrm>
            <a:off x="640080" y="1051560"/>
            <a:ext cx="10911535" cy="263804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455164"/>
          </a:xfrm>
          <a:prstGeom prst="rect">
            <a:avLst/>
          </a:prstGeom>
          <a:noFill/>
        </p:spPr>
        <p:txBody>
          <a:bodyPr wrap="none">
            <a:spAutoFit/>
          </a:bodyPr>
          <a:lstStyle/>
          <a:p>
            <a:pPr>
              <a:lnSpc>
                <a:spcPct val="100000"/>
              </a:lnSpc>
            </a:pPr>
            <a:r>
              <a:rPr sz="1100">
                <a:solidFill>
                  <a:srgbClr val="E6E8EE"/>
                </a:solidFill>
                <a:latin typeface="Consolas"/>
              </a:rPr>
              <a:t/>
            </a:r>
          </a:p>
          <a:p>
            <a:pPr>
              <a:lnSpc>
                <a:spcPct val="100000"/>
              </a:lnSpc>
            </a:pPr>
            <a:r>
              <a:rPr sz="1100">
                <a:solidFill>
                  <a:srgbClr val="E6E8EE"/>
                </a:solidFill>
                <a:latin typeface="Consolas"/>
              </a:rPr>
              <a:t>ProgrammeService.fetchProgrammes()</a:t>
            </a:r>
          </a:p>
          <a:p>
            <a:pPr>
              <a:lnSpc>
                <a:spcPct val="100000"/>
              </a:lnSpc>
            </a:pPr>
            <a:r>
              <a:rPr sz="1100">
                <a:solidFill>
                  <a:srgbClr val="E6E8EE"/>
                </a:solidFill>
                <a:latin typeface="Consolas"/>
              </a:rPr>
              <a:t>  ├─ http.get(_endpoint).timeout(8s)</a:t>
            </a:r>
          </a:p>
          <a:p>
            <a:pPr>
              <a:lnSpc>
                <a:spcPct val="100000"/>
              </a:lnSpc>
            </a:pPr>
            <a:r>
              <a:rPr sz="1100">
                <a:solidFill>
                  <a:srgbClr val="E6E8EE"/>
                </a:solidFill>
                <a:latin typeface="Consolas"/>
              </a:rPr>
              <a:t>  ├─ 200 OK → jsonDecode → List&lt;Programme&gt; (fromJson)</a:t>
            </a:r>
          </a:p>
          <a:p>
            <a:pPr>
              <a:lnSpc>
                <a:spcPct val="100000"/>
              </a:lnSpc>
            </a:pPr>
            <a:r>
              <a:rPr sz="1100">
                <a:solidFill>
                  <a:srgbClr val="E6E8EE"/>
                </a:solidFill>
                <a:latin typeface="Consolas"/>
              </a:rPr>
              <a:t>  └─ gagal/timeout → _fallback() → sampleProgrammes</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setState(_state = loading) → await fetch → setState(loaded/error)</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build() — switch (_state)</a:t>
            </a:r>
          </a:p>
          <a:p>
            <a:pPr>
              <a:lnSpc>
                <a:spcPct val="100000"/>
              </a:lnSpc>
            </a:pPr>
            <a:r>
              <a:rPr sz="1100">
                <a:solidFill>
                  <a:srgbClr val="E6E8EE"/>
                </a:solidFill>
                <a:latin typeface="Consolas"/>
              </a:rPr>
              <a:t>  ├─ loading/idle → CircularProgressIndicator</a:t>
            </a:r>
          </a:p>
          <a:p>
            <a:pPr>
              <a:lnSpc>
                <a:spcPct val="100000"/>
              </a:lnSpc>
            </a:pPr>
            <a:r>
              <a:rPr sz="1100">
                <a:solidFill>
                  <a:srgbClr val="E6E8EE"/>
                </a:solidFill>
                <a:latin typeface="Consolas"/>
              </a:rPr>
              <a:t>  ├─ error        → skrin ralat + Cuba Lagi (_load semula)</a:t>
            </a:r>
          </a:p>
          <a:p>
            <a:pPr>
              <a:lnSpc>
                <a:spcPct val="100000"/>
              </a:lnSpc>
            </a:pPr>
            <a:r>
              <a:rPr sz="1100">
                <a:solidFill>
                  <a:srgbClr val="E6E8EE"/>
                </a:solidFill>
                <a:latin typeface="Consolas"/>
              </a:rPr>
              <a:t>  └─ loaded       → RefreshIndicator → ListView.builder</a:t>
            </a:r>
          </a:p>
          <a:p>
            <a:pPr>
              <a:lnSpc>
                <a:spcPct val="100000"/>
              </a:lnSpc>
            </a:pPr>
            <a:r>
              <a:rPr sz="1100">
                <a:solidFill>
                  <a:srgbClr val="E6E8EE"/>
                </a:solidFill>
                <a:latin typeface="Consolas"/>
              </a:rPr>
              <a:t>  </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Rumusan Hari 4</a:t>
            </a:r>
          </a:p>
        </p:txBody>
      </p:sp>
      <p:sp>
        <p:nvSpPr>
          <p:cNvPr id="3" name="Rounded Rectangle 2"/>
          <p:cNvSpPr/>
          <p:nvPr/>
        </p:nvSpPr>
        <p:spPr>
          <a:xfrm>
            <a:off x="640080" y="1051560"/>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SESI 6</a:t>
            </a:r>
          </a:p>
        </p:txBody>
      </p:sp>
      <p:sp>
        <p:nvSpPr>
          <p:cNvPr id="5" name="TextBox 4"/>
          <p:cNvSpPr txBox="1"/>
          <p:nvPr/>
        </p:nvSpPr>
        <p:spPr>
          <a:xfrm>
            <a:off x="768096"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REST: backend vs frontend · HTTP methods &amp; JSON · pakej http · async/Future/await · fetch → fromJson · ProgrammeService + fallback</a:t>
            </a:r>
          </a:p>
        </p:txBody>
      </p:sp>
      <p:sp>
        <p:nvSpPr>
          <p:cNvPr id="6" name="Rounded Rectangle 5"/>
          <p:cNvSpPr/>
          <p:nvPr/>
        </p:nvSpPr>
        <p:spPr>
          <a:xfrm>
            <a:off x="4338218" y="1051560"/>
            <a:ext cx="3515258"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466234"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SESI 7</a:t>
            </a:r>
          </a:p>
        </p:txBody>
      </p:sp>
      <p:sp>
        <p:nvSpPr>
          <p:cNvPr id="8" name="TextBox 7"/>
          <p:cNvSpPr txBox="1"/>
          <p:nvPr/>
        </p:nvSpPr>
        <p:spPr>
          <a:xfrm>
            <a:off x="4466234"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JSON → model (dijana &amp; disahkan) · POST Application · status code &amp; beza dengan LAYAK/TIDAK LAYAK · LoadState + try-catch + retry · RefreshIndicator</a:t>
            </a:r>
          </a:p>
        </p:txBody>
      </p:sp>
      <p:sp>
        <p:nvSpPr>
          <p:cNvPr id="9" name="Rounded Rectangle 8"/>
          <p:cNvSpPr/>
          <p:nvPr/>
        </p:nvSpPr>
        <p:spPr>
          <a:xfrm>
            <a:off x="8036356" y="1051560"/>
            <a:ext cx="3515258" cy="932688"/>
          </a:xfrm>
          <a:prstGeom prst="roundRect">
            <a:avLst>
              <a:gd name="adj" fmla="val 10000"/>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164372"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FFFFFF"/>
                </a:solidFill>
                <a:latin typeface="Segoe UI"/>
              </a:rPr>
              <a:t>Esok — Hari 5</a:t>
            </a:r>
          </a:p>
        </p:txBody>
      </p:sp>
      <p:sp>
        <p:nvSpPr>
          <p:cNvPr id="11" name="TextBox 10"/>
          <p:cNvSpPr txBox="1"/>
          <p:nvPr/>
        </p:nvSpPr>
        <p:spPr>
          <a:xfrm>
            <a:off x="8164372"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FFFFFF"/>
                </a:solidFill>
                <a:latin typeface="Segoe UI"/>
              </a:rPr>
              <a:t>Projek mini/hackathon: gabung UI + Form + Navigasi + API, maksimumkan alatan AI, clean code &amp; refactoring, demo &amp; sijil</a:t>
            </a:r>
          </a:p>
        </p:txBody>
      </p:sp>
      <p:sp>
        <p:nvSpPr>
          <p:cNvPr id="12" name="TextBox 11"/>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1A2B5C"/>
        </a:solidFill>
        <a:effectLst/>
      </p:bgPr>
    </p:bg>
    <p:spTree>
      <p:nvGrpSpPr>
        <p:cNvPr id="1" name=""/>
        <p:cNvGrpSpPr/>
        <p:nvPr/>
      </p:nvGrpSpPr>
      <p:grpSpPr/>
      <p:sp>
        <p:nvSpPr>
          <p:cNvPr id="2" name="TextBox 1"/>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300" b="1">
                <a:solidFill>
                  <a:srgbClr val="D4A017"/>
                </a:solidFill>
                <a:latin typeface="Segoe UI"/>
              </a:rPr>
              <a:t>HARI 5 · SESI 8–9</a:t>
            </a:r>
          </a:p>
        </p:txBody>
      </p:sp>
      <p:sp>
        <p:nvSpPr>
          <p:cNvPr id="3" name="TextBox 2"/>
          <p:cNvSpPr txBox="1"/>
          <p:nvPr/>
        </p:nvSpPr>
        <p:spPr>
          <a:xfrm>
            <a:off x="640080" y="1554480"/>
            <a:ext cx="10911535" cy="1133856"/>
          </a:xfrm>
          <a:prstGeom prst="rect">
            <a:avLst/>
          </a:prstGeom>
          <a:noFill/>
        </p:spPr>
        <p:txBody>
          <a:bodyPr wrap="square" anchor="t" lIns="38100" rIns="38100" tIns="25400" bIns="25400">
            <a:spAutoFit/>
          </a:bodyPr>
          <a:lstStyle/>
          <a:p>
            <a:pPr algn="l">
              <a:lnSpc>
                <a:spcPct val="105000"/>
              </a:lnSpc>
            </a:pPr>
            <a:r>
              <a:rPr sz="3400" b="1">
                <a:solidFill>
                  <a:srgbClr val="FFFFFF"/>
                </a:solidFill>
                <a:latin typeface="Segoe UI"/>
              </a:rPr>
              <a:t>Projek Mini, Clean Code &amp; Refactoring</a:t>
            </a:r>
          </a:p>
        </p:txBody>
      </p:sp>
      <p:sp>
        <p:nvSpPr>
          <p:cNvPr id="4" name="TextBox 3"/>
          <p:cNvSpPr txBox="1"/>
          <p:nvPr/>
        </p:nvSpPr>
        <p:spPr>
          <a:xfrm>
            <a:off x="640080" y="2798063"/>
            <a:ext cx="10911535" cy="384048"/>
          </a:xfrm>
          <a:prstGeom prst="rect">
            <a:avLst/>
          </a:prstGeom>
          <a:noFill/>
        </p:spPr>
        <p:txBody>
          <a:bodyPr wrap="square" anchor="t" lIns="38100" rIns="38100" tIns="25400" bIns="25400">
            <a:spAutoFit/>
          </a:bodyPr>
          <a:lstStyle/>
          <a:p>
            <a:pPr algn="l">
              <a:lnSpc>
                <a:spcPct val="105000"/>
              </a:lnSpc>
            </a:pPr>
            <a:r>
              <a:rPr sz="1800" b="1">
                <a:solidFill>
                  <a:srgbClr val="D4A017"/>
                </a:solidFill>
                <a:latin typeface="Segoe UI"/>
              </a:rPr>
              <a:t>Hackathon eTT Mobile: UI + Form + Navigasi + API — kemudian gilap &amp; demo</a:t>
            </a:r>
          </a:p>
        </p:txBody>
      </p:sp>
      <p:sp>
        <p:nvSpPr>
          <p:cNvPr id="5" name="TextBox 4"/>
          <p:cNvSpPr txBox="1"/>
          <p:nvPr/>
        </p:nvSpPr>
        <p:spPr>
          <a:xfrm>
            <a:off x="731519" y="3255263"/>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Projek mini terbimbing (hackathon)</a:t>
            </a:r>
          </a:p>
        </p:txBody>
      </p:sp>
      <p:sp>
        <p:nvSpPr>
          <p:cNvPr id="6" name="TextBox 5"/>
          <p:cNvSpPr txBox="1"/>
          <p:nvPr/>
        </p:nvSpPr>
        <p:spPr>
          <a:xfrm>
            <a:off x="731519" y="3529583"/>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Clean Coding Principles dalam Flutter</a:t>
            </a:r>
          </a:p>
        </p:txBody>
      </p:sp>
      <p:sp>
        <p:nvSpPr>
          <p:cNvPr id="7" name="TextBox 6"/>
          <p:cNvSpPr txBox="1"/>
          <p:nvPr/>
        </p:nvSpPr>
        <p:spPr>
          <a:xfrm>
            <a:off x="731519" y="3803903"/>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Refactoring: widget besar → komponen kecil</a:t>
            </a:r>
          </a:p>
        </p:txBody>
      </p:sp>
      <p:sp>
        <p:nvSpPr>
          <p:cNvPr id="8" name="TextBox 7"/>
          <p:cNvSpPr txBox="1"/>
          <p:nvPr/>
        </p:nvSpPr>
        <p:spPr>
          <a:xfrm>
            <a:off x="731519" y="4078223"/>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Demo aplikasi &amp; penyampaian sijil</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Jadual Hari Ini — Rentak Berbeza</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3637178"/>
                <a:gridCol w="3637178"/>
                <a:gridCol w="3637179"/>
              </a:tblGrid>
              <a:tr h="274319">
                <a:tc>
                  <a:txBody>
                    <a:bodyPr/>
                    <a:lstStyle/>
                    <a:p>
                      <a:r>
                        <a:rPr sz="1100" b="1">
                          <a:solidFill>
                            <a:srgbClr val="FFFFFF"/>
                          </a:solidFill>
                          <a:latin typeface="Segoe UI"/>
                        </a:rPr>
                        <a:t>Masa</a:t>
                      </a:r>
                    </a:p>
                  </a:txBody>
                  <a:tcPr marL="63500" marR="63500" marT="25400" marB="25400">
                    <a:solidFill>
                      <a:srgbClr val="1A2B5C"/>
                    </a:solidFill>
                  </a:tcPr>
                </a:tc>
                <a:tc>
                  <a:txBody>
                    <a:bodyPr/>
                    <a:lstStyle/>
                    <a:p>
                      <a:r>
                        <a:rPr sz="1100" b="1">
                          <a:solidFill>
                            <a:srgbClr val="FFFFFF"/>
                          </a:solidFill>
                          <a:latin typeface="Segoe UI"/>
                        </a:rPr>
                        <a:t>Sesi</a:t>
                      </a:r>
                    </a:p>
                  </a:txBody>
                  <a:tcPr marL="63500" marR="63500" marT="25400" marB="25400">
                    <a:solidFill>
                      <a:srgbClr val="1A2B5C"/>
                    </a:solidFill>
                  </a:tcPr>
                </a:tc>
                <a:tc>
                  <a:txBody>
                    <a:bodyPr/>
                    <a:lstStyle/>
                    <a:p>
                      <a:r>
                        <a:rPr sz="1100" b="1">
                          <a:solidFill>
                            <a:srgbClr val="FFFFFF"/>
                          </a:solidFill>
                          <a:latin typeface="Segoe UI"/>
                        </a:rPr>
                        <a:t>Fokus</a:t>
                      </a:r>
                    </a:p>
                  </a:txBody>
                  <a:tcPr marL="63500" marR="63500" marT="25400" marB="25400">
                    <a:solidFill>
                      <a:srgbClr val="1A2B5C"/>
                    </a:solidFill>
                  </a:tcPr>
                </a:tc>
              </a:tr>
              <a:tr h="274319">
                <a:tc>
                  <a:txBody>
                    <a:bodyPr/>
                    <a:lstStyle/>
                    <a:p>
                      <a:r>
                        <a:rPr sz="1100" b="0">
                          <a:solidFill>
                            <a:srgbClr val="566371"/>
                          </a:solidFill>
                          <a:latin typeface="Segoe UI"/>
                        </a:rPr>
                        <a:t>8.30 – 9.00</a:t>
                      </a:r>
                    </a:p>
                  </a:txBody>
                  <a:tcPr marL="63500" marR="63500" marT="25400" marB="25400">
                    <a:solidFill>
                      <a:srgbClr val="FFFFFF"/>
                    </a:solidFill>
                  </a:tcPr>
                </a:tc>
                <a:tc>
                  <a:txBody>
                    <a:bodyPr/>
                    <a:lstStyle/>
                    <a:p>
                      <a:r>
                        <a:rPr sz="1100" b="0">
                          <a:solidFill>
                            <a:srgbClr val="566371"/>
                          </a:solidFill>
                          <a:latin typeface="Segoe UI"/>
                        </a:rPr>
                        <a:t>Pendaftaran &amp; Minum Pagi</a:t>
                      </a:r>
                    </a:p>
                  </a:txBody>
                  <a:tcPr marL="63500" marR="63500" marT="25400" marB="25400">
                    <a:solidFill>
                      <a:srgbClr val="FFFFFF"/>
                    </a:solidFill>
                  </a:tcPr>
                </a:tc>
                <a:tc>
                  <a:txBody>
                    <a:bodyPr/>
                    <a:lstStyle/>
                    <a:p>
                      <a:r>
                        <a:rPr sz="1100" b="0">
                          <a:solidFill>
                            <a:srgbClr val="566371"/>
                          </a:solidFill>
                          <a:latin typeface="Segoe UI"/>
                        </a:rPr>
                        <a:t>—</a:t>
                      </a:r>
                    </a:p>
                  </a:txBody>
                  <a:tcPr marL="63500" marR="63500" marT="25400" marB="25400">
                    <a:solidFill>
                      <a:srgbClr val="FFFFFF"/>
                    </a:solidFill>
                  </a:tcPr>
                </a:tc>
              </a:tr>
              <a:tr h="274319">
                <a:tc>
                  <a:txBody>
                    <a:bodyPr/>
                    <a:lstStyle/>
                    <a:p>
                      <a:r>
                        <a:rPr sz="1100" b="0">
                          <a:solidFill>
                            <a:srgbClr val="566371"/>
                          </a:solidFill>
                          <a:latin typeface="Segoe UI"/>
                        </a:rPr>
                        <a:t>9.00 – 12.15</a:t>
                      </a:r>
                    </a:p>
                  </a:txBody>
                  <a:tcPr marL="63500" marR="63500" marT="25400" marB="25400">
                    <a:solidFill>
                      <a:srgbClr val="FFFFFF"/>
                    </a:solidFill>
                  </a:tcPr>
                </a:tc>
                <a:tc>
                  <a:txBody>
                    <a:bodyPr/>
                    <a:lstStyle/>
                    <a:p>
                      <a:r>
                        <a:rPr sz="1100" b="0">
                          <a:solidFill>
                            <a:srgbClr val="566371"/>
                          </a:solidFill>
                          <a:latin typeface="Segoe UI"/>
                        </a:rPr>
                        <a:t>SESI 8</a:t>
                      </a:r>
                    </a:p>
                  </a:txBody>
                  <a:tcPr marL="63500" marR="63500" marT="25400" marB="25400">
                    <a:solidFill>
                      <a:srgbClr val="FFFFFF"/>
                    </a:solidFill>
                  </a:tcPr>
                </a:tc>
                <a:tc>
                  <a:txBody>
                    <a:bodyPr/>
                    <a:lstStyle/>
                    <a:p>
                      <a:r>
                        <a:rPr sz="1100" b="0">
                          <a:solidFill>
                            <a:srgbClr val="566371"/>
                          </a:solidFill>
                          <a:latin typeface="Segoe UI"/>
                        </a:rPr>
                        <a:t>Projek Mini Terbimbing (Bahagian 1) — hackathon</a:t>
                      </a:r>
                    </a:p>
                  </a:txBody>
                  <a:tcPr marL="63500" marR="63500" marT="25400" marB="25400">
                    <a:solidFill>
                      <a:srgbClr val="FFFFFF"/>
                    </a:solidFill>
                  </a:tcPr>
                </a:tc>
              </a:tr>
              <a:tr h="274319">
                <a:tc>
                  <a:txBody>
                    <a:bodyPr/>
                    <a:lstStyle/>
                    <a:p>
                      <a:r>
                        <a:rPr sz="1100" b="0">
                          <a:solidFill>
                            <a:srgbClr val="566371"/>
                          </a:solidFill>
                          <a:latin typeface="Segoe UI"/>
                        </a:rPr>
                        <a:t>1.00 – 2.45</a:t>
                      </a:r>
                    </a:p>
                  </a:txBody>
                  <a:tcPr marL="63500" marR="63500" marT="25400" marB="25400">
                    <a:solidFill>
                      <a:srgbClr val="FFFFFF"/>
                    </a:solidFill>
                  </a:tcPr>
                </a:tc>
                <a:tc>
                  <a:txBody>
                    <a:bodyPr/>
                    <a:lstStyle/>
                    <a:p>
                      <a:r>
                        <a:rPr sz="1100" b="0">
                          <a:solidFill>
                            <a:srgbClr val="566371"/>
                          </a:solidFill>
                          <a:latin typeface="Segoe UI"/>
                        </a:rPr>
                        <a:t>Rehat &amp; Makan Tengah Hari</a:t>
                      </a:r>
                    </a:p>
                  </a:txBody>
                  <a:tcPr marL="63500" marR="63500" marT="25400" marB="25400">
                    <a:solidFill>
                      <a:srgbClr val="FFFFFF"/>
                    </a:solidFill>
                  </a:tcPr>
                </a:tc>
                <a:tc>
                  <a:txBody>
                    <a:bodyPr/>
                    <a:lstStyle/>
                    <a:p>
                      <a:r>
                        <a:rPr sz="1100" b="0">
                          <a:solidFill>
                            <a:srgbClr val="566371"/>
                          </a:solidFill>
                          <a:latin typeface="Segoe UI"/>
                        </a:rPr>
                        <a:t>Lebih lewat berbanding hari lain</a:t>
                      </a:r>
                    </a:p>
                  </a:txBody>
                  <a:tcPr marL="63500" marR="63500" marT="25400" marB="25400">
                    <a:solidFill>
                      <a:srgbClr val="FFFFFF"/>
                    </a:solidFill>
                  </a:tcPr>
                </a:tc>
              </a:tr>
              <a:tr h="274319">
                <a:tc>
                  <a:txBody>
                    <a:bodyPr/>
                    <a:lstStyle/>
                    <a:p>
                      <a:r>
                        <a:rPr sz="1100" b="0">
                          <a:solidFill>
                            <a:srgbClr val="566371"/>
                          </a:solidFill>
                          <a:latin typeface="Segoe UI"/>
                        </a:rPr>
                        <a:t>2.45 – 5.00</a:t>
                      </a:r>
                    </a:p>
                  </a:txBody>
                  <a:tcPr marL="63500" marR="63500" marT="25400" marB="25400">
                    <a:solidFill>
                      <a:srgbClr val="FFFFFF"/>
                    </a:solidFill>
                  </a:tcPr>
                </a:tc>
                <a:tc>
                  <a:txBody>
                    <a:bodyPr/>
                    <a:lstStyle/>
                    <a:p>
                      <a:r>
                        <a:rPr sz="1100" b="0">
                          <a:solidFill>
                            <a:srgbClr val="566371"/>
                          </a:solidFill>
                          <a:latin typeface="Segoe UI"/>
                        </a:rPr>
                        <a:t>SESI 9</a:t>
                      </a:r>
                    </a:p>
                  </a:txBody>
                  <a:tcPr marL="63500" marR="63500" marT="25400" marB="25400">
                    <a:solidFill>
                      <a:srgbClr val="FFFFFF"/>
                    </a:solidFill>
                  </a:tcPr>
                </a:tc>
                <a:tc>
                  <a:txBody>
                    <a:bodyPr/>
                    <a:lstStyle/>
                    <a:p>
                      <a:r>
                        <a:rPr sz="1100" b="0">
                          <a:solidFill>
                            <a:srgbClr val="566371"/>
                          </a:solidFill>
                          <a:latin typeface="Segoe UI"/>
                        </a:rPr>
                        <a:t>Siapkan projek + Clean Code + Refactoring + Demo + Sijil</a:t>
                      </a:r>
                    </a:p>
                  </a:txBody>
                  <a:tcPr marL="63500" marR="63500" marT="25400" marB="25400">
                    <a:solidFill>
                      <a:srgbClr val="FFFFFF"/>
                    </a:solidFill>
                  </a:tcPr>
                </a:tc>
              </a:tr>
              <a:tr h="274324">
                <a:tc>
                  <a:txBody>
                    <a:bodyPr/>
                    <a:lstStyle/>
                    <a:p>
                      <a:r>
                        <a:rPr sz="1100" b="0">
                          <a:solidFill>
                            <a:srgbClr val="566371"/>
                          </a:solidFill>
                          <a:latin typeface="Segoe UI"/>
                        </a:rPr>
                        <a:t>5.00</a:t>
                      </a:r>
                    </a:p>
                  </a:txBody>
                  <a:tcPr marL="63500" marR="63500" marT="25400" marB="25400">
                    <a:solidFill>
                      <a:srgbClr val="FFFFFF"/>
                    </a:solidFill>
                  </a:tcPr>
                </a:tc>
                <a:tc>
                  <a:txBody>
                    <a:bodyPr/>
                    <a:lstStyle/>
                    <a:p>
                      <a:r>
                        <a:rPr sz="1100" b="0">
                          <a:solidFill>
                            <a:srgbClr val="566371"/>
                          </a:solidFill>
                          <a:latin typeface="Segoe UI"/>
                        </a:rPr>
                        <a:t>Bersurai</a:t>
                      </a:r>
                    </a:p>
                  </a:txBody>
                  <a:tcPr marL="63500" marR="63500" marT="25400" marB="25400">
                    <a:solidFill>
                      <a:srgbClr val="FFFFFF"/>
                    </a:solidFill>
                  </a:tcPr>
                </a:tc>
                <a:tc>
                  <a:txBody>
                    <a:bodyPr/>
                    <a:lstStyle/>
                    <a:p>
                      <a:r>
                        <a:rPr sz="1100" b="0">
                          <a:solidFill>
                            <a:srgbClr val="566371"/>
                          </a:solidFill>
                          <a:latin typeface="Segoe UI"/>
                        </a:rPr>
                        <a:t>Tamat kursus 🎓</a:t>
                      </a:r>
                    </a:p>
                  </a:txBody>
                  <a:tcPr marL="63500" marR="63500" marT="25400" marB="25400">
                    <a:solidFill>
                      <a:srgbClr val="FFFFFF"/>
                    </a:solidFill>
                  </a:tcPr>
                </a:tc>
              </a:tr>
            </a:tbl>
          </a:graphicData>
        </a:graphic>
      </p:graphicFrame>
      <p:sp>
        <p:nvSpPr>
          <p:cNvPr id="4" name="Rounded Rectangle 3"/>
          <p:cNvSpPr/>
          <p:nvPr/>
        </p:nvSpPr>
        <p:spPr>
          <a:xfrm>
            <a:off x="640080" y="2825496"/>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40080" y="2825496"/>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898648"/>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Perhatikan: sesi pagi lebih panjang (hingga 12.15), rehat bermula 1.00 dan sesi petang bermula 2.45.</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Imbas Kembali: Apa Anda Sudah Boleh Buat</a:t>
            </a:r>
          </a:p>
        </p:txBody>
      </p:sp>
      <p:graphicFrame>
        <p:nvGraphicFramePr>
          <p:cNvPr id="3" name="Table 2"/>
          <p:cNvGraphicFramePr>
            <a:graphicFrameLocks noGrp="1"/>
          </p:cNvGraphicFramePr>
          <p:nvPr/>
        </p:nvGraphicFramePr>
        <p:xfrm>
          <a:off x="640080" y="1051560"/>
          <a:ext cx="10911535" cy="1371600"/>
        </p:xfrm>
        <a:graphic>
          <a:graphicData uri="http://schemas.openxmlformats.org/drawingml/2006/table">
            <a:tbl>
              <a:tblPr firstRow="1" bandRow="1">
                <a:tableStyleId>{5C22544A-7EE6-4342-B048-85BDC9FD1C3A}</a:tableStyleId>
              </a:tblPr>
              <a:tblGrid>
                <a:gridCol w="5455767"/>
                <a:gridCol w="5455768"/>
              </a:tblGrid>
              <a:tr h="274320">
                <a:tc>
                  <a:txBody>
                    <a:bodyPr/>
                    <a:lstStyle/>
                    <a:p>
                      <a:r>
                        <a:rPr sz="1100" b="1">
                          <a:solidFill>
                            <a:srgbClr val="FFFFFF"/>
                          </a:solidFill>
                          <a:latin typeface="Segoe UI"/>
                        </a:rPr>
                        <a:t>Hari</a:t>
                      </a:r>
                    </a:p>
                  </a:txBody>
                  <a:tcPr marL="63500" marR="63500" marT="25400" marB="25400">
                    <a:solidFill>
                      <a:srgbClr val="1A2B5C"/>
                    </a:solidFill>
                  </a:tcPr>
                </a:tc>
                <a:tc>
                  <a:txBody>
                    <a:bodyPr/>
                    <a:lstStyle/>
                    <a:p>
                      <a:r>
                        <a:rPr sz="1100" b="1">
                          <a:solidFill>
                            <a:srgbClr val="FFFFFF"/>
                          </a:solidFill>
                          <a:latin typeface="Segoe UI"/>
                        </a:rPr>
                        <a:t>Kemahiran</a:t>
                      </a:r>
                    </a:p>
                  </a:txBody>
                  <a:tcPr marL="63500" marR="63500" marT="25400" marB="25400">
                    <a:solidFill>
                      <a:srgbClr val="1A2B5C"/>
                    </a:solidFill>
                  </a:tcPr>
                </a:tc>
              </a:tr>
              <a:tr h="274320">
                <a:tc>
                  <a:txBody>
                    <a:bodyPr/>
                    <a:lstStyle/>
                    <a:p>
                      <a:r>
                        <a:rPr sz="1100" b="0">
                          <a:solidFill>
                            <a:srgbClr val="566371"/>
                          </a:solidFill>
                          <a:latin typeface="Segoe UI"/>
                        </a:rPr>
                        <a:t>Hari 1</a:t>
                      </a:r>
                    </a:p>
                  </a:txBody>
                  <a:tcPr marL="63500" marR="63500" marT="25400" marB="25400">
                    <a:solidFill>
                      <a:srgbClr val="FFFFFF"/>
                    </a:solidFill>
                  </a:tcPr>
                </a:tc>
                <a:tc>
                  <a:txBody>
                    <a:bodyPr/>
                    <a:lstStyle/>
                    <a:p>
                      <a:r>
                        <a:rPr sz="1100" b="0">
                          <a:solidFill>
                            <a:srgbClr val="566371"/>
                          </a:solidFill>
                          <a:latin typeface="Segoe UI"/>
                        </a:rPr>
                        <a:t>Dart asas (operator, if/else, for/while, function); widget asas; StatelessWidget vs StatefulWidget</a:t>
                      </a:r>
                    </a:p>
                  </a:txBody>
                  <a:tcPr marL="63500" marR="63500" marT="25400" marB="25400">
                    <a:solidFill>
                      <a:srgbClr val="FFFFFF"/>
                    </a:solidFill>
                  </a:tcPr>
                </a:tc>
              </a:tr>
              <a:tr h="274320">
                <a:tc>
                  <a:txBody>
                    <a:bodyPr/>
                    <a:lstStyle/>
                    <a:p>
                      <a:r>
                        <a:rPr sz="1100" b="0">
                          <a:solidFill>
                            <a:srgbClr val="566371"/>
                          </a:solidFill>
                          <a:latin typeface="Segoe UI"/>
                        </a:rPr>
                        <a:t>Hari 2</a:t>
                      </a:r>
                    </a:p>
                  </a:txBody>
                  <a:tcPr marL="63500" marR="63500" marT="25400" marB="25400">
                    <a:solidFill>
                      <a:srgbClr val="FFFFFF"/>
                    </a:solidFill>
                  </a:tcPr>
                </a:tc>
                <a:tc>
                  <a:txBody>
                    <a:bodyPr/>
                    <a:lstStyle/>
                    <a:p>
                      <a:r>
                        <a:rPr sz="1100" b="0">
                          <a:solidFill>
                            <a:srgbClr val="566371"/>
                          </a:solidFill>
                          <a:latin typeface="Segoe UI"/>
                        </a:rPr>
                        <a:t>Layout (Row/Column/Expanded/Stack); Scaffold/AppBar; ListView.builder; Card/ListTile; ThemeData</a:t>
                      </a:r>
                    </a:p>
                  </a:txBody>
                  <a:tcPr marL="63500" marR="63500" marT="25400" marB="25400">
                    <a:solidFill>
                      <a:srgbClr val="FFFFFF"/>
                    </a:solidFill>
                  </a:tcPr>
                </a:tc>
              </a:tr>
              <a:tr h="274320">
                <a:tc>
                  <a:txBody>
                    <a:bodyPr/>
                    <a:lstStyle/>
                    <a:p>
                      <a:r>
                        <a:rPr sz="1100" b="0">
                          <a:solidFill>
                            <a:srgbClr val="566371"/>
                          </a:solidFill>
                          <a:latin typeface="Segoe UI"/>
                        </a:rPr>
                        <a:t>Hari 3</a:t>
                      </a:r>
                    </a:p>
                  </a:txBody>
                  <a:tcPr marL="63500" marR="63500" marT="25400" marB="25400">
                    <a:solidFill>
                      <a:srgbClr val="FFFFFF"/>
                    </a:solidFill>
                  </a:tcPr>
                </a:tc>
                <a:tc>
                  <a:txBody>
                    <a:bodyPr/>
                    <a:lstStyle/>
                    <a:p>
                      <a:r>
                        <a:rPr sz="1100" b="0">
                          <a:solidFill>
                            <a:srgbClr val="566371"/>
                          </a:solidFill>
                          <a:latin typeface="Segoe UI"/>
                        </a:rPr>
                        <a:t>Navigator.push/pop; hantar data antara skrin; Form/TextFormField; setState()</a:t>
                      </a:r>
                    </a:p>
                  </a:txBody>
                  <a:tcPr marL="63500" marR="63500" marT="25400" marB="25400">
                    <a:solidFill>
                      <a:srgbClr val="FFFFFF"/>
                    </a:solidFill>
                  </a:tcPr>
                </a:tc>
              </a:tr>
              <a:tr h="274320">
                <a:tc>
                  <a:txBody>
                    <a:bodyPr/>
                    <a:lstStyle/>
                    <a:p>
                      <a:r>
                        <a:rPr sz="1100" b="0">
                          <a:solidFill>
                            <a:srgbClr val="566371"/>
                          </a:solidFill>
                          <a:latin typeface="Segoe UI"/>
                        </a:rPr>
                        <a:t>Hari 4</a:t>
                      </a:r>
                    </a:p>
                  </a:txBody>
                  <a:tcPr marL="63500" marR="63500" marT="25400" marB="25400">
                    <a:solidFill>
                      <a:srgbClr val="FFFFFF"/>
                    </a:solidFill>
                  </a:tcPr>
                </a:tc>
                <a:tc>
                  <a:txBody>
                    <a:bodyPr/>
                    <a:lstStyle/>
                    <a:p>
                      <a:r>
                        <a:rPr sz="1100" b="0">
                          <a:solidFill>
                            <a:srgbClr val="566371"/>
                          </a:solidFill>
                          <a:latin typeface="Segoe UI"/>
                        </a:rPr>
                        <a:t>REST API (http); async/Future/await; fetch &amp; submit; try-catch &amp; loading</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246888"/>
          </a:xfrm>
          <a:prstGeom prst="rect">
            <a:avLst/>
          </a:prstGeom>
          <a:noFill/>
        </p:spPr>
        <p:txBody>
          <a:bodyPr wrap="square" anchor="t" lIns="38100" rIns="38100" tIns="25400" bIns="25400">
            <a:spAutoFit/>
          </a:bodyPr>
          <a:lstStyle/>
          <a:p>
            <a:pPr algn="l">
              <a:lnSpc>
                <a:spcPct val="105000"/>
              </a:lnSpc>
            </a:pPr>
            <a:r>
              <a:rPr sz="1700" b="1">
                <a:solidFill>
                  <a:srgbClr val="1A1A2E"/>
                </a:solidFill>
                <a:latin typeface="Segoe UI"/>
              </a:rPr>
              <a:t>Hari ini bukan topik baharu — hari ini anda gabungkan semuanya.</a:t>
            </a:r>
          </a:p>
        </p:txBody>
      </p:sp>
      <p:sp>
        <p:nvSpPr>
          <p:cNvPr id="3" name="TextBox 2"/>
          <p:cNvSpPr txBox="1"/>
          <p:nvPr/>
        </p:nvSpPr>
        <p:spPr>
          <a:xfrm>
            <a:off x="640080" y="822960"/>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UI + Form + Navigasi + API → satu aplikasi berfungsi, dibina di bawah tekanan masa. Itulah "projek mini".</a:t>
            </a:r>
          </a:p>
        </p:txBody>
      </p:sp>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Brif Projek</a:t>
            </a:r>
          </a:p>
        </p:txBody>
      </p:sp>
      <p:sp>
        <p:nvSpPr>
          <p:cNvPr id="3" name="Rounded Rectangle 2"/>
          <p:cNvSpPr/>
          <p:nvPr/>
        </p:nvSpPr>
        <p:spPr>
          <a:xfrm>
            <a:off x="640080" y="1051560"/>
            <a:ext cx="10911535" cy="658368"/>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40080" y="1051560"/>
            <a:ext cx="54864" cy="65836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124712"/>
            <a:ext cx="10600639" cy="512063"/>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Anda pembangun junior di syarikat teknologi pendidikan. Klien (BPPT, KPT) mahu prototaip berfungsi aplikasi permohonan eTT — siap dalam satu pagi.</a:t>
            </a:r>
          </a:p>
        </p:txBody>
      </p:sp>
      <p:sp>
        <p:nvSpPr>
          <p:cNvPr id="6" name="TextBox 5"/>
          <p:cNvSpPr txBox="1"/>
          <p:nvPr/>
        </p:nvSpPr>
        <p:spPr>
          <a:xfrm>
            <a:off x="804671" y="181965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Tidak perlu cantik — perlu BERFUNGSI</a:t>
            </a:r>
          </a:p>
        </p:txBody>
      </p:sp>
      <p:sp>
        <p:nvSpPr>
          <p:cNvPr id="7" name="TextBox 6"/>
          <p:cNvSpPr txBox="1"/>
          <p:nvPr/>
        </p:nvSpPr>
        <p:spPr>
          <a:xfrm>
            <a:off x="804671" y="204368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Pengguna boleh: lihat senarai tawaran → buka butiran → isi &amp; hantar borang → lihat "Permohonan Saya"</a:t>
            </a:r>
          </a:p>
        </p:txBody>
      </p:sp>
      <p:sp>
        <p:nvSpPr>
          <p:cNvPr id="8" name="TextBox 7"/>
          <p:cNvSpPr txBox="1"/>
          <p:nvPr/>
        </p:nvSpPr>
        <p:spPr>
          <a:xfrm>
            <a:off x="804671" y="226771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Masa terhad, keutamaan jelas — corak hackathon sebenar</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Skop MVP — 4 Skrin Sahaja</a:t>
            </a:r>
          </a:p>
        </p:txBody>
      </p:sp>
      <p:sp>
        <p:nvSpPr>
          <p:cNvPr id="3" name="Rounded Rectangle 2"/>
          <p:cNvSpPr/>
          <p:nvPr/>
        </p:nvSpPr>
        <p:spPr>
          <a:xfrm>
            <a:off x="640080" y="1051560"/>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1 · Senarai Tawaran</a:t>
            </a:r>
          </a:p>
        </p:txBody>
      </p:sp>
      <p:sp>
        <p:nvSpPr>
          <p:cNvPr id="5" name="TextBox 4"/>
          <p:cNvSpPr txBox="1"/>
          <p:nvPr/>
        </p:nvSpPr>
        <p:spPr>
          <a:xfrm>
            <a:off x="768096" y="1435608"/>
            <a:ext cx="5108295"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ListView.builder + ProgrammeCard, data dari ProgrammeService, loading indicator</a:t>
            </a:r>
          </a:p>
        </p:txBody>
      </p:sp>
      <p:sp>
        <p:nvSpPr>
          <p:cNvPr id="6" name="Rounded Rectangle 5"/>
          <p:cNvSpPr/>
          <p:nvPr/>
        </p:nvSpPr>
        <p:spPr>
          <a:xfrm>
            <a:off x="6187287" y="1051560"/>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315303" y="1143000"/>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2 · Skrin Butiran</a:t>
            </a:r>
          </a:p>
        </p:txBody>
      </p:sp>
      <p:sp>
        <p:nvSpPr>
          <p:cNvPr id="8" name="TextBox 7"/>
          <p:cNvSpPr txBox="1"/>
          <p:nvPr/>
        </p:nvSpPr>
        <p:spPr>
          <a:xfrm>
            <a:off x="6315303" y="1435608"/>
            <a:ext cx="5108295"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Navigator.push dari kad → maklumat penuh + butang "Mohon Sekarang"</a:t>
            </a:r>
          </a:p>
        </p:txBody>
      </p:sp>
      <p:sp>
        <p:nvSpPr>
          <p:cNvPr id="9" name="Rounded Rectangle 8"/>
          <p:cNvSpPr/>
          <p:nvPr/>
        </p:nvSpPr>
        <p:spPr>
          <a:xfrm>
            <a:off x="640080" y="2167128"/>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2258568"/>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3 · Borang Permohonan</a:t>
            </a:r>
          </a:p>
        </p:txBody>
      </p:sp>
      <p:sp>
        <p:nvSpPr>
          <p:cNvPr id="11" name="TextBox 10"/>
          <p:cNvSpPr txBox="1"/>
          <p:nvPr/>
        </p:nvSpPr>
        <p:spPr>
          <a:xfrm>
            <a:off x="768096" y="2551176"/>
            <a:ext cx="5108295"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Form + TextFormField + validator setiap medan</a:t>
            </a:r>
          </a:p>
        </p:txBody>
      </p:sp>
      <p:sp>
        <p:nvSpPr>
          <p:cNvPr id="12" name="Rounded Rectangle 11"/>
          <p:cNvSpPr/>
          <p:nvPr/>
        </p:nvSpPr>
        <p:spPr>
          <a:xfrm>
            <a:off x="6187287" y="2167128"/>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15303" y="2258568"/>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4 · Permohonan Saya</a:t>
            </a:r>
          </a:p>
        </p:txBody>
      </p:sp>
      <p:sp>
        <p:nvSpPr>
          <p:cNvPr id="14" name="TextBox 13"/>
          <p:cNvSpPr txBox="1"/>
          <p:nvPr/>
        </p:nvSpPr>
        <p:spPr>
          <a:xfrm>
            <a:off x="6315303" y="2551176"/>
            <a:ext cx="5108295"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Senarai permohonan dihantar + cip status berwarna</a:t>
            </a:r>
          </a:p>
        </p:txBody>
      </p:sp>
      <p:sp>
        <p:nvSpPr>
          <p:cNvPr id="15" name="Rounded Rectangle 14"/>
          <p:cNvSpPr/>
          <p:nvPr/>
        </p:nvSpPr>
        <p:spPr>
          <a:xfrm>
            <a:off x="640080" y="3337560"/>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40080" y="3337560"/>
            <a:ext cx="54864" cy="4206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3410712"/>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Jangan tergoda menambah ciri lain sebelum keempat-empat ini siap.</a:t>
            </a:r>
          </a:p>
        </p:txBody>
      </p:sp>
      <p:sp>
        <p:nvSpPr>
          <p:cNvPr id="18" name="TextBox 1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Disediakan vs Anda Bina</a:t>
            </a:r>
          </a:p>
        </p:txBody>
      </p:sp>
      <p:graphicFrame>
        <p:nvGraphicFramePr>
          <p:cNvPr id="3" name="Table 2"/>
          <p:cNvGraphicFramePr>
            <a:graphicFrameLocks noGrp="1"/>
          </p:cNvGraphicFramePr>
          <p:nvPr/>
        </p:nvGraphicFramePr>
        <p:xfrm>
          <a:off x="640080" y="1051560"/>
          <a:ext cx="10911535" cy="1371600"/>
        </p:xfrm>
        <a:graphic>
          <a:graphicData uri="http://schemas.openxmlformats.org/drawingml/2006/table">
            <a:tbl>
              <a:tblPr firstRow="1" bandRow="1">
                <a:tableStyleId>{5C22544A-7EE6-4342-B048-85BDC9FD1C3A}</a:tableStyleId>
              </a:tblPr>
              <a:tblGrid>
                <a:gridCol w="5455767"/>
                <a:gridCol w="5455768"/>
              </a:tblGrid>
              <a:tr h="274320">
                <a:tc>
                  <a:txBody>
                    <a:bodyPr/>
                    <a:lstStyle/>
                    <a:p>
                      <a:r>
                        <a:rPr sz="1100" b="1">
                          <a:solidFill>
                            <a:srgbClr val="FFFFFF"/>
                          </a:solidFill>
                          <a:latin typeface="Segoe UI"/>
                        </a:rPr>
                        <a:t>Sudah disediakan (salin/guna terus)</a:t>
                      </a:r>
                    </a:p>
                  </a:txBody>
                  <a:tcPr marL="63500" marR="63500" marT="25400" marB="25400">
                    <a:solidFill>
                      <a:srgbClr val="1A2B5C"/>
                    </a:solidFill>
                  </a:tcPr>
                </a:tc>
                <a:tc>
                  <a:txBody>
                    <a:bodyPr/>
                    <a:lstStyle/>
                    <a:p>
                      <a:r>
                        <a:rPr sz="1100" b="1">
                          <a:solidFill>
                            <a:srgbClr val="FFFFFF"/>
                          </a:solidFill>
                          <a:latin typeface="Segoe UI"/>
                        </a:rPr>
                        <a:t>Anda bina hari ini</a:t>
                      </a:r>
                    </a:p>
                  </a:txBody>
                  <a:tcPr marL="63500" marR="63500" marT="25400" marB="25400">
                    <a:solidFill>
                      <a:srgbClr val="1A2B5C"/>
                    </a:solidFill>
                  </a:tcPr>
                </a:tc>
              </a:tr>
              <a:tr h="274320">
                <a:tc>
                  <a:txBody>
                    <a:bodyPr/>
                    <a:lstStyle/>
                    <a:p>
                      <a:r>
                        <a:rPr sz="1100" b="0">
                          <a:solidFill>
                            <a:srgbClr val="566371"/>
                          </a:solidFill>
                          <a:latin typeface="Segoe UI"/>
                        </a:rPr>
                        <a:t>models/programme.dart, models/application.dart</a:t>
                      </a:r>
                    </a:p>
                  </a:txBody>
                  <a:tcPr marL="63500" marR="63500" marT="25400" marB="25400">
                    <a:solidFill>
                      <a:srgbClr val="FFFFFF"/>
                    </a:solidFill>
                  </a:tcPr>
                </a:tc>
                <a:tc>
                  <a:txBody>
                    <a:bodyPr/>
                    <a:lstStyle/>
                    <a:p>
                      <a:r>
                        <a:rPr sz="1100" b="0">
                          <a:solidFill>
                            <a:srgbClr val="566371"/>
                          </a:solidFill>
                          <a:latin typeface="Segoe UI"/>
                        </a:rPr>
                        <a:t>programme_list_screen.dart (StatefulWidget + setState)</a:t>
                      </a:r>
                    </a:p>
                  </a:txBody>
                  <a:tcPr marL="63500" marR="63500" marT="25400" marB="25400">
                    <a:solidFill>
                      <a:srgbClr val="FFFFFF"/>
                    </a:solidFill>
                  </a:tcPr>
                </a:tc>
              </a:tr>
              <a:tr h="274320">
                <a:tc>
                  <a:txBody>
                    <a:bodyPr/>
                    <a:lstStyle/>
                    <a:p>
                      <a:r>
                        <a:rPr sz="1100" b="0">
                          <a:solidFill>
                            <a:srgbClr val="566371"/>
                          </a:solidFill>
                          <a:latin typeface="Segoe UI"/>
                        </a:rPr>
                        <a:t>data/sample_programmes.dart, data/document_checklist.dart</a:t>
                      </a:r>
                    </a:p>
                  </a:txBody>
                  <a:tcPr marL="63500" marR="63500" marT="25400" marB="25400">
                    <a:solidFill>
                      <a:srgbClr val="FFFFFF"/>
                    </a:solidFill>
                  </a:tcPr>
                </a:tc>
                <a:tc>
                  <a:txBody>
                    <a:bodyPr/>
                    <a:lstStyle/>
                    <a:p>
                      <a:r>
                        <a:rPr sz="1100" b="0">
                          <a:solidFill>
                            <a:srgbClr val="566371"/>
                          </a:solidFill>
                          <a:latin typeface="Segoe UI"/>
                        </a:rPr>
                        <a:t>programme_detail_screen.dart</a:t>
                      </a:r>
                    </a:p>
                  </a:txBody>
                  <a:tcPr marL="63500" marR="63500" marT="25400" marB="25400">
                    <a:solidFill>
                      <a:srgbClr val="FFFFFF"/>
                    </a:solidFill>
                  </a:tcPr>
                </a:tc>
              </a:tr>
              <a:tr h="274320">
                <a:tc>
                  <a:txBody>
                    <a:bodyPr/>
                    <a:lstStyle/>
                    <a:p>
                      <a:r>
                        <a:rPr sz="1100" b="0">
                          <a:solidFill>
                            <a:srgbClr val="566371"/>
                          </a:solidFill>
                          <a:latin typeface="Segoe UI"/>
                        </a:rPr>
                        <a:t>services/programme_service.dart (fetch API + fallback)</a:t>
                      </a:r>
                    </a:p>
                  </a:txBody>
                  <a:tcPr marL="63500" marR="63500" marT="25400" marB="25400">
                    <a:solidFill>
                      <a:srgbClr val="FFFFFF"/>
                    </a:solidFill>
                  </a:tcPr>
                </a:tc>
                <a:tc>
                  <a:txBody>
                    <a:bodyPr/>
                    <a:lstStyle/>
                    <a:p>
                      <a:r>
                        <a:rPr sz="1100" b="0">
                          <a:solidFill>
                            <a:srgbClr val="566371"/>
                          </a:solidFill>
                          <a:latin typeface="Segoe UI"/>
                        </a:rPr>
                        <a:t>application_form_screen.dart (Form + validation)</a:t>
                      </a:r>
                    </a:p>
                  </a:txBody>
                  <a:tcPr marL="63500" marR="63500" marT="25400" marB="25400">
                    <a:solidFill>
                      <a:srgbClr val="FFFFFF"/>
                    </a:solidFill>
                  </a:tcPr>
                </a:tc>
              </a:tr>
              <a:tr h="274320">
                <a:tc>
                  <a:txBody>
                    <a:bodyPr/>
                    <a:lstStyle/>
                    <a:p>
                      <a:r>
                        <a:rPr sz="1100" b="0">
                          <a:solidFill>
                            <a:srgbClr val="566371"/>
                          </a:solidFill>
                          <a:latin typeface="Segoe UI"/>
                        </a:rPr>
                        <a:t>—</a:t>
                      </a:r>
                    </a:p>
                  </a:txBody>
                  <a:tcPr marL="63500" marR="63500" marT="25400" marB="25400">
                    <a:solidFill>
                      <a:srgbClr val="FFFFFF"/>
                    </a:solidFill>
                  </a:tcPr>
                </a:tc>
                <a:tc>
                  <a:txBody>
                    <a:bodyPr/>
                    <a:lstStyle/>
                    <a:p>
                      <a:r>
                        <a:rPr sz="1100" b="0">
                          <a:solidFill>
                            <a:srgbClr val="566371"/>
                          </a:solidFill>
                          <a:latin typeface="Segoe UI"/>
                        </a:rPr>
                        <a:t>my_applications_screen.dart (senarai + setState)</a:t>
                      </a:r>
                    </a:p>
                  </a:txBody>
                  <a:tcPr marL="63500" marR="63500" marT="25400" marB="25400">
                    <a:solidFill>
                      <a:srgbClr val="FFFFFF"/>
                    </a:solidFill>
                  </a:tcPr>
                </a:tc>
              </a:tr>
            </a:tbl>
          </a:graphicData>
        </a:graphic>
      </p:graphicFrame>
      <p:sp>
        <p:nvSpPr>
          <p:cNvPr id="4" name="TextBox 3"/>
          <p:cNvSpPr txBox="1"/>
          <p:nvPr/>
        </p:nvSpPr>
        <p:spPr>
          <a:xfrm>
            <a:off x="640080" y="2551176"/>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Tumpuan hari ini: skrin &amp; navigasi — bukan menaip semula struktur data.</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Struktur Data Ringkas</a:t>
            </a:r>
          </a:p>
        </p:txBody>
      </p:sp>
      <p:sp>
        <p:nvSpPr>
          <p:cNvPr id="3" name="Rounded Rectangle 2"/>
          <p:cNvSpPr/>
          <p:nvPr/>
        </p:nvSpPr>
        <p:spPr>
          <a:xfrm>
            <a:off x="640080" y="1051560"/>
            <a:ext cx="10911535" cy="282549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642615"/>
          </a:xfrm>
          <a:prstGeom prst="rect">
            <a:avLst/>
          </a:prstGeom>
          <a:noFill/>
        </p:spPr>
        <p:txBody>
          <a:bodyPr wrap="none">
            <a:spAutoFit/>
          </a:bodyPr>
          <a:lstStyle/>
          <a:p>
            <a:pPr>
              <a:lnSpc>
                <a:spcPct val="100000"/>
              </a:lnSpc>
            </a:pPr>
            <a:r>
              <a:rPr sz="1100">
                <a:solidFill>
                  <a:srgbClr val="E6E8EE"/>
                </a:solidFill>
                <a:latin typeface="Consolas"/>
              </a:rPr>
              <a:t>enum StudyLevel { foundation, diploma, bachelor }</a:t>
            </a:r>
          </a:p>
          <a:p>
            <a:pPr>
              <a:lnSpc>
                <a:spcPct val="100000"/>
              </a:lnSpc>
            </a:pPr>
            <a:r>
              <a:rPr sz="1100">
                <a:solidFill>
                  <a:srgbClr val="E6E8EE"/>
                </a:solidFill>
                <a:latin typeface="Consolas"/>
              </a:rPr>
              <a:t>enum EntryCategory { spm, stam, both }</a:t>
            </a:r>
          </a:p>
          <a:p>
            <a:pPr>
              <a:lnSpc>
                <a:spcPct val="100000"/>
              </a:lnSpc>
            </a:pPr>
            <a:r>
              <a:rPr sz="1100">
                <a:solidFill>
                  <a:srgbClr val="E6E8EE"/>
                </a:solidFill>
                <a:latin typeface="Consolas"/>
              </a:rPr>
              <a:t>enum ApplicationStatus {</a:t>
            </a:r>
          </a:p>
          <a:p>
            <a:pPr>
              <a:lnSpc>
                <a:spcPct val="100000"/>
              </a:lnSpc>
            </a:pPr>
            <a:r>
              <a:rPr sz="1100">
                <a:solidFill>
                  <a:srgbClr val="E6E8EE"/>
                </a:solidFill>
                <a:latin typeface="Consolas"/>
              </a:rPr>
              <a:t>  draft, submitted, underReview, eligible,</a:t>
            </a:r>
          </a:p>
          <a:p>
            <a:pPr>
              <a:lnSpc>
                <a:spcPct val="100000"/>
              </a:lnSpc>
            </a:pPr>
            <a:r>
              <a:rPr sz="1100">
                <a:solidFill>
                  <a:srgbClr val="E6E8EE"/>
                </a:solidFill>
                <a:latin typeface="Consolas"/>
              </a:rPr>
              <a:t>  notEligible, offered, accepted, rejected</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class Programme {</a:t>
            </a:r>
          </a:p>
          <a:p>
            <a:pPr>
              <a:lnSpc>
                <a:spcPct val="100000"/>
              </a:lnSpc>
            </a:pPr>
            <a:r>
              <a:rPr sz="1100">
                <a:solidFill>
                  <a:srgbClr val="E6E8EE"/>
                </a:solidFill>
                <a:latin typeface="Consolas"/>
              </a:rPr>
              <a:t>  String universityName;</a:t>
            </a:r>
          </a:p>
          <a:p>
            <a:pPr>
              <a:lnSpc>
                <a:spcPct val="100000"/>
              </a:lnSpc>
            </a:pPr>
            <a:r>
              <a:rPr sz="1100">
                <a:solidFill>
                  <a:srgbClr val="E6E8EE"/>
                </a:solidFill>
                <a:latin typeface="Consolas"/>
              </a:rPr>
              <a:t>  String country;        // "Egypt" | "Morocco"</a:t>
            </a:r>
          </a:p>
          <a:p>
            <a:pPr>
              <a:lnSpc>
                <a:spcPct val="100000"/>
              </a:lnSpc>
            </a:pPr>
            <a:r>
              <a:rPr sz="1100">
                <a:solidFill>
                  <a:srgbClr val="E6E8EE"/>
                </a:solidFill>
                <a:latin typeface="Consolas"/>
              </a:rPr>
              <a:t>  String fieldOfStudy;</a:t>
            </a:r>
          </a:p>
          <a:p>
            <a:pPr>
              <a:lnSpc>
                <a:spcPct val="100000"/>
              </a:lnSpc>
            </a:pPr>
            <a:r>
              <a:rPr sz="1100">
                <a:solidFill>
                  <a:srgbClr val="E6E8EE"/>
                </a:solidFill>
                <a:latin typeface="Consolas"/>
              </a:rPr>
              <a:t>  EntryCategory category;</a:t>
            </a:r>
          </a:p>
          <a:p>
            <a:pPr>
              <a:lnSpc>
                <a:spcPct val="100000"/>
              </a:lnSpc>
            </a:pPr>
            <a:r>
              <a:rPr sz="1100">
                <a:solidFill>
                  <a:srgbClr val="E6E8EE"/>
                </a:solidFill>
                <a:latin typeface="Consolas"/>
              </a:rPr>
              <a:t>  double estimatedAnnualCostMyr;   // anggaran</a:t>
            </a:r>
          </a:p>
          <a:p>
            <a:pPr>
              <a:lnSpc>
                <a:spcPct val="100000"/>
              </a:lnSpc>
            </a:pPr>
            <a:r>
              <a:rPr sz="1100">
                <a:solidFill>
                  <a:srgbClr val="E6E8EE"/>
                </a:solidFill>
                <a:latin typeface="Consolas"/>
              </a:rPr>
              <a:t>}</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Peraturan Borang — Ikut Sistem Sebenar</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1 negara + 1 bidang bagi setiap permohonan — peraturan sebenar eTT</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Dalam bidang itu: sehingga 3 pilihan universiti mengikut keutamaan</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Kategori sijil: SPM atau STAM</a:t>
            </a:r>
          </a:p>
        </p:txBody>
      </p:sp>
      <p:sp>
        <p:nvSpPr>
          <p:cNvPr id="6" name="TextBox 5"/>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Bidang terhad: Perubatan, Pergigian, Farmasi, Pengajian Islam (Syariah/Usuluddin/Bahasa Arab/Qiraat)</a:t>
            </a:r>
          </a:p>
        </p:txBody>
      </p:sp>
      <p:sp>
        <p:nvSpPr>
          <p:cNvPr id="7" name="TextBox 6"/>
          <p:cNvSpPr txBox="1"/>
          <p:nvPr/>
        </p:nvSpPr>
        <p:spPr>
          <a:xfrm>
            <a:off x="804671" y="19476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Keputusan kelayakan: LAYAK / TIDAK LAYAK</a:t>
            </a:r>
          </a:p>
        </p:txBody>
      </p:sp>
      <p:sp>
        <p:nvSpPr>
          <p:cNvPr id="8" name="TextBox 7"/>
          <p:cNvSpPr txBox="1"/>
          <p:nvPr/>
        </p:nvSpPr>
        <p:spPr>
          <a:xfrm>
            <a:off x="640080" y="2244852"/>
            <a:ext cx="10911535" cy="292608"/>
          </a:xfrm>
          <a:prstGeom prst="rect">
            <a:avLst/>
          </a:prstGeom>
          <a:noFill/>
        </p:spPr>
        <p:txBody>
          <a:bodyPr wrap="square" anchor="t" lIns="38100" rIns="38100" tIns="25400" bIns="25400">
            <a:spAutoFit/>
          </a:bodyPr>
          <a:lstStyle/>
          <a:p>
            <a:pPr algn="l">
              <a:lnSpc>
                <a:spcPct val="105000"/>
              </a:lnSpc>
            </a:pPr>
            <a:r>
              <a:rPr sz="1200" b="1">
                <a:solidFill>
                  <a:srgbClr val="1A2B5C"/>
                </a:solidFill>
                <a:latin typeface="Segoe UI"/>
              </a:rPr>
              <a:t>[ 1 negara ]   [ 1 bidang ]   [ SPM ]   [ STAM ]   [ LAYAK ]   [ TIDAK LAYAK ]</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Time-boxing SESI 8 (9.00 – 12.15)</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5455767"/>
                <a:gridCol w="5455768"/>
              </a:tblGrid>
              <a:tr h="274319">
                <a:tc>
                  <a:txBody>
                    <a:bodyPr/>
                    <a:lstStyle/>
                    <a:p>
                      <a:r>
                        <a:rPr sz="1100" b="1">
                          <a:solidFill>
                            <a:srgbClr val="FFFFFF"/>
                          </a:solidFill>
                          <a:latin typeface="Segoe UI"/>
                        </a:rPr>
                        <a:t>Masa</a:t>
                      </a:r>
                    </a:p>
                  </a:txBody>
                  <a:tcPr marL="63500" marR="63500" marT="25400" marB="25400">
                    <a:solidFill>
                      <a:srgbClr val="1A2B5C"/>
                    </a:solidFill>
                  </a:tcPr>
                </a:tc>
                <a:tc>
                  <a:txBody>
                    <a:bodyPr/>
                    <a:lstStyle/>
                    <a:p>
                      <a:r>
                        <a:rPr sz="1100" b="1">
                          <a:solidFill>
                            <a:srgbClr val="FFFFFF"/>
                          </a:solidFill>
                          <a:latin typeface="Segoe UI"/>
                        </a:rPr>
                        <a:t>Tugasan</a:t>
                      </a:r>
                    </a:p>
                  </a:txBody>
                  <a:tcPr marL="63500" marR="63500" marT="25400" marB="25400">
                    <a:solidFill>
                      <a:srgbClr val="1A2B5C"/>
                    </a:solidFill>
                  </a:tcPr>
                </a:tc>
              </a:tr>
              <a:tr h="274319">
                <a:tc>
                  <a:txBody>
                    <a:bodyPr/>
                    <a:lstStyle/>
                    <a:p>
                      <a:r>
                        <a:rPr sz="1100" b="0">
                          <a:solidFill>
                            <a:srgbClr val="566371"/>
                          </a:solidFill>
                          <a:latin typeface="Segoe UI"/>
                        </a:rPr>
                        <a:t>9.00 – 9.20</a:t>
                      </a:r>
                    </a:p>
                  </a:txBody>
                  <a:tcPr marL="63500" marR="63500" marT="25400" marB="25400">
                    <a:solidFill>
                      <a:srgbClr val="FFFFFF"/>
                    </a:solidFill>
                  </a:tcPr>
                </a:tc>
                <a:tc>
                  <a:txBody>
                    <a:bodyPr/>
                    <a:lstStyle/>
                    <a:p>
                      <a:r>
                        <a:rPr sz="1100" b="0">
                          <a:solidFill>
                            <a:srgbClr val="566371"/>
                          </a:solidFill>
                          <a:latin typeface="Segoe UI"/>
                        </a:rPr>
                        <a:t>Taklimat brif, bentuk pasukan, salin models/data/services</a:t>
                      </a:r>
                    </a:p>
                  </a:txBody>
                  <a:tcPr marL="63500" marR="63500" marT="25400" marB="25400">
                    <a:solidFill>
                      <a:srgbClr val="FFFFFF"/>
                    </a:solidFill>
                  </a:tcPr>
                </a:tc>
              </a:tr>
              <a:tr h="274319">
                <a:tc>
                  <a:txBody>
                    <a:bodyPr/>
                    <a:lstStyle/>
                    <a:p>
                      <a:r>
                        <a:rPr sz="1100" b="0">
                          <a:solidFill>
                            <a:srgbClr val="566371"/>
                          </a:solidFill>
                          <a:latin typeface="Segoe UI"/>
                        </a:rPr>
                        <a:t>9.20 – 10.15</a:t>
                      </a:r>
                    </a:p>
                  </a:txBody>
                  <a:tcPr marL="63500" marR="63500" marT="25400" marB="25400">
                    <a:solidFill>
                      <a:srgbClr val="FFFFFF"/>
                    </a:solidFill>
                  </a:tcPr>
                </a:tc>
                <a:tc>
                  <a:txBody>
                    <a:bodyPr/>
                    <a:lstStyle/>
                    <a:p>
                      <a:r>
                        <a:rPr sz="1100" b="0">
                          <a:solidFill>
                            <a:srgbClr val="566371"/>
                          </a:solidFill>
                          <a:latin typeface="Segoe UI"/>
                        </a:rPr>
                        <a:t>Bina senarai tawaran pengajian</a:t>
                      </a:r>
                    </a:p>
                  </a:txBody>
                  <a:tcPr marL="63500" marR="63500" marT="25400" marB="25400">
                    <a:solidFill>
                      <a:srgbClr val="FFFFFF"/>
                    </a:solidFill>
                  </a:tcPr>
                </a:tc>
              </a:tr>
              <a:tr h="274319">
                <a:tc>
                  <a:txBody>
                    <a:bodyPr/>
                    <a:lstStyle/>
                    <a:p>
                      <a:r>
                        <a:rPr sz="1100" b="0">
                          <a:solidFill>
                            <a:srgbClr val="566371"/>
                          </a:solidFill>
                          <a:latin typeface="Segoe UI"/>
                        </a:rPr>
                        <a:t>10.15 – 11.00</a:t>
                      </a:r>
                    </a:p>
                  </a:txBody>
                  <a:tcPr marL="63500" marR="63500" marT="25400" marB="25400">
                    <a:solidFill>
                      <a:srgbClr val="FFFFFF"/>
                    </a:solidFill>
                  </a:tcPr>
                </a:tc>
                <a:tc>
                  <a:txBody>
                    <a:bodyPr/>
                    <a:lstStyle/>
                    <a:p>
                      <a:r>
                        <a:rPr sz="1100" b="0">
                          <a:solidFill>
                            <a:srgbClr val="566371"/>
                          </a:solidFill>
                          <a:latin typeface="Segoe UI"/>
                        </a:rPr>
                        <a:t>Bina skrin butiran + navigasi</a:t>
                      </a:r>
                    </a:p>
                  </a:txBody>
                  <a:tcPr marL="63500" marR="63500" marT="25400" marB="25400">
                    <a:solidFill>
                      <a:srgbClr val="FFFFFF"/>
                    </a:solidFill>
                  </a:tcPr>
                </a:tc>
              </a:tr>
              <a:tr h="274319">
                <a:tc>
                  <a:txBody>
                    <a:bodyPr/>
                    <a:lstStyle/>
                    <a:p>
                      <a:r>
                        <a:rPr sz="1100" b="0">
                          <a:solidFill>
                            <a:srgbClr val="566371"/>
                          </a:solidFill>
                          <a:latin typeface="Segoe UI"/>
                        </a:rPr>
                        <a:t>11.00 – 12.00</a:t>
                      </a:r>
                    </a:p>
                  </a:txBody>
                  <a:tcPr marL="63500" marR="63500" marT="25400" marB="25400">
                    <a:solidFill>
                      <a:srgbClr val="FFFFFF"/>
                    </a:solidFill>
                  </a:tcPr>
                </a:tc>
                <a:tc>
                  <a:txBody>
                    <a:bodyPr/>
                    <a:lstStyle/>
                    <a:p>
                      <a:r>
                        <a:rPr sz="1100" b="0">
                          <a:solidFill>
                            <a:srgbClr val="566371"/>
                          </a:solidFill>
                          <a:latin typeface="Segoe UI"/>
                        </a:rPr>
                        <a:t>Bina borang permohonan + validation</a:t>
                      </a:r>
                    </a:p>
                  </a:txBody>
                  <a:tcPr marL="63500" marR="63500" marT="25400" marB="25400">
                    <a:solidFill>
                      <a:srgbClr val="FFFFFF"/>
                    </a:solidFill>
                  </a:tcPr>
                </a:tc>
              </a:tr>
              <a:tr h="274324">
                <a:tc>
                  <a:txBody>
                    <a:bodyPr/>
                    <a:lstStyle/>
                    <a:p>
                      <a:r>
                        <a:rPr sz="1100" b="0">
                          <a:solidFill>
                            <a:srgbClr val="566371"/>
                          </a:solidFill>
                          <a:latin typeface="Segoe UI"/>
                        </a:rPr>
                        <a:t>12.00 – 12.15</a:t>
                      </a:r>
                    </a:p>
                  </a:txBody>
                  <a:tcPr marL="63500" marR="63500" marT="25400" marB="25400">
                    <a:solidFill>
                      <a:srgbClr val="FFFFFF"/>
                    </a:solidFill>
                  </a:tcPr>
                </a:tc>
                <a:tc>
                  <a:txBody>
                    <a:bodyPr/>
                    <a:lstStyle/>
                    <a:p>
                      <a:r>
                        <a:rPr sz="1100" b="0">
                          <a:solidFill>
                            <a:srgbClr val="566371"/>
                          </a:solidFill>
                          <a:latin typeface="Segoe UI"/>
                        </a:rPr>
                        <a:t>Semak status, senaraikan baki kerja</a:t>
                      </a:r>
                    </a:p>
                  </a:txBody>
                  <a:tcPr marL="63500" marR="63500" marT="25400" marB="25400">
                    <a:solidFill>
                      <a:srgbClr val="FFFFFF"/>
                    </a:solidFill>
                  </a:tcPr>
                </a:tc>
              </a:tr>
            </a:tbl>
          </a:graphicData>
        </a:graphic>
      </p:graphicFrame>
      <p:sp>
        <p:nvSpPr>
          <p:cNvPr id="4" name="Rounded Rectangle 3"/>
          <p:cNvSpPr/>
          <p:nvPr/>
        </p:nvSpPr>
        <p:spPr>
          <a:xfrm>
            <a:off x="640080" y="2825496"/>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40080" y="2825496"/>
            <a:ext cx="54864" cy="420624"/>
          </a:xfrm>
          <a:prstGeom prst="rect">
            <a:avLst/>
          </a:prstGeom>
          <a:solidFill>
            <a:srgbClr val="1A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898648"/>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Tidak siap 100% menjelang 12.15? Normal — SESI 9 bermula dengan menyambung projek ini.</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Mula Pantas</a:t>
            </a:r>
          </a:p>
        </p:txBody>
      </p:sp>
      <p:sp>
        <p:nvSpPr>
          <p:cNvPr id="3" name="TextBox 2"/>
          <p:cNvSpPr txBox="1"/>
          <p:nvPr/>
        </p:nvSpPr>
        <p:spPr>
          <a:xfrm>
            <a:off x="731519" y="1051560"/>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1.  Buat projek: flutter create ett_mini (atau guna projek sedia ada)</a:t>
            </a:r>
          </a:p>
        </p:txBody>
      </p:sp>
      <p:sp>
        <p:nvSpPr>
          <p:cNvPr id="4" name="TextBox 3"/>
          <p:cNvSpPr txBox="1"/>
          <p:nvPr/>
        </p:nvSpPr>
        <p:spPr>
          <a:xfrm>
            <a:off x="731519" y="1289304"/>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2.  Salin folder models/, data/, services/ dari projek rujukan projek/ett_mobile/lib/</a:t>
            </a:r>
          </a:p>
        </p:txBody>
      </p:sp>
      <p:sp>
        <p:nvSpPr>
          <p:cNvPr id="5" name="TextBox 4"/>
          <p:cNvSpPr txBox="1"/>
          <p:nvPr/>
        </p:nvSpPr>
        <p:spPr>
          <a:xfrm>
            <a:off x="731519" y="1527048"/>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3.  flutter pub add http intl → flutter pub get</a:t>
            </a:r>
          </a:p>
        </p:txBody>
      </p:sp>
      <p:sp>
        <p:nvSpPr>
          <p:cNvPr id="6" name="TextBox 5"/>
          <p:cNvSpPr txBox="1"/>
          <p:nvPr/>
        </p:nvSpPr>
        <p:spPr>
          <a:xfrm>
            <a:off x="731519" y="1764792"/>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4.  flutter run — pastikan projek berjalan sebelum mula menulis skrin</a:t>
            </a:r>
          </a:p>
        </p:txBody>
      </p:sp>
      <p:sp>
        <p:nvSpPr>
          <p:cNvPr id="7" name="TextBox 6"/>
          <p:cNvSpPr txBox="1"/>
          <p:nvPr/>
        </p:nvSpPr>
        <p:spPr>
          <a:xfrm>
            <a:off x="731519" y="2002536"/>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5.  git init &amp; commit pertama — supaya boleh patah balik bila perlu</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Skrin 1 — Senarai Tawaran</a:t>
            </a:r>
          </a:p>
        </p:txBody>
      </p:sp>
      <p:sp>
        <p:nvSpPr>
          <p:cNvPr id="3" name="Rounded Rectangle 2"/>
          <p:cNvSpPr/>
          <p:nvPr/>
        </p:nvSpPr>
        <p:spPr>
          <a:xfrm>
            <a:off x="640080" y="1051560"/>
            <a:ext cx="10911535" cy="338785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3204972"/>
          </a:xfrm>
          <a:prstGeom prst="rect">
            <a:avLst/>
          </a:prstGeom>
          <a:noFill/>
        </p:spPr>
        <p:txBody>
          <a:bodyPr wrap="none">
            <a:spAutoFit/>
          </a:bodyPr>
          <a:lstStyle/>
          <a:p>
            <a:pPr>
              <a:lnSpc>
                <a:spcPct val="100000"/>
              </a:lnSpc>
            </a:pPr>
            <a:r>
              <a:rPr sz="1100">
                <a:solidFill>
                  <a:srgbClr val="E6E8EE"/>
                </a:solidFill>
                <a:latin typeface="Consolas"/>
              </a:rPr>
              <a:t>class _ProgrammeListScreenState extends State&lt;ProgrammeListScreen&gt; {</a:t>
            </a:r>
          </a:p>
          <a:p>
            <a:pPr>
              <a:lnSpc>
                <a:spcPct val="100000"/>
              </a:lnSpc>
            </a:pPr>
            <a:r>
              <a:rPr sz="1100">
                <a:solidFill>
                  <a:srgbClr val="E6E8EE"/>
                </a:solidFill>
                <a:latin typeface="Consolas"/>
              </a:rPr>
              <a:t>  final _service = ProgrammeService();</a:t>
            </a:r>
          </a:p>
          <a:p>
            <a:pPr>
              <a:lnSpc>
                <a:spcPct val="100000"/>
              </a:lnSpc>
            </a:pPr>
            <a:r>
              <a:rPr sz="1100">
                <a:solidFill>
                  <a:srgbClr val="E6E8EE"/>
                </a:solidFill>
                <a:latin typeface="Consolas"/>
              </a:rPr>
              <a:t>  List&lt;Programme&gt; _programmes = [];</a:t>
            </a:r>
          </a:p>
          <a:p>
            <a:pPr>
              <a:lnSpc>
                <a:spcPct val="100000"/>
              </a:lnSpc>
            </a:pPr>
            <a:r>
              <a:rPr sz="1100">
                <a:solidFill>
                  <a:srgbClr val="E6E8EE"/>
                </a:solidFill>
                <a:latin typeface="Consolas"/>
              </a:rPr>
              <a:t>  bool _isLoading = true;</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@override</a:t>
            </a:r>
          </a:p>
          <a:p>
            <a:pPr>
              <a:lnSpc>
                <a:spcPct val="100000"/>
              </a:lnSpc>
            </a:pPr>
            <a:r>
              <a:rPr sz="1100">
                <a:solidFill>
                  <a:srgbClr val="E6E8EE"/>
                </a:solidFill>
                <a:latin typeface="Consolas"/>
              </a:rPr>
              <a:t>  void initState() {</a:t>
            </a:r>
          </a:p>
          <a:p>
            <a:pPr>
              <a:lnSpc>
                <a:spcPct val="100000"/>
              </a:lnSpc>
            </a:pPr>
            <a:r>
              <a:rPr sz="1100">
                <a:solidFill>
                  <a:srgbClr val="E6E8EE"/>
                </a:solidFill>
                <a:latin typeface="Consolas"/>
              </a:rPr>
              <a:t>    super.initState();</a:t>
            </a:r>
          </a:p>
          <a:p>
            <a:pPr>
              <a:lnSpc>
                <a:spcPct val="100000"/>
              </a:lnSpc>
            </a:pPr>
            <a:r>
              <a:rPr sz="1100">
                <a:solidFill>
                  <a:srgbClr val="E6E8EE"/>
                </a:solidFill>
                <a:latin typeface="Consolas"/>
              </a:rPr>
              <a:t>    _load();</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Future&lt;void&gt; _load() async {</a:t>
            </a:r>
          </a:p>
          <a:p>
            <a:pPr>
              <a:lnSpc>
                <a:spcPct val="100000"/>
              </a:lnSpc>
            </a:pPr>
            <a:r>
              <a:rPr sz="1100">
                <a:solidFill>
                  <a:srgbClr val="E6E8EE"/>
                </a:solidFill>
                <a:latin typeface="Consolas"/>
              </a:rPr>
              <a:t>    final result = await _service.fetchProgrammes();</a:t>
            </a:r>
          </a:p>
          <a:p>
            <a:pPr>
              <a:lnSpc>
                <a:spcPct val="100000"/>
              </a:lnSpc>
            </a:pPr>
            <a:r>
              <a:rPr sz="1100">
                <a:solidFill>
                  <a:srgbClr val="E6E8EE"/>
                </a:solidFill>
                <a:latin typeface="Consolas"/>
              </a:rPr>
              <a:t>    if (!mounted) return;</a:t>
            </a:r>
          </a:p>
          <a:p>
            <a:pPr>
              <a:lnSpc>
                <a:spcPct val="100000"/>
              </a:lnSpc>
            </a:pPr>
            <a:r>
              <a:rPr sz="1100">
                <a:solidFill>
                  <a:srgbClr val="E6E8EE"/>
                </a:solidFill>
                <a:latin typeface="Consolas"/>
              </a:rPr>
              <a:t>    setState(() { _programmes = result; _isLoading = false;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p:txBody>
      </p:sp>
      <p:sp>
        <p:nvSpPr>
          <p:cNvPr id="5" name="TextBox 4"/>
          <p:cNvSpPr txBox="1"/>
          <p:nvPr/>
        </p:nvSpPr>
        <p:spPr>
          <a:xfrm>
            <a:off x="640080" y="4549140"/>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Dalam build(): jika _isLoading → CircularProgressIndicator, jika tidak → ListView.builder.</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Layout Kad Leceh? Minta AI</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Susunan Row/Column dalam kad memang mudah jadi bersepah. Kalau buntu, terangkan apa yang anda mahu:</a:t>
            </a:r>
          </a:p>
        </p:txBody>
      </p:sp>
      <p:sp>
        <p:nvSpPr>
          <p:cNvPr id="4" name="Rounded Rectangle 3"/>
          <p:cNvSpPr/>
          <p:nvPr/>
        </p:nvSpPr>
        <p:spPr>
          <a:xfrm>
            <a:off x="640080" y="1371600"/>
            <a:ext cx="10911535" cy="76352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463040"/>
            <a:ext cx="10655503" cy="580644"/>
          </a:xfrm>
          <a:prstGeom prst="rect">
            <a:avLst/>
          </a:prstGeom>
          <a:noFill/>
        </p:spPr>
        <p:txBody>
          <a:bodyPr wrap="none">
            <a:spAutoFit/>
          </a:bodyPr>
          <a:lstStyle/>
          <a:p>
            <a:pPr>
              <a:lnSpc>
                <a:spcPct val="100000"/>
              </a:lnSpc>
            </a:pPr>
            <a:r>
              <a:rPr sz="1100">
                <a:solidFill>
                  <a:srgbClr val="E6E8EE"/>
                </a:solidFill>
                <a:latin typeface="Consolas"/>
              </a:rPr>
              <a:t>Bina Row untuk ProgrammeCard: bendera negara, Column</a:t>
            </a:r>
          </a:p>
          <a:p>
            <a:pPr>
              <a:lnSpc>
                <a:spcPct val="100000"/>
              </a:lnSpc>
            </a:pPr>
            <a:r>
              <a:rPr sz="1100">
                <a:solidFill>
                  <a:srgbClr val="E6E8EE"/>
                </a:solidFill>
                <a:latin typeface="Consolas"/>
              </a:rPr>
              <a:t>(universityName, fieldOfStudy), Expanded, dan kos RM</a:t>
            </a:r>
          </a:p>
          <a:p>
            <a:pPr>
              <a:lnSpc>
                <a:spcPct val="100000"/>
              </a:lnSpc>
            </a:pPr>
            <a:r>
              <a:rPr sz="1100">
                <a:solidFill>
                  <a:srgbClr val="E6E8EE"/>
                </a:solidFill>
                <a:latin typeface="Consolas"/>
              </a:rPr>
              <a:t>di hujung kanan. Guna KptTheme.navy untuk tajuk.</a:t>
            </a:r>
          </a:p>
        </p:txBody>
      </p:sp>
      <p:sp>
        <p:nvSpPr>
          <p:cNvPr id="6" name="TextBox 5"/>
          <p:cNvSpPr txBox="1"/>
          <p:nvPr/>
        </p:nvSpPr>
        <p:spPr>
          <a:xfrm>
            <a:off x="640080" y="2244852"/>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Semak hasilnya — pastikan const di tempat yang patut, dan jalankan flutter analyze sebelum terima.</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Skrin 2 — Butiran &amp; Navigasi</a:t>
            </a:r>
          </a:p>
        </p:txBody>
      </p:sp>
      <p:sp>
        <p:nvSpPr>
          <p:cNvPr id="3" name="Rounded Rectangle 2"/>
          <p:cNvSpPr/>
          <p:nvPr/>
        </p:nvSpPr>
        <p:spPr>
          <a:xfrm>
            <a:off x="640080" y="1051560"/>
            <a:ext cx="10911535" cy="226314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080260"/>
          </a:xfrm>
          <a:prstGeom prst="rect">
            <a:avLst/>
          </a:prstGeom>
          <a:noFill/>
        </p:spPr>
        <p:txBody>
          <a:bodyPr wrap="none">
            <a:spAutoFit/>
          </a:bodyPr>
          <a:lstStyle/>
          <a:p>
            <a:pPr>
              <a:lnSpc>
                <a:spcPct val="100000"/>
              </a:lnSpc>
            </a:pPr>
            <a:r>
              <a:rPr sz="1100">
                <a:solidFill>
                  <a:srgbClr val="E6E8EE"/>
                </a:solidFill>
                <a:latin typeface="Consolas"/>
              </a:rPr>
              <a:t>ProgrammeCard(</a:t>
            </a:r>
          </a:p>
          <a:p>
            <a:pPr>
              <a:lnSpc>
                <a:spcPct val="100000"/>
              </a:lnSpc>
            </a:pPr>
            <a:r>
              <a:rPr sz="1100">
                <a:solidFill>
                  <a:srgbClr val="E6E8EE"/>
                </a:solidFill>
                <a:latin typeface="Consolas"/>
              </a:rPr>
              <a:t>  programme: programme,</a:t>
            </a:r>
          </a:p>
          <a:p>
            <a:pPr>
              <a:lnSpc>
                <a:spcPct val="100000"/>
              </a:lnSpc>
            </a:pPr>
            <a:r>
              <a:rPr sz="1100">
                <a:solidFill>
                  <a:srgbClr val="E6E8EE"/>
                </a:solidFill>
                <a:latin typeface="Consolas"/>
              </a:rPr>
              <a:t>  onTap: () =&gt; Navigator.push(</a:t>
            </a:r>
          </a:p>
          <a:p>
            <a:pPr>
              <a:lnSpc>
                <a:spcPct val="100000"/>
              </a:lnSpc>
            </a:pPr>
            <a:r>
              <a:rPr sz="1100">
                <a:solidFill>
                  <a:srgbClr val="E6E8EE"/>
                </a:solidFill>
                <a:latin typeface="Consolas"/>
              </a:rPr>
              <a:t>    context,</a:t>
            </a:r>
          </a:p>
          <a:p>
            <a:pPr>
              <a:lnSpc>
                <a:spcPct val="100000"/>
              </a:lnSpc>
            </a:pPr>
            <a:r>
              <a:rPr sz="1100">
                <a:solidFill>
                  <a:srgbClr val="E6E8EE"/>
                </a:solidFill>
                <a:latin typeface="Consolas"/>
              </a:rPr>
              <a:t>    MaterialPageRoute(</a:t>
            </a:r>
          </a:p>
          <a:p>
            <a:pPr>
              <a:lnSpc>
                <a:spcPct val="100000"/>
              </a:lnSpc>
            </a:pPr>
            <a:r>
              <a:rPr sz="1100">
                <a:solidFill>
                  <a:srgbClr val="E6E8EE"/>
                </a:solidFill>
                <a:latin typeface="Consolas"/>
              </a:rPr>
              <a:t>      builder: (_) =&gt; ProgrammeDetailScreen(</a:t>
            </a:r>
          </a:p>
          <a:p>
            <a:pPr>
              <a:lnSpc>
                <a:spcPct val="100000"/>
              </a:lnSpc>
            </a:pPr>
            <a:r>
              <a:rPr sz="1100">
                <a:solidFill>
                  <a:srgbClr val="E6E8EE"/>
                </a:solidFill>
                <a:latin typeface="Consolas"/>
              </a:rPr>
              <a:t>        programme: programme,   // hantar data ke skrin butiran</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p:txBody>
      </p:sp>
      <p:sp>
        <p:nvSpPr>
          <p:cNvPr id="5" name="TextBox 4"/>
          <p:cNvSpPr txBox="1"/>
          <p:nvPr/>
        </p:nvSpPr>
        <p:spPr>
          <a:xfrm>
            <a:off x="804671" y="342442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Skrin butiran memaparkan semua maklumat + butang "Mohon Sekarang"</a:t>
            </a:r>
          </a:p>
        </p:txBody>
      </p:sp>
      <p:sp>
        <p:nvSpPr>
          <p:cNvPr id="6" name="TextBox 5"/>
          <p:cNvSpPr txBox="1"/>
          <p:nvPr/>
        </p:nvSpPr>
        <p:spPr>
          <a:xfrm>
            <a:off x="804671" y="364845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"Mohon Sekarang" → Navigator.push ke borang permohonan</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Skrin 3 — Borang + Validation</a:t>
            </a:r>
          </a:p>
        </p:txBody>
      </p:sp>
      <p:sp>
        <p:nvSpPr>
          <p:cNvPr id="3" name="Rounded Rectangle 2"/>
          <p:cNvSpPr/>
          <p:nvPr/>
        </p:nvSpPr>
        <p:spPr>
          <a:xfrm>
            <a:off x="640080" y="1051560"/>
            <a:ext cx="10911535" cy="282549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642615"/>
          </a:xfrm>
          <a:prstGeom prst="rect">
            <a:avLst/>
          </a:prstGeom>
          <a:noFill/>
        </p:spPr>
        <p:txBody>
          <a:bodyPr wrap="none">
            <a:spAutoFit/>
          </a:bodyPr>
          <a:lstStyle/>
          <a:p>
            <a:pPr>
              <a:lnSpc>
                <a:spcPct val="100000"/>
              </a:lnSpc>
            </a:pPr>
            <a:r>
              <a:rPr sz="1100">
                <a:solidFill>
                  <a:srgbClr val="E6E8EE"/>
                </a:solidFill>
                <a:latin typeface="Consolas"/>
              </a:rPr>
              <a:t>TextFormField(</a:t>
            </a:r>
          </a:p>
          <a:p>
            <a:pPr>
              <a:lnSpc>
                <a:spcPct val="100000"/>
              </a:lnSpc>
            </a:pPr>
            <a:r>
              <a:rPr sz="1100">
                <a:solidFill>
                  <a:srgbClr val="E6E8EE"/>
                </a:solidFill>
                <a:latin typeface="Consolas"/>
              </a:rPr>
              <a:t>  controller: _icController,</a:t>
            </a:r>
          </a:p>
          <a:p>
            <a:pPr>
              <a:lnSpc>
                <a:spcPct val="100000"/>
              </a:lnSpc>
            </a:pPr>
            <a:r>
              <a:rPr sz="1100">
                <a:solidFill>
                  <a:srgbClr val="E6E8EE"/>
                </a:solidFill>
                <a:latin typeface="Consolas"/>
              </a:rPr>
              <a:t>  keyboardType: TextInputType.number,</a:t>
            </a:r>
          </a:p>
          <a:p>
            <a:pPr>
              <a:lnSpc>
                <a:spcPct val="100000"/>
              </a:lnSpc>
            </a:pPr>
            <a:r>
              <a:rPr sz="1100">
                <a:solidFill>
                  <a:srgbClr val="E6E8EE"/>
                </a:solidFill>
                <a:latin typeface="Consolas"/>
              </a:rPr>
              <a:t>  decoration: const InputDecoration(</a:t>
            </a:r>
          </a:p>
          <a:p>
            <a:pPr>
              <a:lnSpc>
                <a:spcPct val="100000"/>
              </a:lnSpc>
            </a:pPr>
            <a:r>
              <a:rPr sz="1100">
                <a:solidFill>
                  <a:srgbClr val="E6E8EE"/>
                </a:solidFill>
                <a:latin typeface="Consolas"/>
              </a:rPr>
              <a:t>    labelText: 'No. Kad Pengenalan',</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validator: (value) {</a:t>
            </a:r>
          </a:p>
          <a:p>
            <a:pPr>
              <a:lnSpc>
                <a:spcPct val="100000"/>
              </a:lnSpc>
            </a:pPr>
            <a:r>
              <a:rPr sz="1100">
                <a:solidFill>
                  <a:srgbClr val="E6E8EE"/>
                </a:solidFill>
                <a:latin typeface="Consolas"/>
              </a:rPr>
              <a:t>    final digits = value?.replaceAll('-', '') ?? '';</a:t>
            </a:r>
          </a:p>
          <a:p>
            <a:pPr>
              <a:lnSpc>
                <a:spcPct val="100000"/>
              </a:lnSpc>
            </a:pPr>
            <a:r>
              <a:rPr sz="1100">
                <a:solidFill>
                  <a:srgbClr val="E6E8EE"/>
                </a:solidFill>
                <a:latin typeface="Consolas"/>
              </a:rPr>
              <a:t>    if (digits.length != 12) {</a:t>
            </a:r>
          </a:p>
          <a:p>
            <a:pPr>
              <a:lnSpc>
                <a:spcPct val="100000"/>
              </a:lnSpc>
            </a:pPr>
            <a:r>
              <a:rPr sz="1100">
                <a:solidFill>
                  <a:srgbClr val="E6E8EE"/>
                </a:solidFill>
                <a:latin typeface="Consolas"/>
              </a:rPr>
              <a:t>      return 'No. KP mesti 12 digit';</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return null;</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p:txBody>
      </p:sp>
      <p:sp>
        <p:nvSpPr>
          <p:cNvPr id="5" name="TextBox 4"/>
          <p:cNvSpPr txBox="1"/>
          <p:nvPr/>
        </p:nvSpPr>
        <p:spPr>
          <a:xfrm>
            <a:off x="640080" y="3986784"/>
            <a:ext cx="10911535" cy="493776"/>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Medan minimum: nama, No. KP, emel, telefon + DropdownButtonFormField kategori sijil (SPM/STAM), 1 negara + 1 bidang, hingga 3 pilihan universiti.</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841248"/>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Validator Makan Masa? Serahkan Draf Pertama pada AI</a:t>
            </a:r>
          </a:p>
        </p:txBody>
      </p:sp>
      <p:sp>
        <p:nvSpPr>
          <p:cNvPr id="3" name="TextBox 2"/>
          <p:cNvSpPr txBox="1"/>
          <p:nvPr/>
        </p:nvSpPr>
        <p:spPr>
          <a:xfrm>
            <a:off x="640080" y="1472184"/>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Menulis validator No. KP/emel/telefon dari kosong memang lambat. Terangkan format yang anda mahu:</a:t>
            </a:r>
          </a:p>
        </p:txBody>
      </p:sp>
      <p:sp>
        <p:nvSpPr>
          <p:cNvPr id="4" name="Rounded Rectangle 3"/>
          <p:cNvSpPr/>
          <p:nvPr/>
        </p:nvSpPr>
        <p:spPr>
          <a:xfrm>
            <a:off x="640080" y="1792224"/>
            <a:ext cx="10911535" cy="76352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883664"/>
            <a:ext cx="10655503" cy="580644"/>
          </a:xfrm>
          <a:prstGeom prst="rect">
            <a:avLst/>
          </a:prstGeom>
          <a:noFill/>
        </p:spPr>
        <p:txBody>
          <a:bodyPr wrap="none">
            <a:spAutoFit/>
          </a:bodyPr>
          <a:lstStyle/>
          <a:p>
            <a:pPr>
              <a:lnSpc>
                <a:spcPct val="100000"/>
              </a:lnSpc>
            </a:pPr>
            <a:r>
              <a:rPr sz="1100">
                <a:solidFill>
                  <a:srgbClr val="E6E8EE"/>
                </a:solidFill>
                <a:latin typeface="Consolas"/>
              </a:rPr>
              <a:t>Tulis validator Dart untuk TextFormField No. KP Malaysia:</a:t>
            </a:r>
          </a:p>
          <a:p>
            <a:pPr>
              <a:lnSpc>
                <a:spcPct val="100000"/>
              </a:lnSpc>
            </a:pPr>
            <a:r>
              <a:rPr sz="1100">
                <a:solidFill>
                  <a:srgbClr val="E6E8EE"/>
                </a:solidFill>
                <a:latin typeface="Consolas"/>
              </a:rPr>
              <a:t>buang tanda "-", mesti tepat 12 digit angka.</a:t>
            </a:r>
          </a:p>
          <a:p>
            <a:pPr>
              <a:lnSpc>
                <a:spcPct val="100000"/>
              </a:lnSpc>
            </a:pPr>
            <a:r>
              <a:rPr sz="1100">
                <a:solidFill>
                  <a:srgbClr val="E6E8EE"/>
                </a:solidFill>
                <a:latin typeface="Consolas"/>
              </a:rPr>
              <a:t>Pulangkan mesej ralat Bahasa Melayu jika tidak sah.</a:t>
            </a:r>
          </a:p>
        </p:txBody>
      </p:sp>
      <p:sp>
        <p:nvSpPr>
          <p:cNvPr id="6" name="TextBox 5"/>
          <p:cNvSpPr txBox="1"/>
          <p:nvPr/>
        </p:nvSpPr>
        <p:spPr>
          <a:xfrm>
            <a:off x="640080" y="2665476"/>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Kemudian uji dengan beberapa input salah — pastikan ia benar-benar menolak dengan betul sebelum bergerak ke medan seterusnya.</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Skrin 4 — "Permohonan Saya"</a:t>
            </a:r>
          </a:p>
        </p:txBody>
      </p:sp>
      <p:sp>
        <p:nvSpPr>
          <p:cNvPr id="3" name="Rounded Rectangle 2"/>
          <p:cNvSpPr/>
          <p:nvPr/>
        </p:nvSpPr>
        <p:spPr>
          <a:xfrm>
            <a:off x="640080" y="1051560"/>
            <a:ext cx="10911535" cy="2450592"/>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267712"/>
          </a:xfrm>
          <a:prstGeom prst="rect">
            <a:avLst/>
          </a:prstGeom>
          <a:noFill/>
        </p:spPr>
        <p:txBody>
          <a:bodyPr wrap="none">
            <a:spAutoFit/>
          </a:bodyPr>
          <a:lstStyle/>
          <a:p>
            <a:pPr>
              <a:lnSpc>
                <a:spcPct val="100000"/>
              </a:lnSpc>
            </a:pPr>
            <a:r>
              <a:rPr sz="1100">
                <a:solidFill>
                  <a:srgbClr val="E6E8EE"/>
                </a:solidFill>
                <a:latin typeface="Consolas"/>
              </a:rPr>
              <a:t>// Dalam borang — bila semua validator lulus:</a:t>
            </a:r>
          </a:p>
          <a:p>
            <a:pPr>
              <a:lnSpc>
                <a:spcPct val="100000"/>
              </a:lnSpc>
            </a:pPr>
            <a:r>
              <a:rPr sz="1100">
                <a:solidFill>
                  <a:srgbClr val="E6E8EE"/>
                </a:solidFill>
                <a:latin typeface="Consolas"/>
              </a:rPr>
              <a:t>void _submit() {</a:t>
            </a:r>
          </a:p>
          <a:p>
            <a:pPr>
              <a:lnSpc>
                <a:spcPct val="100000"/>
              </a:lnSpc>
            </a:pPr>
            <a:r>
              <a:rPr sz="1100">
                <a:solidFill>
                  <a:srgbClr val="E6E8EE"/>
                </a:solidFill>
                <a:latin typeface="Consolas"/>
              </a:rPr>
              <a:t>  if (!_formKey.currentState!.validate()) return;</a:t>
            </a:r>
          </a:p>
          <a:p>
            <a:pPr>
              <a:lnSpc>
                <a:spcPct val="100000"/>
              </a:lnSpc>
            </a:pPr>
            <a:r>
              <a:rPr sz="1100">
                <a:solidFill>
                  <a:srgbClr val="E6E8EE"/>
                </a:solidFill>
                <a:latin typeface="Consolas"/>
              </a:rPr>
              <a:t>  final application = Application(/* ... dari controllers */);</a:t>
            </a:r>
          </a:p>
          <a:p>
            <a:pPr>
              <a:lnSpc>
                <a:spcPct val="100000"/>
              </a:lnSpc>
            </a:pPr>
            <a:r>
              <a:rPr sz="1100">
                <a:solidFill>
                  <a:srgbClr val="E6E8EE"/>
                </a:solidFill>
                <a:latin typeface="Consolas"/>
              </a:rPr>
              <a:t>  widget.onSubmitted(application);  // callback ke skrin utama</a:t>
            </a:r>
          </a:p>
          <a:p>
            <a:pPr>
              <a:lnSpc>
                <a:spcPct val="100000"/>
              </a:lnSpc>
            </a:pPr>
            <a:r>
              <a:rPr sz="1100">
                <a:solidFill>
                  <a:srgbClr val="E6E8EE"/>
                </a:solidFill>
                <a:latin typeface="Consolas"/>
              </a:rPr>
              <a:t>  Navigator.pop(context);</a:t>
            </a:r>
          </a:p>
          <a:p>
            <a:pPr>
              <a:lnSpc>
                <a:spcPct val="100000"/>
              </a:lnSpc>
            </a:pPr>
            <a:r>
              <a:rPr sz="1100">
                <a:solidFill>
                  <a:srgbClr val="E6E8EE"/>
                </a:solidFill>
                <a:latin typeface="Consolas"/>
              </a:rPr>
              <a:t>}</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Dalam HomeScreen — kemas kini senarai:</a:t>
            </a:r>
          </a:p>
          <a:p>
            <a:pPr>
              <a:lnSpc>
                <a:spcPct val="100000"/>
              </a:lnSpc>
            </a:pPr>
            <a:r>
              <a:rPr sz="1100">
                <a:solidFill>
                  <a:srgbClr val="E6E8EE"/>
                </a:solidFill>
                <a:latin typeface="Consolas"/>
              </a:rPr>
              <a:t>void _addApplication(Application a) {</a:t>
            </a:r>
          </a:p>
          <a:p>
            <a:pPr>
              <a:lnSpc>
                <a:spcPct val="100000"/>
              </a:lnSpc>
            </a:pPr>
            <a:r>
              <a:rPr sz="1100">
                <a:solidFill>
                  <a:srgbClr val="E6E8EE"/>
                </a:solidFill>
                <a:latin typeface="Consolas"/>
              </a:rPr>
              <a:t>  setState(() =&gt; _applications.add(a));</a:t>
            </a:r>
          </a:p>
          <a:p>
            <a:pPr>
              <a:lnSpc>
                <a:spcPct val="100000"/>
              </a:lnSpc>
            </a:pPr>
            <a:r>
              <a:rPr sz="1100">
                <a:solidFill>
                  <a:srgbClr val="E6E8EE"/>
                </a:solidFill>
                <a:latin typeface="Consolas"/>
              </a:rPr>
              <a:t>}</a:t>
            </a:r>
          </a:p>
        </p:txBody>
      </p:sp>
      <p:sp>
        <p:nvSpPr>
          <p:cNvPr id="5" name="TextBox 4"/>
          <p:cNvSpPr txBox="1"/>
          <p:nvPr/>
        </p:nvSpPr>
        <p:spPr>
          <a:xfrm>
            <a:off x="640080" y="3611880"/>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Papar setiap permohonan dengan ListTile + StatusBadge (cip status berwarna) + tarikh hantar.</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Rubrik: Bila Projek Dikira "SIAP"?</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flutter run tanpa ralat merah (red screen)</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Senarai tawaran dari ProgrammeService + keadaan loading kelihatan</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Tekan kad → skrin butiran dengan data yang betul</a:t>
            </a:r>
          </a:p>
        </p:txBody>
      </p:sp>
      <p:sp>
        <p:nvSpPr>
          <p:cNvPr id="6" name="TextBox 5"/>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Borang: ≥ 4 medan dengan validator, kuatkuasa 1 negara + 1 bidang</a:t>
            </a:r>
          </a:p>
        </p:txBody>
      </p:sp>
      <p:sp>
        <p:nvSpPr>
          <p:cNvPr id="7" name="TextBox 6"/>
          <p:cNvSpPr txBox="1"/>
          <p:nvPr/>
        </p:nvSpPr>
        <p:spPr>
          <a:xfrm>
            <a:off x="804671" y="19476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"Hantar" pada borang sah → rekod baharu dalam "Permohonan Saya"</a:t>
            </a:r>
          </a:p>
        </p:txBody>
      </p:sp>
      <p:sp>
        <p:nvSpPr>
          <p:cNvPr id="8" name="TextBox 7"/>
          <p:cNvSpPr txBox="1"/>
          <p:nvPr/>
        </p:nvSpPr>
        <p:spPr>
          <a:xfrm>
            <a:off x="804671" y="217170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"Permohonan Saya": universiti/bidang + status berwarna + tarikh</a:t>
            </a:r>
          </a:p>
        </p:txBody>
      </p:sp>
      <p:sp>
        <p:nvSpPr>
          <p:cNvPr id="9" name="TextBox 8"/>
          <p:cNvSpPr txBox="1"/>
          <p:nvPr/>
        </p:nvSpPr>
        <p:spPr>
          <a:xfrm>
            <a:off x="804671" y="239572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flutter analyze — sifar isu</a:t>
            </a:r>
          </a:p>
        </p:txBody>
      </p:sp>
      <p:sp>
        <p:nvSpPr>
          <p:cNvPr id="10" name="TextBox 9"/>
          <p:cNvSpPr txBox="1"/>
          <p:nvPr/>
        </p:nvSpPr>
        <p:spPr>
          <a:xfrm>
            <a:off x="804671" y="261975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Anda faham setiap baris kod yang dijana AI dalam projek anda</a:t>
            </a:r>
          </a:p>
        </p:txBody>
      </p:sp>
      <p:sp>
        <p:nvSpPr>
          <p:cNvPr id="11" name="TextBox 10"/>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Bila Tersekat: Debug Bersama AI</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Ralat akan berlaku semasa hackathon. Beri AI konteks penuh — mesej ralat lengkap + kod yang relevan sahaja:</a:t>
            </a:r>
          </a:p>
        </p:txBody>
      </p:sp>
      <p:sp>
        <p:nvSpPr>
          <p:cNvPr id="4" name="Rounded Rectangle 3"/>
          <p:cNvSpPr/>
          <p:nvPr/>
        </p:nvSpPr>
        <p:spPr>
          <a:xfrm>
            <a:off x="640080" y="1371600"/>
            <a:ext cx="10911535" cy="1138428"/>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463040"/>
            <a:ext cx="10655503" cy="955547"/>
          </a:xfrm>
          <a:prstGeom prst="rect">
            <a:avLst/>
          </a:prstGeom>
          <a:noFill/>
        </p:spPr>
        <p:txBody>
          <a:bodyPr wrap="none">
            <a:spAutoFit/>
          </a:bodyPr>
          <a:lstStyle/>
          <a:p>
            <a:pPr>
              <a:lnSpc>
                <a:spcPct val="100000"/>
              </a:lnSpc>
            </a:pPr>
            <a:r>
              <a:rPr sz="1100">
                <a:solidFill>
                  <a:srgbClr val="E6E8EE"/>
                </a:solidFill>
                <a:latin typeface="Consolas"/>
              </a:rPr>
              <a:t>Saya dapat ralat ini bila menekan butang "Hantar":</a:t>
            </a:r>
          </a:p>
          <a:p>
            <a:pPr>
              <a:lnSpc>
                <a:spcPct val="100000"/>
              </a:lnSpc>
            </a:pPr>
            <a:r>
              <a:rPr sz="1100">
                <a:solidFill>
                  <a:srgbClr val="E6E8EE"/>
                </a:solidFill>
                <a:latin typeface="Consolas"/>
              </a:rPr>
              <a:t>[tampal MESEJ RALAT PENUH]</a:t>
            </a:r>
          </a:p>
          <a:p>
            <a:pPr>
              <a:lnSpc>
                <a:spcPct val="100000"/>
              </a:lnSpc>
            </a:pPr>
            <a:r>
              <a:rPr sz="1100">
                <a:solidFill>
                  <a:srgbClr val="E6E8EE"/>
                </a:solidFill>
                <a:latin typeface="Consolas"/>
              </a:rPr>
              <a:t>Ini kod fail application_form_screen.dart yang berkaitan:</a:t>
            </a:r>
          </a:p>
          <a:p>
            <a:pPr>
              <a:lnSpc>
                <a:spcPct val="100000"/>
              </a:lnSpc>
            </a:pPr>
            <a:r>
              <a:rPr sz="1100">
                <a:solidFill>
                  <a:srgbClr val="E6E8EE"/>
                </a:solidFill>
                <a:latin typeface="Consolas"/>
              </a:rPr>
              <a:t>[tampal KOD yang relevan sahaja — bukan seluruh fail]</a:t>
            </a:r>
          </a:p>
          <a:p>
            <a:pPr>
              <a:lnSpc>
                <a:spcPct val="100000"/>
              </a:lnSpc>
            </a:pPr>
            <a:r>
              <a:rPr sz="1100">
                <a:solidFill>
                  <a:srgbClr val="E6E8EE"/>
                </a:solidFill>
                <a:latin typeface="Consolas"/>
              </a:rPr>
              <a:t>Apakah puncanya, dan bagaimana membaikinya?</a:t>
            </a:r>
          </a:p>
        </p:txBody>
      </p:sp>
      <p:sp>
        <p:nvSpPr>
          <p:cNvPr id="6" name="TextBox 5"/>
          <p:cNvSpPr txBox="1"/>
          <p:nvPr/>
        </p:nvSpPr>
        <p:spPr>
          <a:xfrm>
            <a:off x="640080" y="2619756"/>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Selepas setiap pembaikan: flutter analyze, minta AI terangkan bahagian yang kabur, dan git commit supaya boleh patah balik.</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Ralat Biasa Hackathon — Kenali &amp; Baiki</a:t>
            </a:r>
          </a:p>
        </p:txBody>
      </p:sp>
      <p:graphicFrame>
        <p:nvGraphicFramePr>
          <p:cNvPr id="3" name="Table 2"/>
          <p:cNvGraphicFramePr>
            <a:graphicFrameLocks noGrp="1"/>
          </p:cNvGraphicFramePr>
          <p:nvPr/>
        </p:nvGraphicFramePr>
        <p:xfrm>
          <a:off x="640080" y="1051560"/>
          <a:ext cx="10911535" cy="2194560"/>
        </p:xfrm>
        <a:graphic>
          <a:graphicData uri="http://schemas.openxmlformats.org/drawingml/2006/table">
            <a:tbl>
              <a:tblPr firstRow="1" bandRow="1">
                <a:tableStyleId>{5C22544A-7EE6-4342-B048-85BDC9FD1C3A}</a:tableStyleId>
              </a:tblPr>
              <a:tblGrid>
                <a:gridCol w="5455767"/>
                <a:gridCol w="5455768"/>
              </a:tblGrid>
              <a:tr h="274320">
                <a:tc>
                  <a:txBody>
                    <a:bodyPr/>
                    <a:lstStyle/>
                    <a:p>
                      <a:r>
                        <a:rPr sz="1100" b="1">
                          <a:solidFill>
                            <a:srgbClr val="FFFFFF"/>
                          </a:solidFill>
                          <a:latin typeface="Segoe UI"/>
                        </a:rPr>
                        <a:t>Ralat / Gejala</a:t>
                      </a:r>
                    </a:p>
                  </a:txBody>
                  <a:tcPr marL="63500" marR="63500" marT="25400" marB="25400">
                    <a:solidFill>
                      <a:srgbClr val="1A2B5C"/>
                    </a:solidFill>
                  </a:tcPr>
                </a:tc>
                <a:tc>
                  <a:txBody>
                    <a:bodyPr/>
                    <a:lstStyle/>
                    <a:p>
                      <a:r>
                        <a:rPr sz="1100" b="1">
                          <a:solidFill>
                            <a:srgbClr val="FFFFFF"/>
                          </a:solidFill>
                          <a:latin typeface="Segoe UI"/>
                        </a:rPr>
                        <a:t>Pembaikan pantas</a:t>
                      </a:r>
                    </a:p>
                  </a:txBody>
                  <a:tcPr marL="63500" marR="63500" marT="25400" marB="25400">
                    <a:solidFill>
                      <a:srgbClr val="1A2B5C"/>
                    </a:solidFill>
                  </a:tcPr>
                </a:tc>
              </a:tr>
              <a:tr h="274320">
                <a:tc>
                  <a:txBody>
                    <a:bodyPr/>
                    <a:lstStyle/>
                    <a:p>
                      <a:r>
                        <a:rPr sz="1100" b="0">
                          <a:solidFill>
                            <a:srgbClr val="566371"/>
                          </a:solidFill>
                          <a:latin typeface="Segoe UI"/>
                        </a:rPr>
                        <a:t>setState() called after dispose()</a:t>
                      </a:r>
                    </a:p>
                  </a:txBody>
                  <a:tcPr marL="63500" marR="63500" marT="25400" marB="25400">
                    <a:solidFill>
                      <a:srgbClr val="FFFFFF"/>
                    </a:solidFill>
                  </a:tcPr>
                </a:tc>
                <a:tc>
                  <a:txBody>
                    <a:bodyPr/>
                    <a:lstStyle/>
                    <a:p>
                      <a:r>
                        <a:rPr sz="1100" b="0">
                          <a:solidFill>
                            <a:srgbClr val="566371"/>
                          </a:solidFill>
                          <a:latin typeface="Segoe UI"/>
                        </a:rPr>
                        <a:t>if (!mounted) return; sebelum setState dalam kod async</a:t>
                      </a:r>
                    </a:p>
                  </a:txBody>
                  <a:tcPr marL="63500" marR="63500" marT="25400" marB="25400">
                    <a:solidFill>
                      <a:srgbClr val="FFFFFF"/>
                    </a:solidFill>
                  </a:tcPr>
                </a:tc>
              </a:tr>
              <a:tr h="274320">
                <a:tc>
                  <a:txBody>
                    <a:bodyPr/>
                    <a:lstStyle/>
                    <a:p>
                      <a:r>
                        <a:rPr sz="1100" b="0">
                          <a:solidFill>
                            <a:srgbClr val="566371"/>
                          </a:solidFill>
                          <a:latin typeface="Segoe UI"/>
                        </a:rPr>
                        <a:t>Null check operator used on a null value</a:t>
                      </a:r>
                    </a:p>
                  </a:txBody>
                  <a:tcPr marL="63500" marR="63500" marT="25400" marB="25400">
                    <a:solidFill>
                      <a:srgbClr val="FFFFFF"/>
                    </a:solidFill>
                  </a:tcPr>
                </a:tc>
                <a:tc>
                  <a:txBody>
                    <a:bodyPr/>
                    <a:lstStyle/>
                    <a:p>
                      <a:r>
                        <a:rPr sz="1100" b="0">
                          <a:solidFill>
                            <a:srgbClr val="566371"/>
                          </a:solidFill>
                          <a:latin typeface="Segoe UI"/>
                        </a:rPr>
                        <a:t>Sahkan tidak null dahulu; guna validator untuk halang hantar awal</a:t>
                      </a:r>
                    </a:p>
                  </a:txBody>
                  <a:tcPr marL="63500" marR="63500" marT="25400" marB="25400">
                    <a:solidFill>
                      <a:srgbClr val="FFFFFF"/>
                    </a:solidFill>
                  </a:tcPr>
                </a:tc>
              </a:tr>
              <a:tr h="274320">
                <a:tc>
                  <a:txBody>
                    <a:bodyPr/>
                    <a:lstStyle/>
                    <a:p>
                      <a:r>
                        <a:rPr sz="1100" b="0">
                          <a:solidFill>
                            <a:srgbClr val="566371"/>
                          </a:solidFill>
                          <a:latin typeface="Segoe UI"/>
                        </a:rPr>
                        <a:t>RenderFlex overflowed by X pixels</a:t>
                      </a:r>
                    </a:p>
                  </a:txBody>
                  <a:tcPr marL="63500" marR="63500" marT="25400" marB="25400">
                    <a:solidFill>
                      <a:srgbClr val="FFFFFF"/>
                    </a:solidFill>
                  </a:tcPr>
                </a:tc>
                <a:tc>
                  <a:txBody>
                    <a:bodyPr/>
                    <a:lstStyle/>
                    <a:p>
                      <a:r>
                        <a:rPr sz="1100" b="0">
                          <a:solidFill>
                            <a:srgbClr val="566371"/>
                          </a:solidFill>
                          <a:latin typeface="Segoe UI"/>
                        </a:rPr>
                        <a:t>Bungkus dengan Expanded/Flexible, atau guna Wrap</a:t>
                      </a:r>
                    </a:p>
                  </a:txBody>
                  <a:tcPr marL="63500" marR="63500" marT="25400" marB="25400">
                    <a:solidFill>
                      <a:srgbClr val="FFFFFF"/>
                    </a:solidFill>
                  </a:tcPr>
                </a:tc>
              </a:tr>
              <a:tr h="274320">
                <a:tc>
                  <a:txBody>
                    <a:bodyPr/>
                    <a:lstStyle/>
                    <a:p>
                      <a:r>
                        <a:rPr sz="1100" b="0">
                          <a:solidFill>
                            <a:srgbClr val="566371"/>
                          </a:solidFill>
                          <a:latin typeface="Segoe UI"/>
                        </a:rPr>
                        <a:t>API sentiasa gagal / timeout</a:t>
                      </a:r>
                    </a:p>
                  </a:txBody>
                  <a:tcPr marL="63500" marR="63500" marT="25400" marB="25400">
                    <a:solidFill>
                      <a:srgbClr val="FFFFFF"/>
                    </a:solidFill>
                  </a:tcPr>
                </a:tc>
                <a:tc>
                  <a:txBody>
                    <a:bodyPr/>
                    <a:lstStyle/>
                    <a:p>
                      <a:r>
                        <a:rPr sz="1100" b="0">
                          <a:solidFill>
                            <a:srgbClr val="566371"/>
                          </a:solidFill>
                          <a:latin typeface="Segoe UI"/>
                        </a:rPr>
                        <a:t>Semak URL &amp; sambungan; try/catch + fallback data tempatan</a:t>
                      </a:r>
                    </a:p>
                  </a:txBody>
                  <a:tcPr marL="63500" marR="63500" marT="25400" marB="25400">
                    <a:solidFill>
                      <a:srgbClr val="FFFFFF"/>
                    </a:solidFill>
                  </a:tcPr>
                </a:tc>
              </a:tr>
              <a:tr h="274320">
                <a:tc>
                  <a:txBody>
                    <a:bodyPr/>
                    <a:lstStyle/>
                    <a:p>
                      <a:r>
                        <a:rPr sz="1100" b="0">
                          <a:solidFill>
                            <a:srgbClr val="566371"/>
                          </a:solidFill>
                          <a:latin typeface="Segoe UI"/>
                        </a:rPr>
                        <a:t>MissingPluginException</a:t>
                      </a:r>
                    </a:p>
                  </a:txBody>
                  <a:tcPr marL="63500" marR="63500" marT="25400" marB="25400">
                    <a:solidFill>
                      <a:srgbClr val="FFFFFF"/>
                    </a:solidFill>
                  </a:tcPr>
                </a:tc>
                <a:tc>
                  <a:txBody>
                    <a:bodyPr/>
                    <a:lstStyle/>
                    <a:p>
                      <a:r>
                        <a:rPr sz="1100" b="0">
                          <a:solidFill>
                            <a:srgbClr val="566371"/>
                          </a:solidFill>
                          <a:latin typeface="Segoe UI"/>
                        </a:rPr>
                        <a:t>Hot restart penuh (R) selepas flutter pub get pakej baharu</a:t>
                      </a:r>
                    </a:p>
                  </a:txBody>
                  <a:tcPr marL="63500" marR="63500" marT="25400" marB="25400">
                    <a:solidFill>
                      <a:srgbClr val="FFFFFF"/>
                    </a:solidFill>
                  </a:tcPr>
                </a:tc>
              </a:tr>
              <a:tr h="274320">
                <a:tc>
                  <a:txBody>
                    <a:bodyPr/>
                    <a:lstStyle/>
                    <a:p>
                      <a:r>
                        <a:rPr sz="1100" b="0">
                          <a:solidFill>
                            <a:srgbClr val="566371"/>
                          </a:solidFill>
                          <a:latin typeface="Segoe UI"/>
                        </a:rPr>
                        <a:t>Perubahan kod tak kelihatan</a:t>
                      </a:r>
                    </a:p>
                  </a:txBody>
                  <a:tcPr marL="63500" marR="63500" marT="25400" marB="25400">
                    <a:solidFill>
                      <a:srgbClr val="FFFFFF"/>
                    </a:solidFill>
                  </a:tcPr>
                </a:tc>
                <a:tc>
                  <a:txBody>
                    <a:bodyPr/>
                    <a:lstStyle/>
                    <a:p>
                      <a:r>
                        <a:rPr sz="1100" b="0">
                          <a:solidFill>
                            <a:srgbClr val="566371"/>
                          </a:solidFill>
                          <a:latin typeface="Segoe UI"/>
                        </a:rPr>
                        <a:t>Hot reload (r) tak cukup untuk main()/initState — guna hot restart (R)</a:t>
                      </a:r>
                    </a:p>
                  </a:txBody>
                  <a:tcPr marL="63500" marR="63500" marT="25400" marB="25400">
                    <a:solidFill>
                      <a:srgbClr val="FFFFFF"/>
                    </a:solidFill>
                  </a:tcPr>
                </a:tc>
              </a:tr>
              <a:tr h="274320">
                <a:tc>
                  <a:txBody>
                    <a:bodyPr/>
                    <a:lstStyle/>
                    <a:p>
                      <a:r>
                        <a:rPr sz="1100" b="0">
                          <a:solidFill>
                            <a:srgbClr val="566371"/>
                          </a:solidFill>
                          <a:latin typeface="Segoe UI"/>
                        </a:rPr>
                        <a:t>type 'Null' is not a subtype of 'String' dalam fromJson</a:t>
                      </a:r>
                    </a:p>
                  </a:txBody>
                  <a:tcPr marL="63500" marR="63500" marT="25400" marB="25400">
                    <a:solidFill>
                      <a:srgbClr val="FFFFFF"/>
                    </a:solidFill>
                  </a:tcPr>
                </a:tc>
                <a:tc>
                  <a:txBody>
                    <a:bodyPr/>
                    <a:lstStyle/>
                    <a:p>
                      <a:r>
                        <a:rPr sz="1100" b="0">
                          <a:solidFill>
                            <a:srgbClr val="566371"/>
                          </a:solidFill>
                          <a:latin typeface="Segoe UI"/>
                        </a:rPr>
                        <a:t>Jadikan medan String? atau beri lalai: json['x'] as String? ?? ''</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Checkpoint 12.15 → Sambung 2.45</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12.00 – 12.15: senaraikan apa yang belum siap — jangan simpan dalam kepala</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Rehat 1.00 – 2.45 (lebih panjang hari ini)</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SESI 9 bermula 2.45: 30–45 minit pertama untuk siapkan MVP</a:t>
            </a:r>
          </a:p>
        </p:txBody>
      </p:sp>
      <p:sp>
        <p:nvSpPr>
          <p:cNvPr id="6" name="TextBox 5"/>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Jurulatih pusing membantu pasukan yang tersekat — guna jadual troubleshooting</a:t>
            </a:r>
          </a:p>
        </p:txBody>
      </p:sp>
      <p:sp>
        <p:nvSpPr>
          <p:cNvPr id="7" name="TextBox 6"/>
          <p:cNvSpPr txBox="1"/>
          <p:nvPr/>
        </p:nvSpPr>
        <p:spPr>
          <a:xfrm>
            <a:off x="804671" y="19476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Sudah siap awal? Cuba: carian, tapisan SPM/STAM, senarai semak dokumen</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1A2B5C"/>
        </a:solidFill>
        <a:effectLst/>
      </p:bgPr>
    </p:bg>
    <p:spTree>
      <p:nvGrpSpPr>
        <p:cNvPr id="1" name=""/>
        <p:cNvGrpSpPr/>
        <p:nvPr/>
      </p:nvGrpSpPr>
      <p:grpSpPr/>
      <p:sp>
        <p:nvSpPr>
          <p:cNvPr id="2" name="TextBox 1"/>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300" b="1">
                <a:solidFill>
                  <a:srgbClr val="D4A017"/>
                </a:solidFill>
                <a:latin typeface="Segoe UI"/>
              </a:rPr>
              <a:t>SESI 9 · 2.45 – 5.00</a:t>
            </a:r>
          </a:p>
        </p:txBody>
      </p:sp>
      <p:sp>
        <p:nvSpPr>
          <p:cNvPr id="3" name="TextBox 2"/>
          <p:cNvSpPr txBox="1"/>
          <p:nvPr/>
        </p:nvSpPr>
        <p:spPr>
          <a:xfrm>
            <a:off x="640080" y="1554480"/>
            <a:ext cx="10911535" cy="566928"/>
          </a:xfrm>
          <a:prstGeom prst="rect">
            <a:avLst/>
          </a:prstGeom>
          <a:noFill/>
        </p:spPr>
        <p:txBody>
          <a:bodyPr wrap="square" anchor="t" lIns="38100" rIns="38100" tIns="25400" bIns="25400">
            <a:spAutoFit/>
          </a:bodyPr>
          <a:lstStyle/>
          <a:p>
            <a:pPr algn="l">
              <a:lnSpc>
                <a:spcPct val="105000"/>
              </a:lnSpc>
            </a:pPr>
            <a:r>
              <a:rPr sz="3400" b="1">
                <a:solidFill>
                  <a:srgbClr val="FFFFFF"/>
                </a:solidFill>
                <a:latin typeface="Segoe UI"/>
              </a:rPr>
              <a:t>Clean Code &amp; Refactoring</a:t>
            </a:r>
          </a:p>
        </p:txBody>
      </p:sp>
      <p:sp>
        <p:nvSpPr>
          <p:cNvPr id="4" name="TextBox 3"/>
          <p:cNvSpPr txBox="1"/>
          <p:nvPr/>
        </p:nvSpPr>
        <p:spPr>
          <a:xfrm>
            <a:off x="640080" y="2231136"/>
            <a:ext cx="10911535" cy="384048"/>
          </a:xfrm>
          <a:prstGeom prst="rect">
            <a:avLst/>
          </a:prstGeom>
          <a:noFill/>
        </p:spPr>
        <p:txBody>
          <a:bodyPr wrap="square" anchor="t" lIns="38100" rIns="38100" tIns="25400" bIns="25400">
            <a:spAutoFit/>
          </a:bodyPr>
          <a:lstStyle/>
          <a:p>
            <a:pPr algn="l">
              <a:lnSpc>
                <a:spcPct val="105000"/>
              </a:lnSpc>
            </a:pPr>
            <a:r>
              <a:rPr sz="1800" b="1">
                <a:solidFill>
                  <a:srgbClr val="D4A017"/>
                </a:solidFill>
                <a:latin typeface="Segoe UI"/>
              </a:rPr>
              <a:t>Kod yang berfungsi sahaja tidak cukup — ia perlu boleh dibaca &amp; diselenggara</a:t>
            </a:r>
          </a:p>
        </p:txBody>
      </p:sp>
      <p:sp>
        <p:nvSpPr>
          <p:cNvPr id="5" name="TextBox 4"/>
          <p:cNvSpPr txBox="1"/>
          <p:nvPr/>
        </p:nvSpPr>
        <p:spPr>
          <a:xfrm>
            <a:off x="731519" y="268833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Prinsip kod bersih dalam Flutter</a:t>
            </a:r>
          </a:p>
        </p:txBody>
      </p:sp>
      <p:sp>
        <p:nvSpPr>
          <p:cNvPr id="6" name="TextBox 5"/>
          <p:cNvSpPr txBox="1"/>
          <p:nvPr/>
        </p:nvSpPr>
        <p:spPr>
          <a:xfrm>
            <a:off x="731519" y="296265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Refactoring: sebelum → selepas</a:t>
            </a:r>
          </a:p>
        </p:txBody>
      </p:sp>
      <p:sp>
        <p:nvSpPr>
          <p:cNvPr id="7" name="TextBox 6"/>
          <p:cNvSpPr txBox="1"/>
          <p:nvPr/>
        </p:nvSpPr>
        <p:spPr>
          <a:xfrm>
            <a:off x="731519" y="323697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Demo aplikasi &amp; sijil</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246888"/>
          </a:xfrm>
          <a:prstGeom prst="rect">
            <a:avLst/>
          </a:prstGeom>
          <a:noFill/>
        </p:spPr>
        <p:txBody>
          <a:bodyPr wrap="square" anchor="t" lIns="38100" rIns="38100" tIns="25400" bIns="25400">
            <a:spAutoFit/>
          </a:bodyPr>
          <a:lstStyle/>
          <a:p>
            <a:pPr algn="l">
              <a:lnSpc>
                <a:spcPct val="105000"/>
              </a:lnSpc>
            </a:pPr>
            <a:r>
              <a:rPr sz="1700" b="1">
                <a:solidFill>
                  <a:srgbClr val="1A1A2E"/>
                </a:solidFill>
                <a:latin typeface="Segoe UI"/>
              </a:rPr>
              <a:t>Kod anda akan dibaca jauh lebih kerap daripada ia ditulis.</a:t>
            </a:r>
          </a:p>
        </p:txBody>
      </p:sp>
      <p:sp>
        <p:nvSpPr>
          <p:cNvPr id="3" name="TextBox 2"/>
          <p:cNvSpPr txBox="1"/>
          <p:nvPr/>
        </p:nvSpPr>
        <p:spPr>
          <a:xfrm>
            <a:off x="640080" y="822960"/>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Oleh rakan sepasukan, oleh penyelenggara akan datang — dan oleh diri anda sendiri 6 bulan dari sekarang.</a:t>
            </a:r>
          </a:p>
        </p:txBody>
      </p:sp>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Penamaan Bermakna &amp; Komen "Kenapa"</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Nama menerangkan tujuan:</a:t>
            </a:r>
          </a:p>
        </p:txBody>
      </p:sp>
      <p:sp>
        <p:nvSpPr>
          <p:cNvPr id="4" name="TextBox 3"/>
          <p:cNvSpPr txBox="1"/>
          <p:nvPr/>
        </p:nvSpPr>
        <p:spPr>
          <a:xfrm>
            <a:off x="804671" y="137160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EntryCategory.accepts(applicant)</a:t>
            </a:r>
          </a:p>
        </p:txBody>
      </p:sp>
      <p:sp>
        <p:nvSpPr>
          <p:cNvPr id="5" name="TextBox 4"/>
          <p:cNvSpPr txBox="1"/>
          <p:nvPr/>
        </p:nvSpPr>
        <p:spPr>
          <a:xfrm>
            <a:off x="804671" y="159562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check(x)</a:t>
            </a:r>
          </a:p>
        </p:txBody>
      </p:sp>
      <p:sp>
        <p:nvSpPr>
          <p:cNvPr id="6" name="TextBox 5"/>
          <p:cNvSpPr txBox="1"/>
          <p:nvPr/>
        </p:nvSpPr>
        <p:spPr>
          <a:xfrm>
            <a:off x="640080" y="1892808"/>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Komen jelaskan kenapa, bukan apa:</a:t>
            </a:r>
          </a:p>
        </p:txBody>
      </p:sp>
      <p:sp>
        <p:nvSpPr>
          <p:cNvPr id="7" name="Rounded Rectangle 6"/>
          <p:cNvSpPr/>
          <p:nvPr/>
        </p:nvSpPr>
        <p:spPr>
          <a:xfrm>
            <a:off x="640080" y="2212848"/>
            <a:ext cx="10911535" cy="170078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2304288"/>
            <a:ext cx="10655503" cy="1517904"/>
          </a:xfrm>
          <a:prstGeom prst="rect">
            <a:avLst/>
          </a:prstGeom>
          <a:noFill/>
        </p:spPr>
        <p:txBody>
          <a:bodyPr wrap="none">
            <a:spAutoFit/>
          </a:bodyPr>
          <a:lstStyle/>
          <a:p>
            <a:pPr>
              <a:lnSpc>
                <a:spcPct val="100000"/>
              </a:lnSpc>
            </a:pPr>
            <a:r>
              <a:rPr sz="1100">
                <a:solidFill>
                  <a:srgbClr val="E6E8EE"/>
                </a:solidFill>
                <a:latin typeface="Consolas"/>
              </a:rPr>
              <a:t>// ❌ komen "apa" — kod sudah jelas</a:t>
            </a:r>
          </a:p>
          <a:p>
            <a:pPr>
              <a:lnSpc>
                <a:spcPct val="100000"/>
              </a:lnSpc>
            </a:pPr>
            <a:r>
              <a:rPr sz="1100">
                <a:solidFill>
                  <a:srgbClr val="E6E8EE"/>
                </a:solidFill>
                <a:latin typeface="Consolas"/>
              </a:rPr>
              <a:t>// tambah 1 pada kaunter</a:t>
            </a:r>
          </a:p>
          <a:p>
            <a:pPr>
              <a:lnSpc>
                <a:spcPct val="100000"/>
              </a:lnSpc>
            </a:pPr>
            <a:r>
              <a:rPr sz="1100">
                <a:solidFill>
                  <a:srgbClr val="E6E8EE"/>
                </a:solidFill>
                <a:latin typeface="Consolas"/>
              </a:rPr>
              <a:t>counter++;</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 ✅ komen "kenapa" — jelaskan sebab</a:t>
            </a:r>
          </a:p>
          <a:p>
            <a:pPr>
              <a:lnSpc>
                <a:spcPct val="100000"/>
              </a:lnSpc>
            </a:pPr>
            <a:r>
              <a:rPr sz="1100">
                <a:solidFill>
                  <a:srgbClr val="E6E8EE"/>
                </a:solidFill>
                <a:latin typeface="Consolas"/>
              </a:rPr>
              <a:t>// Guna fallback tempatan supaya kelas</a:t>
            </a:r>
          </a:p>
          <a:p>
            <a:pPr>
              <a:lnSpc>
                <a:spcPct val="100000"/>
              </a:lnSpc>
            </a:pPr>
            <a:r>
              <a:rPr sz="1100">
                <a:solidFill>
                  <a:srgbClr val="E6E8EE"/>
                </a:solidFill>
                <a:latin typeface="Consolas"/>
              </a:rPr>
              <a:t>// boleh diteruskan tanpa internet.</a:t>
            </a:r>
          </a:p>
          <a:p>
            <a:pPr>
              <a:lnSpc>
                <a:spcPct val="100000"/>
              </a:lnSpc>
            </a:pPr>
            <a:r>
              <a:rPr sz="1100">
                <a:solidFill>
                  <a:srgbClr val="E6E8EE"/>
                </a:solidFill>
                <a:latin typeface="Consolas"/>
              </a:rPr>
              <a:t>return _fallback();</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Widget Kecil &amp; Tanggungjawab Tunggal</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Setiap widget buat satu perkara — build() yang panjang = petanda perlu dipecahkan</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Row dalam Column dalam Row dalam Padding… melebihi 3–4 lapisan → ekstrak sub-pokok ke widget berasingan</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Contoh sebenar: CategoryPill, _ChoiceDropdown dalam application_form_screen.dart</a:t>
            </a:r>
          </a:p>
        </p:txBody>
      </p:sp>
      <p:sp>
        <p:nvSpPr>
          <p:cNvPr id="6" name="TextBox 5"/>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SRP: satu kelas = satu sebab untuk berubah — ProgrammeService urus data, ProgrammeListScreen urus paparan</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const — Beritahu Flutter "Ini Tak Berubah"</a:t>
            </a:r>
          </a:p>
        </p:txBody>
      </p:sp>
      <p:sp>
        <p:nvSpPr>
          <p:cNvPr id="3" name="Rounded Rectangle 2"/>
          <p:cNvSpPr/>
          <p:nvPr/>
        </p:nvSpPr>
        <p:spPr>
          <a:xfrm>
            <a:off x="640080" y="1051560"/>
            <a:ext cx="10911535" cy="132588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143000"/>
          </a:xfrm>
          <a:prstGeom prst="rect">
            <a:avLst/>
          </a:prstGeom>
          <a:noFill/>
        </p:spPr>
        <p:txBody>
          <a:bodyPr wrap="none">
            <a:spAutoFit/>
          </a:bodyPr>
          <a:lstStyle/>
          <a:p>
            <a:pPr>
              <a:lnSpc>
                <a:spcPct val="100000"/>
              </a:lnSpc>
            </a:pPr>
            <a:r>
              <a:rPr sz="1100">
                <a:solidFill>
                  <a:srgbClr val="E6E8EE"/>
                </a:solidFill>
                <a:latin typeface="Consolas"/>
              </a:rPr>
              <a:t>const SizedBox(height: 12),</a:t>
            </a:r>
          </a:p>
          <a:p>
            <a:pPr>
              <a:lnSpc>
                <a:spcPct val="100000"/>
              </a:lnSpc>
            </a:pPr>
            <a:r>
              <a:rPr sz="1100">
                <a:solidFill>
                  <a:srgbClr val="E6E8EE"/>
                </a:solidFill>
                <a:latin typeface="Consolas"/>
              </a:rPr>
              <a:t>const Icon(Icons.school),</a:t>
            </a:r>
          </a:p>
          <a:p>
            <a:pPr>
              <a:lnSpc>
                <a:spcPct val="100000"/>
              </a:lnSpc>
            </a:pPr>
            <a:r>
              <a:rPr sz="1100">
                <a:solidFill>
                  <a:srgbClr val="E6E8EE"/>
                </a:solidFill>
                <a:latin typeface="Consolas"/>
              </a:rPr>
              <a:t>const Text(</a:t>
            </a:r>
          </a:p>
          <a:p>
            <a:pPr>
              <a:lnSpc>
                <a:spcPct val="100000"/>
              </a:lnSpc>
            </a:pPr>
            <a:r>
              <a:rPr sz="1100">
                <a:solidFill>
                  <a:srgbClr val="E6E8EE"/>
                </a:solidFill>
                <a:latin typeface="Consolas"/>
              </a:rPr>
              <a:t>  'eTT Mobile',</a:t>
            </a:r>
          </a:p>
          <a:p>
            <a:pPr>
              <a:lnSpc>
                <a:spcPct val="100000"/>
              </a:lnSpc>
            </a:pPr>
            <a:r>
              <a:rPr sz="1100">
                <a:solidFill>
                  <a:srgbClr val="E6E8EE"/>
                </a:solidFill>
                <a:latin typeface="Consolas"/>
              </a:rPr>
              <a:t>  style: TextStyle(fontWeight: FontWeight.bold),</a:t>
            </a:r>
          </a:p>
          <a:p>
            <a:pPr>
              <a:lnSpc>
                <a:spcPct val="100000"/>
              </a:lnSpc>
            </a:pPr>
            <a:r>
              <a:rPr sz="1100">
                <a:solidFill>
                  <a:srgbClr val="E6E8EE"/>
                </a:solidFill>
                <a:latin typeface="Consolas"/>
              </a:rPr>
              <a:t>),</a:t>
            </a:r>
          </a:p>
        </p:txBody>
      </p:sp>
      <p:sp>
        <p:nvSpPr>
          <p:cNvPr id="5" name="TextBox 4"/>
          <p:cNvSpPr txBox="1"/>
          <p:nvPr/>
        </p:nvSpPr>
        <p:spPr>
          <a:xfrm>
            <a:off x="804671" y="248716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Widget const dibina sekali — Flutter langkau rebuild yang tidak perlu</a:t>
            </a:r>
          </a:p>
        </p:txBody>
      </p:sp>
      <p:sp>
        <p:nvSpPr>
          <p:cNvPr id="6" name="TextBox 5"/>
          <p:cNvSpPr txBox="1"/>
          <p:nvPr/>
        </p:nvSpPr>
        <p:spPr>
          <a:xfrm>
            <a:off x="804671" y="271119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Lint prefer_const_constructors (dalam flutter_lints) mencadangkannya secara automatik — terima cadangannya</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Struktur Folder Konsisten</a:t>
            </a:r>
          </a:p>
        </p:txBody>
      </p:sp>
      <p:sp>
        <p:nvSpPr>
          <p:cNvPr id="3" name="Rounded Rectangle 2"/>
          <p:cNvSpPr/>
          <p:nvPr/>
        </p:nvSpPr>
        <p:spPr>
          <a:xfrm>
            <a:off x="640080" y="1051560"/>
            <a:ext cx="10911535" cy="132588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1143000"/>
          </a:xfrm>
          <a:prstGeom prst="rect">
            <a:avLst/>
          </a:prstGeom>
          <a:noFill/>
        </p:spPr>
        <p:txBody>
          <a:bodyPr wrap="none">
            <a:spAutoFit/>
          </a:bodyPr>
          <a:lstStyle/>
          <a:p>
            <a:pPr>
              <a:lnSpc>
                <a:spcPct val="100000"/>
              </a:lnSpc>
            </a:pPr>
            <a:r>
              <a:rPr sz="1100">
                <a:solidFill>
                  <a:srgbClr val="E6E8EE"/>
                </a:solidFill>
                <a:latin typeface="Consolas"/>
              </a:rPr>
              <a:t>lib/</a:t>
            </a:r>
          </a:p>
          <a:p>
            <a:pPr>
              <a:lnSpc>
                <a:spcPct val="100000"/>
              </a:lnSpc>
            </a:pPr>
            <a:r>
              <a:rPr sz="1100">
                <a:solidFill>
                  <a:srgbClr val="E6E8EE"/>
                </a:solidFill>
                <a:latin typeface="Consolas"/>
              </a:rPr>
              <a:t>├── models/     # struktur data</a:t>
            </a:r>
          </a:p>
          <a:p>
            <a:pPr>
              <a:lnSpc>
                <a:spcPct val="100000"/>
              </a:lnSpc>
            </a:pPr>
            <a:r>
              <a:rPr sz="1100">
                <a:solidFill>
                  <a:srgbClr val="E6E8EE"/>
                </a:solidFill>
                <a:latin typeface="Consolas"/>
              </a:rPr>
              <a:t>├── data/       # data statik/contoh</a:t>
            </a:r>
          </a:p>
          <a:p>
            <a:pPr>
              <a:lnSpc>
                <a:spcPct val="100000"/>
              </a:lnSpc>
            </a:pPr>
            <a:r>
              <a:rPr sz="1100">
                <a:solidFill>
                  <a:srgbClr val="E6E8EE"/>
                </a:solidFill>
                <a:latin typeface="Consolas"/>
              </a:rPr>
              <a:t>├── services/   # panggilan API</a:t>
            </a:r>
          </a:p>
          <a:p>
            <a:pPr>
              <a:lnSpc>
                <a:spcPct val="100000"/>
              </a:lnSpc>
            </a:pPr>
            <a:r>
              <a:rPr sz="1100">
                <a:solidFill>
                  <a:srgbClr val="E6E8EE"/>
                </a:solidFill>
                <a:latin typeface="Consolas"/>
              </a:rPr>
              <a:t>├── widgets/    # komponen guna semula</a:t>
            </a:r>
          </a:p>
          <a:p>
            <a:pPr>
              <a:lnSpc>
                <a:spcPct val="100000"/>
              </a:lnSpc>
            </a:pPr>
            <a:r>
              <a:rPr sz="1100">
                <a:solidFill>
                  <a:srgbClr val="E6E8EE"/>
                </a:solidFill>
                <a:latin typeface="Consolas"/>
              </a:rPr>
              <a:t>└── screens/    # satu skrin penuh</a:t>
            </a:r>
          </a:p>
        </p:txBody>
      </p:sp>
      <p:sp>
        <p:nvSpPr>
          <p:cNvPr id="5" name="TextBox 4"/>
          <p:cNvSpPr txBox="1"/>
          <p:nvPr/>
        </p:nvSpPr>
        <p:spPr>
          <a:xfrm>
            <a:off x="804671" y="248716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Struktur sebenar projek/ett_mobile/lib/</a:t>
            </a:r>
          </a:p>
        </p:txBody>
      </p:sp>
      <p:sp>
        <p:nvSpPr>
          <p:cNvPr id="6" name="TextBox 5"/>
          <p:cNvSpPr txBox="1"/>
          <p:nvPr/>
        </p:nvSpPr>
        <p:spPr>
          <a:xfrm>
            <a:off x="804671" y="271119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Setiap lapisan ada tanggungjawab sendiri</a:t>
            </a:r>
          </a:p>
        </p:txBody>
      </p:sp>
      <p:sp>
        <p:nvSpPr>
          <p:cNvPr id="7" name="TextBox 6"/>
          <p:cNvSpPr txBox="1"/>
          <p:nvPr/>
        </p:nvSpPr>
        <p:spPr>
          <a:xfrm>
            <a:off x="804671" y="293522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Mudah cari: "borang di mana?" → screens/</a:t>
            </a:r>
          </a:p>
        </p:txBody>
      </p:sp>
      <p:sp>
        <p:nvSpPr>
          <p:cNvPr id="8" name="TextBox 7"/>
          <p:cNvSpPr txBox="1"/>
          <p:nvPr/>
        </p:nvSpPr>
        <p:spPr>
          <a:xfrm>
            <a:off x="804671" y="315925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Mudah guna semula: widgets/ dipakai merentasi skrin</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Dua Arahan Sebelum Setiap Commit</a:t>
            </a:r>
          </a:p>
        </p:txBody>
      </p:sp>
      <p:sp>
        <p:nvSpPr>
          <p:cNvPr id="3" name="Rounded Rectangle 2"/>
          <p:cNvSpPr/>
          <p:nvPr/>
        </p:nvSpPr>
        <p:spPr>
          <a:xfrm>
            <a:off x="640080" y="1051560"/>
            <a:ext cx="10911535" cy="763524"/>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580644"/>
          </a:xfrm>
          <a:prstGeom prst="rect">
            <a:avLst/>
          </a:prstGeom>
          <a:noFill/>
        </p:spPr>
        <p:txBody>
          <a:bodyPr wrap="none">
            <a:spAutoFit/>
          </a:bodyPr>
          <a:lstStyle/>
          <a:p>
            <a:pPr>
              <a:lnSpc>
                <a:spcPct val="100000"/>
              </a:lnSpc>
            </a:pPr>
            <a:r>
              <a:rPr sz="1100">
                <a:solidFill>
                  <a:srgbClr val="E6E8EE"/>
                </a:solidFill>
                <a:latin typeface="Consolas"/>
              </a:rPr>
              <a:t># tabiat kod bersih — jalankan sebelum setiap commit</a:t>
            </a:r>
          </a:p>
          <a:p>
            <a:pPr>
              <a:lnSpc>
                <a:spcPct val="100000"/>
              </a:lnSpc>
            </a:pPr>
            <a:r>
              <a:rPr sz="1100">
                <a:solidFill>
                  <a:srgbClr val="E6E8EE"/>
                </a:solidFill>
                <a:latin typeface="Consolas"/>
              </a:rPr>
              <a:t>dart format .</a:t>
            </a:r>
          </a:p>
          <a:p>
            <a:pPr>
              <a:lnSpc>
                <a:spcPct val="100000"/>
              </a:lnSpc>
            </a:pPr>
            <a:r>
              <a:rPr sz="1100">
                <a:solidFill>
                  <a:srgbClr val="E6E8EE"/>
                </a:solidFill>
                <a:latin typeface="Consolas"/>
              </a:rPr>
              <a:t>flutter analyze</a:t>
            </a:r>
          </a:p>
        </p:txBody>
      </p:sp>
      <p:sp>
        <p:nvSpPr>
          <p:cNvPr id="5" name="TextBox 4"/>
          <p:cNvSpPr txBox="1"/>
          <p:nvPr/>
        </p:nvSpPr>
        <p:spPr>
          <a:xfrm>
            <a:off x="804671" y="192481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dart format . — gaya seragam automatik, tiada perdebatan gaya peribadi</a:t>
            </a:r>
          </a:p>
        </p:txBody>
      </p:sp>
      <p:sp>
        <p:nvSpPr>
          <p:cNvPr id="6" name="TextBox 5"/>
          <p:cNvSpPr txBox="1"/>
          <p:nvPr/>
        </p:nvSpPr>
        <p:spPr>
          <a:xfrm>
            <a:off x="804671" y="214884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flutter analyze — sifar amaran sebelum kod dikira siap</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Refactoring — Ubah Struktur, Kekal Kelakuan</a:t>
            </a:r>
          </a:p>
        </p:txBody>
      </p:sp>
      <p:sp>
        <p:nvSpPr>
          <p:cNvPr id="3" name="TextBox 2"/>
          <p:cNvSpPr txBox="1"/>
          <p:nvPr/>
        </p:nvSpPr>
        <p:spPr>
          <a:xfrm>
            <a:off x="731519" y="1051560"/>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1.  Kenal pasti bahagian build() yang berulang atau &gt; 15–20 baris untuk satu "konsep visual"</a:t>
            </a:r>
          </a:p>
        </p:txBody>
      </p:sp>
      <p:sp>
        <p:nvSpPr>
          <p:cNvPr id="4" name="TextBox 3"/>
          <p:cNvSpPr txBox="1"/>
          <p:nvPr/>
        </p:nvSpPr>
        <p:spPr>
          <a:xfrm>
            <a:off x="731519" y="1289304"/>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2.  Cipta kelas StatelessWidget baharu; pindahkan kod, tukar rujukan induk kepada parameter constructor</a:t>
            </a:r>
          </a:p>
        </p:txBody>
      </p:sp>
      <p:sp>
        <p:nvSpPr>
          <p:cNvPr id="5" name="TextBox 4"/>
          <p:cNvSpPr txBox="1"/>
          <p:nvPr/>
        </p:nvSpPr>
        <p:spPr>
          <a:xfrm>
            <a:off x="731519" y="1527048"/>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3.  Tambah const pada constructor baharu (dan di tempat ia dipanggil)</a:t>
            </a:r>
          </a:p>
        </p:txBody>
      </p:sp>
      <p:sp>
        <p:nvSpPr>
          <p:cNvPr id="6" name="TextBox 5"/>
          <p:cNvSpPr txBox="1"/>
          <p:nvPr/>
        </p:nvSpPr>
        <p:spPr>
          <a:xfrm>
            <a:off x="731519" y="1764792"/>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4.  Ganti kod asal dengan pemanggilan widget baharu</a:t>
            </a:r>
          </a:p>
        </p:txBody>
      </p:sp>
      <p:sp>
        <p:nvSpPr>
          <p:cNvPr id="7" name="TextBox 6"/>
          <p:cNvSpPr txBox="1"/>
          <p:nvPr/>
        </p:nvSpPr>
        <p:spPr>
          <a:xfrm>
            <a:off x="731519" y="2002536"/>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5.  flutter analyze + uji semula visual — kelakuan mesti kekal sama</a:t>
            </a:r>
          </a:p>
        </p:txBody>
      </p:sp>
      <p:sp>
        <p:nvSpPr>
          <p:cNvPr id="8" name="TextBox 7"/>
          <p:cNvSpPr txBox="1"/>
          <p:nvPr/>
        </p:nvSpPr>
        <p:spPr>
          <a:xfrm>
            <a:off x="640080" y="2313432"/>
            <a:ext cx="10911535" cy="493776"/>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Kerja pindah kod berulang begini pun sesuai diserahkan pada AI — "Ekstrak bahagian cip kategori dalam build() ini ke StatelessWidget bernama CategoryPill, kekalkan gaya sama" — kemudian sahkan paparan tidak berubah.</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Sebelum → Selepas</a:t>
            </a:r>
          </a:p>
        </p:txBody>
      </p:sp>
      <p:sp>
        <p:nvSpPr>
          <p:cNvPr id="3" name="TextBox 2"/>
          <p:cNvSpPr txBox="1"/>
          <p:nvPr/>
        </p:nvSpPr>
        <p:spPr>
          <a:xfrm>
            <a:off x="640080" y="1051560"/>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 Sebelum — satu build() panjang:</a:t>
            </a:r>
          </a:p>
        </p:txBody>
      </p:sp>
      <p:sp>
        <p:nvSpPr>
          <p:cNvPr id="4" name="Rounded Rectangle 3"/>
          <p:cNvSpPr/>
          <p:nvPr/>
        </p:nvSpPr>
        <p:spPr>
          <a:xfrm>
            <a:off x="640080" y="1371600"/>
            <a:ext cx="10911535" cy="282549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68096" y="1463040"/>
            <a:ext cx="10655503" cy="2642615"/>
          </a:xfrm>
          <a:prstGeom prst="rect">
            <a:avLst/>
          </a:prstGeom>
          <a:noFill/>
        </p:spPr>
        <p:txBody>
          <a:bodyPr wrap="none">
            <a:spAutoFit/>
          </a:bodyPr>
          <a:lstStyle/>
          <a:p>
            <a:pPr>
              <a:lnSpc>
                <a:spcPct val="100000"/>
              </a:lnSpc>
            </a:pPr>
            <a:r>
              <a:rPr sz="1100">
                <a:solidFill>
                  <a:srgbClr val="E6E8EE"/>
                </a:solidFill>
                <a:latin typeface="Consolas"/>
              </a:rPr>
              <a:t>Widget build(BuildContext context) {</a:t>
            </a:r>
          </a:p>
          <a:p>
            <a:pPr>
              <a:lnSpc>
                <a:spcPct val="100000"/>
              </a:lnSpc>
            </a:pPr>
            <a:r>
              <a:rPr sz="1100">
                <a:solidFill>
                  <a:srgbClr val="E6E8EE"/>
                </a:solidFill>
                <a:latin typeface="Consolas"/>
              </a:rPr>
              <a:t>  return Card(</a:t>
            </a:r>
          </a:p>
          <a:p>
            <a:pPr>
              <a:lnSpc>
                <a:spcPct val="100000"/>
              </a:lnSpc>
            </a:pPr>
            <a:r>
              <a:rPr sz="1100">
                <a:solidFill>
                  <a:srgbClr val="E6E8EE"/>
                </a:solidFill>
                <a:latin typeface="Consolas"/>
              </a:rPr>
              <a:t>    child: Column(children: [</a:t>
            </a:r>
          </a:p>
          <a:p>
            <a:pPr>
              <a:lnSpc>
                <a:spcPct val="100000"/>
              </a:lnSpc>
            </a:pPr>
            <a:r>
              <a:rPr sz="1100">
                <a:solidFill>
                  <a:srgbClr val="E6E8EE"/>
                </a:solidFill>
                <a:latin typeface="Consolas"/>
              </a:rPr>
              <a:t>      Row(children: [</a:t>
            </a:r>
          </a:p>
          <a:p>
            <a:pPr>
              <a:lnSpc>
                <a:spcPct val="100000"/>
              </a:lnSpc>
            </a:pPr>
            <a:r>
              <a:rPr sz="1100">
                <a:solidFill>
                  <a:srgbClr val="E6E8EE"/>
                </a:solidFill>
                <a:latin typeface="Consolas"/>
              </a:rPr>
              <a:t>        Text(flag), Expanded(</a:t>
            </a:r>
          </a:p>
          <a:p>
            <a:pPr>
              <a:lnSpc>
                <a:spcPct val="100000"/>
              </a:lnSpc>
            </a:pPr>
            <a:r>
              <a:rPr sz="1100">
                <a:solidFill>
                  <a:srgbClr val="E6E8EE"/>
                </a:solidFill>
                <a:latin typeface="Consolas"/>
              </a:rPr>
              <a:t>          child: Column(children: [</a:t>
            </a:r>
          </a:p>
          <a:p>
            <a:pPr>
              <a:lnSpc>
                <a:spcPct val="100000"/>
              </a:lnSpc>
            </a:pPr>
            <a:r>
              <a:rPr sz="1100">
                <a:solidFill>
                  <a:srgbClr val="E6E8EE"/>
                </a:solidFill>
                <a:latin typeface="Consolas"/>
              </a:rPr>
              <a:t>            Text(universityName),</a:t>
            </a:r>
          </a:p>
          <a:p>
            <a:pPr>
              <a:lnSpc>
                <a:spcPct val="100000"/>
              </a:lnSpc>
            </a:pPr>
            <a:r>
              <a:rPr sz="1100">
                <a:solidFill>
                  <a:srgbClr val="E6E8EE"/>
                </a:solidFill>
                <a:latin typeface="Consolas"/>
              </a:rPr>
              <a:t>            Text(fieldOfStudy), //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 // ... 40+ baris lagi</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p:txBody>
      </p:sp>
      <p:sp>
        <p:nvSpPr>
          <p:cNvPr id="6" name="TextBox 5"/>
          <p:cNvSpPr txBox="1"/>
          <p:nvPr/>
        </p:nvSpPr>
        <p:spPr>
          <a:xfrm>
            <a:off x="640080" y="4306824"/>
            <a:ext cx="10911535" cy="246888"/>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 Selepas — komponen kecil:</a:t>
            </a:r>
          </a:p>
        </p:txBody>
      </p:sp>
      <p:sp>
        <p:nvSpPr>
          <p:cNvPr id="7" name="Rounded Rectangle 6"/>
          <p:cNvSpPr/>
          <p:nvPr/>
        </p:nvSpPr>
        <p:spPr>
          <a:xfrm>
            <a:off x="640080" y="4626864"/>
            <a:ext cx="10911535" cy="1819656"/>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4718303"/>
            <a:ext cx="10655503" cy="1636776"/>
          </a:xfrm>
          <a:prstGeom prst="rect">
            <a:avLst/>
          </a:prstGeom>
          <a:noFill/>
        </p:spPr>
        <p:txBody>
          <a:bodyPr wrap="none">
            <a:spAutoFit/>
          </a:bodyPr>
          <a:lstStyle/>
          <a:p>
            <a:pPr>
              <a:lnSpc>
                <a:spcPct val="100000"/>
              </a:lnSpc>
            </a:pPr>
            <a:r>
              <a:rPr sz="1100">
                <a:solidFill>
                  <a:srgbClr val="E6E8EE"/>
                </a:solidFill>
                <a:latin typeface="Consolas"/>
              </a:rPr>
              <a:t>Widget build(BuildContext context) {</a:t>
            </a:r>
          </a:p>
          <a:p>
            <a:pPr>
              <a:lnSpc>
                <a:spcPct val="100000"/>
              </a:lnSpc>
            </a:pPr>
            <a:r>
              <a:rPr sz="1100">
                <a:solidFill>
                  <a:srgbClr val="E6E8EE"/>
                </a:solidFill>
                <a:latin typeface="Consolas"/>
              </a:rPr>
              <a:t>  return Card(</a:t>
            </a:r>
          </a:p>
          <a:p>
            <a:pPr>
              <a:lnSpc>
                <a:spcPct val="100000"/>
              </a:lnSpc>
            </a:pPr>
            <a:r>
              <a:rPr sz="1100">
                <a:solidFill>
                  <a:srgbClr val="E6E8EE"/>
                </a:solidFill>
                <a:latin typeface="Consolas"/>
              </a:rPr>
              <a:t>    child: Column(children: [</a:t>
            </a:r>
          </a:p>
          <a:p>
            <a:pPr>
              <a:lnSpc>
                <a:spcPct val="100000"/>
              </a:lnSpc>
            </a:pPr>
            <a:r>
              <a:rPr sz="1100">
                <a:solidFill>
                  <a:srgbClr val="E6E8EE"/>
                </a:solidFill>
                <a:latin typeface="Consolas"/>
              </a:rPr>
              <a:t>      ProgrammeHeader(programme: p),</a:t>
            </a:r>
          </a:p>
          <a:p>
            <a:pPr>
              <a:lnSpc>
                <a:spcPct val="100000"/>
              </a:lnSpc>
            </a:pPr>
            <a:r>
              <a:rPr sz="1100">
                <a:solidFill>
                  <a:srgbClr val="E6E8EE"/>
                </a:solidFill>
                <a:latin typeface="Consolas"/>
              </a:rPr>
              <a:t>      const SizedBox(height: 12),</a:t>
            </a:r>
          </a:p>
          <a:p>
            <a:pPr>
              <a:lnSpc>
                <a:spcPct val="100000"/>
              </a:lnSpc>
            </a:pPr>
            <a:r>
              <a:rPr sz="1100">
                <a:solidFill>
                  <a:srgbClr val="E6E8EE"/>
                </a:solidFill>
                <a:latin typeface="Consolas"/>
              </a:rPr>
              <a:t>      Row(children: [</a:t>
            </a:r>
          </a:p>
          <a:p>
            <a:pPr>
              <a:lnSpc>
                <a:spcPct val="100000"/>
              </a:lnSpc>
            </a:pPr>
            <a:r>
              <a:rPr sz="1100">
                <a:solidFill>
                  <a:srgbClr val="E6E8EE"/>
                </a:solidFill>
                <a:latin typeface="Consolas"/>
              </a:rPr>
              <a:t>        CategoryPill(category: p.category),</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  );</a:t>
            </a:r>
          </a:p>
          <a:p>
            <a:pPr>
              <a:lnSpc>
                <a:spcPct val="100000"/>
              </a:lnSpc>
            </a:pPr>
            <a:r>
              <a:rPr sz="1100">
                <a:solidFill>
                  <a:srgbClr val="E6E8EE"/>
                </a:solidFill>
                <a:latin typeface="Consolas"/>
              </a:rPr>
              <a:t>}</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841248"/>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Kenapa Ekstrak Widget, Bukan Kaedah _buildX()?</a:t>
            </a:r>
          </a:p>
        </p:txBody>
      </p:sp>
      <p:graphicFrame>
        <p:nvGraphicFramePr>
          <p:cNvPr id="3" name="Table 2"/>
          <p:cNvGraphicFramePr>
            <a:graphicFrameLocks noGrp="1"/>
          </p:cNvGraphicFramePr>
          <p:nvPr/>
        </p:nvGraphicFramePr>
        <p:xfrm>
          <a:off x="640080" y="1472184"/>
          <a:ext cx="10911535" cy="1097280"/>
        </p:xfrm>
        <a:graphic>
          <a:graphicData uri="http://schemas.openxmlformats.org/drawingml/2006/table">
            <a:tbl>
              <a:tblPr firstRow="1" bandRow="1">
                <a:tableStyleId>{5C22544A-7EE6-4342-B048-85BDC9FD1C3A}</a:tableStyleId>
              </a:tblPr>
              <a:tblGrid>
                <a:gridCol w="3637178"/>
                <a:gridCol w="3637178"/>
                <a:gridCol w="3637179"/>
              </a:tblGrid>
              <a:tr h="274320">
                <a:tc>
                  <a:txBody>
                    <a:bodyPr/>
                    <a:lstStyle/>
                    <a:p/>
                  </a:txBody>
                  <a:tcPr marL="63500" marR="63500" marT="25400" marB="25400">
                    <a:solidFill>
                      <a:srgbClr val="1A2B5C"/>
                    </a:solidFill>
                  </a:tcPr>
                </a:tc>
                <a:tc>
                  <a:txBody>
                    <a:bodyPr/>
                    <a:lstStyle/>
                    <a:p>
                      <a:r>
                        <a:rPr sz="1100" b="1">
                          <a:solidFill>
                            <a:srgbClr val="FFFFFF"/>
                          </a:solidFill>
                          <a:latin typeface="Segoe UI"/>
                        </a:rPr>
                        <a:t>Kaedah _buildX()</a:t>
                      </a:r>
                    </a:p>
                  </a:txBody>
                  <a:tcPr marL="63500" marR="63500" marT="25400" marB="25400">
                    <a:solidFill>
                      <a:srgbClr val="1A2B5C"/>
                    </a:solidFill>
                  </a:tcPr>
                </a:tc>
                <a:tc>
                  <a:txBody>
                    <a:bodyPr/>
                    <a:lstStyle/>
                    <a:p>
                      <a:r>
                        <a:rPr sz="1100" b="1">
                          <a:solidFill>
                            <a:srgbClr val="FFFFFF"/>
                          </a:solidFill>
                          <a:latin typeface="Segoe UI"/>
                        </a:rPr>
                        <a:t>Kelas widget berasingan</a:t>
                      </a:r>
                    </a:p>
                  </a:txBody>
                  <a:tcPr marL="63500" marR="63500" marT="25400" marB="25400">
                    <a:solidFill>
                      <a:srgbClr val="1A2B5C"/>
                    </a:solidFill>
                  </a:tcPr>
                </a:tc>
              </a:tr>
              <a:tr h="274320">
                <a:tc>
                  <a:txBody>
                    <a:bodyPr/>
                    <a:lstStyle/>
                    <a:p>
                      <a:r>
                        <a:rPr sz="1100" b="0">
                          <a:solidFill>
                            <a:srgbClr val="566371"/>
                          </a:solidFill>
                          <a:latin typeface="Segoe UI"/>
                        </a:rPr>
                        <a:t>Rebuild</a:t>
                      </a:r>
                    </a:p>
                  </a:txBody>
                  <a:tcPr marL="63500" marR="63500" marT="25400" marB="25400">
                    <a:solidFill>
                      <a:srgbClr val="FFFFFF"/>
                    </a:solidFill>
                  </a:tcPr>
                </a:tc>
                <a:tc>
                  <a:txBody>
                    <a:bodyPr/>
                    <a:lstStyle/>
                    <a:p>
                      <a:r>
                        <a:rPr sz="1100" b="0">
                          <a:solidFill>
                            <a:srgbClr val="566371"/>
                          </a:solidFill>
                          <a:latin typeface="Segoe UI"/>
                        </a:rPr>
                        <a:t>Dijalankan semula setiap kali build() induk dipanggil</a:t>
                      </a:r>
                    </a:p>
                  </a:txBody>
                  <a:tcPr marL="63500" marR="63500" marT="25400" marB="25400">
                    <a:solidFill>
                      <a:srgbClr val="FFFFFF"/>
                    </a:solidFill>
                  </a:tcPr>
                </a:tc>
                <a:tc>
                  <a:txBody>
                    <a:bodyPr/>
                    <a:lstStyle/>
                    <a:p>
                      <a:r>
                        <a:rPr sz="1100" b="0">
                          <a:solidFill>
                            <a:srgbClr val="566371"/>
                          </a:solidFill>
                          <a:latin typeface="Segoe UI"/>
                        </a:rPr>
                        <a:t>Boleh dilangkau Flutter jika const &amp; tidak berubah</a:t>
                      </a:r>
                    </a:p>
                  </a:txBody>
                  <a:tcPr marL="63500" marR="63500" marT="25400" marB="25400">
                    <a:solidFill>
                      <a:srgbClr val="FFFFFF"/>
                    </a:solidFill>
                  </a:tcPr>
                </a:tc>
              </a:tr>
              <a:tr h="274320">
                <a:tc>
                  <a:txBody>
                    <a:bodyPr/>
                    <a:lstStyle/>
                    <a:p>
                      <a:r>
                        <a:rPr sz="1100" b="0">
                          <a:solidFill>
                            <a:srgbClr val="566371"/>
                          </a:solidFill>
                          <a:latin typeface="Segoe UI"/>
                        </a:rPr>
                        <a:t>const</a:t>
                      </a:r>
                    </a:p>
                  </a:txBody>
                  <a:tcPr marL="63500" marR="63500" marT="25400" marB="25400">
                    <a:solidFill>
                      <a:srgbClr val="FFFFFF"/>
                    </a:solidFill>
                  </a:tcPr>
                </a:tc>
                <a:tc>
                  <a:txBody>
                    <a:bodyPr/>
                    <a:lstStyle/>
                    <a:p>
                      <a:r>
                        <a:rPr sz="1100" b="0">
                          <a:solidFill>
                            <a:srgbClr val="566371"/>
                          </a:solidFill>
                          <a:latin typeface="Segoe UI"/>
                        </a:rPr>
                        <a:t>Tidak boleh</a:t>
                      </a:r>
                    </a:p>
                  </a:txBody>
                  <a:tcPr marL="63500" marR="63500" marT="25400" marB="25400">
                    <a:solidFill>
                      <a:srgbClr val="FFFFFF"/>
                    </a:solidFill>
                  </a:tcPr>
                </a:tc>
                <a:tc>
                  <a:txBody>
                    <a:bodyPr/>
                    <a:lstStyle/>
                    <a:p>
                      <a:r>
                        <a:rPr sz="1100" b="0">
                          <a:solidFill>
                            <a:srgbClr val="566371"/>
                          </a:solidFill>
                          <a:latin typeface="Segoe UI"/>
                        </a:rPr>
                        <a:t>Boleh</a:t>
                      </a:r>
                    </a:p>
                  </a:txBody>
                  <a:tcPr marL="63500" marR="63500" marT="25400" marB="25400">
                    <a:solidFill>
                      <a:srgbClr val="FFFFFF"/>
                    </a:solidFill>
                  </a:tcPr>
                </a:tc>
              </a:tr>
              <a:tr h="274320">
                <a:tc>
                  <a:txBody>
                    <a:bodyPr/>
                    <a:lstStyle/>
                    <a:p>
                      <a:r>
                        <a:rPr sz="1100" b="0">
                          <a:solidFill>
                            <a:srgbClr val="566371"/>
                          </a:solidFill>
                          <a:latin typeface="Segoe UI"/>
                        </a:rPr>
                        <a:t>Guna semula</a:t>
                      </a:r>
                    </a:p>
                  </a:txBody>
                  <a:tcPr marL="63500" marR="63500" marT="25400" marB="25400">
                    <a:solidFill>
                      <a:srgbClr val="FFFFFF"/>
                    </a:solidFill>
                  </a:tcPr>
                </a:tc>
                <a:tc>
                  <a:txBody>
                    <a:bodyPr/>
                    <a:lstStyle/>
                    <a:p>
                      <a:r>
                        <a:rPr sz="1100" b="0">
                          <a:solidFill>
                            <a:srgbClr val="566371"/>
                          </a:solidFill>
                          <a:latin typeface="Segoe UI"/>
                        </a:rPr>
                        <a:t>Terperangkap dalam satu kelas</a:t>
                      </a:r>
                    </a:p>
                  </a:txBody>
                  <a:tcPr marL="63500" marR="63500" marT="25400" marB="25400">
                    <a:solidFill>
                      <a:srgbClr val="FFFFFF"/>
                    </a:solidFill>
                  </a:tcPr>
                </a:tc>
                <a:tc>
                  <a:txBody>
                    <a:bodyPr/>
                    <a:lstStyle/>
                    <a:p>
                      <a:r>
                        <a:rPr sz="1100" b="0">
                          <a:solidFill>
                            <a:srgbClr val="566371"/>
                          </a:solidFill>
                          <a:latin typeface="Segoe UI"/>
                        </a:rPr>
                        <a:t>Boleh dipakai di mana-mana skrin</a:t>
                      </a:r>
                    </a:p>
                  </a:txBody>
                  <a:tcPr marL="63500" marR="63500" marT="25400" marB="25400">
                    <a:solidFill>
                      <a:srgbClr val="FFFFFF"/>
                    </a:solidFill>
                  </a:tcPr>
                </a:tc>
              </a:tr>
            </a:tbl>
          </a:graphicData>
        </a:graphic>
      </p:graphicFrame>
      <p:sp>
        <p:nvSpPr>
          <p:cNvPr id="4" name="Rounded Rectangle 3"/>
          <p:cNvSpPr/>
          <p:nvPr/>
        </p:nvSpPr>
        <p:spPr>
          <a:xfrm>
            <a:off x="640080" y="2697480"/>
            <a:ext cx="10911535" cy="420624"/>
          </a:xfrm>
          <a:prstGeom prst="roundRect">
            <a:avLst>
              <a:gd name="adj" fmla="val 6000"/>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40080" y="2697480"/>
            <a:ext cx="54864" cy="42062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770632"/>
            <a:ext cx="10600639" cy="274320"/>
          </a:xfrm>
          <a:prstGeom prst="rect">
            <a:avLst/>
          </a:prstGeom>
          <a:noFill/>
        </p:spPr>
        <p:txBody>
          <a:bodyPr wrap="square" anchor="t" lIns="38100" rIns="38100" tIns="25400" bIns="25400">
            <a:spAutoFit/>
          </a:bodyPr>
          <a:lstStyle/>
          <a:p>
            <a:pPr algn="l">
              <a:lnSpc>
                <a:spcPct val="105000"/>
              </a:lnSpc>
            </a:pPr>
            <a:r>
              <a:rPr sz="1200" b="0">
                <a:solidFill>
                  <a:srgbClr val="1A1A2E"/>
                </a:solidFill>
                <a:latin typeface="Segoe UI"/>
              </a:rPr>
              <a:t>💡 Ini soalan temu duga Flutter yang popular — fahami sebabnya (skop rebuild, const, guna semula), bukan sekadar hafal.</a:t>
            </a:r>
          </a:p>
        </p:txBody>
      </p:sp>
      <p:sp>
        <p:nvSpPr>
          <p:cNvPr id="7" name="TextBox 6"/>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Demo Aplikasi — Format 2–3 Minit</a:t>
            </a:r>
          </a:p>
        </p:txBody>
      </p:sp>
      <p:sp>
        <p:nvSpPr>
          <p:cNvPr id="3" name="TextBox 2"/>
          <p:cNvSpPr txBox="1"/>
          <p:nvPr/>
        </p:nvSpPr>
        <p:spPr>
          <a:xfrm>
            <a:off x="731519" y="1051560"/>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1.  Masalah (30 saat) — apa yang aplikasi anda selesaikan, siapa penggunanya</a:t>
            </a:r>
          </a:p>
        </p:txBody>
      </p:sp>
      <p:sp>
        <p:nvSpPr>
          <p:cNvPr id="4" name="TextBox 3"/>
          <p:cNvSpPr txBox="1"/>
          <p:nvPr/>
        </p:nvSpPr>
        <p:spPr>
          <a:xfrm>
            <a:off x="731519" y="1289304"/>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2.  Walkthrough (90 saat) — aliran utama secara langsung: senarai → butiran → borang → permohonan saya</a:t>
            </a:r>
          </a:p>
        </p:txBody>
      </p:sp>
      <p:sp>
        <p:nvSpPr>
          <p:cNvPr id="5" name="TextBox 4"/>
          <p:cNvSpPr txBox="1"/>
          <p:nvPr/>
        </p:nvSpPr>
        <p:spPr>
          <a:xfrm>
            <a:off x="731519" y="1527048"/>
            <a:ext cx="10820095" cy="237744"/>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3.  Apa seterusnya (30 saat) — apa yang anda akan tambah jika ada masa</a:t>
            </a:r>
          </a:p>
        </p:txBody>
      </p:sp>
      <p:sp>
        <p:nvSpPr>
          <p:cNvPr id="6" name="Rounded Rectangle 5"/>
          <p:cNvSpPr/>
          <p:nvPr/>
        </p:nvSpPr>
        <p:spPr>
          <a:xfrm>
            <a:off x="640080" y="1837944"/>
            <a:ext cx="5364327"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1929384"/>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Memberi maklum balas</a:t>
            </a:r>
          </a:p>
        </p:txBody>
      </p:sp>
      <p:sp>
        <p:nvSpPr>
          <p:cNvPr id="8" name="TextBox 7"/>
          <p:cNvSpPr txBox="1"/>
          <p:nvPr/>
        </p:nvSpPr>
        <p:spPr>
          <a:xfrm>
            <a:off x="768096" y="2221992"/>
            <a:ext cx="5108295"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Fokus pada kejelasan + satu cadangan konkrit — bukan senarai kritikan</a:t>
            </a:r>
          </a:p>
        </p:txBody>
      </p:sp>
      <p:sp>
        <p:nvSpPr>
          <p:cNvPr id="9" name="Rounded Rectangle 8"/>
          <p:cNvSpPr/>
          <p:nvPr/>
        </p:nvSpPr>
        <p:spPr>
          <a:xfrm>
            <a:off x="6187287" y="1837944"/>
            <a:ext cx="5364327"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315303" y="1929384"/>
            <a:ext cx="5108295"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Menerima maklum balas</a:t>
            </a:r>
          </a:p>
        </p:txBody>
      </p:sp>
      <p:sp>
        <p:nvSpPr>
          <p:cNvPr id="11" name="TextBox 10"/>
          <p:cNvSpPr txBox="1"/>
          <p:nvPr/>
        </p:nvSpPr>
        <p:spPr>
          <a:xfrm>
            <a:off x="6315303" y="2221992"/>
            <a:ext cx="5108295"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Dengar penuh dahulu, jangan defensif — catat, tanya soalan susulan</a:t>
            </a:r>
          </a:p>
        </p:txBody>
      </p:sp>
      <p:sp>
        <p:nvSpPr>
          <p:cNvPr id="12" name="TextBox 11"/>
          <p:cNvSpPr txBox="1"/>
          <p:nvPr/>
        </p:nvSpPr>
        <p:spPr>
          <a:xfrm>
            <a:off x="640080" y="3008376"/>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Selepas semua demo — sesi maklum balas umum &amp; penyampaian sijil. 🎓</a:t>
            </a:r>
          </a:p>
        </p:txBody>
      </p:sp>
      <p:sp>
        <p:nvSpPr>
          <p:cNvPr id="13" name="TextBox 12"/>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1A2B5C"/>
        </a:solidFill>
        <a:effectLst/>
      </p:bgPr>
    </p:bg>
    <p:spTree>
      <p:nvGrpSpPr>
        <p:cNvPr id="1" name=""/>
        <p:cNvGrpSpPr/>
        <p:nvPr/>
      </p:nvGrpSpPr>
      <p:grpSpPr/>
      <p:sp>
        <p:nvSpPr>
          <p:cNvPr id="2" name="TextBox 1"/>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300" b="1">
                <a:solidFill>
                  <a:srgbClr val="D4A017"/>
                </a:solidFill>
                <a:latin typeface="Segoe UI"/>
              </a:rPr>
              <a:t>PENUTUP</a:t>
            </a:r>
          </a:p>
        </p:txBody>
      </p:sp>
      <p:sp>
        <p:nvSpPr>
          <p:cNvPr id="3" name="TextBox 2"/>
          <p:cNvSpPr txBox="1"/>
          <p:nvPr/>
        </p:nvSpPr>
        <p:spPr>
          <a:xfrm>
            <a:off x="640080" y="1554480"/>
            <a:ext cx="10911535" cy="566928"/>
          </a:xfrm>
          <a:prstGeom prst="rect">
            <a:avLst/>
          </a:prstGeom>
          <a:noFill/>
        </p:spPr>
        <p:txBody>
          <a:bodyPr wrap="square" anchor="t" lIns="38100" rIns="38100" tIns="25400" bIns="25400">
            <a:spAutoFit/>
          </a:bodyPr>
          <a:lstStyle/>
          <a:p>
            <a:pPr algn="l">
              <a:lnSpc>
                <a:spcPct val="105000"/>
              </a:lnSpc>
            </a:pPr>
            <a:r>
              <a:rPr sz="3400" b="1">
                <a:solidFill>
                  <a:srgbClr val="FFFFFF"/>
                </a:solidFill>
                <a:latin typeface="Segoe UI"/>
              </a:rPr>
              <a:t>Ringkasan &amp; Langkah Seterusnya</a:t>
            </a:r>
          </a:p>
        </p:txBody>
      </p:sp>
      <p:sp>
        <p:nvSpPr>
          <p:cNvPr id="4" name="TextBox 3"/>
          <p:cNvSpPr txBox="1"/>
          <p:nvPr/>
        </p:nvSpPr>
        <p:spPr>
          <a:xfrm>
            <a:off x="640080" y="2231136"/>
            <a:ext cx="10911535" cy="384048"/>
          </a:xfrm>
          <a:prstGeom prst="rect">
            <a:avLst/>
          </a:prstGeom>
          <a:noFill/>
        </p:spPr>
        <p:txBody>
          <a:bodyPr wrap="square" anchor="t" lIns="38100" rIns="38100" tIns="25400" bIns="25400">
            <a:spAutoFit/>
          </a:bodyPr>
          <a:lstStyle/>
          <a:p>
            <a:pPr algn="l">
              <a:lnSpc>
                <a:spcPct val="105000"/>
              </a:lnSpc>
            </a:pPr>
            <a:r>
              <a:rPr sz="1800" b="1">
                <a:solidFill>
                  <a:srgbClr val="D4A017"/>
                </a:solidFill>
                <a:latin typeface="Segoe UI"/>
              </a:rPr>
              <a:t>5 hari · 9 sesi · satu aplikasi berfungsi — apa yang anda bawa pulang</a:t>
            </a:r>
          </a:p>
        </p:txBody>
      </p:sp>
      <p:sp>
        <p:nvSpPr>
          <p:cNvPr id="5" name="TextBox 4"/>
          <p:cNvSpPr txBox="1"/>
          <p:nvPr/>
        </p:nvSpPr>
        <p:spPr>
          <a:xfrm>
            <a:off x="731519" y="268833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Ringkasan perjalanan 5 hari</a:t>
            </a:r>
          </a:p>
        </p:txBody>
      </p:sp>
      <p:sp>
        <p:nvSpPr>
          <p:cNvPr id="6" name="TextBox 5"/>
          <p:cNvSpPr txBox="1"/>
          <p:nvPr/>
        </p:nvSpPr>
        <p:spPr>
          <a:xfrm>
            <a:off x="731519" y="2962656"/>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Bagaimana AI membantu sepanjang minggu</a:t>
            </a:r>
          </a:p>
        </p:txBody>
      </p:sp>
      <p:sp>
        <p:nvSpPr>
          <p:cNvPr id="7" name="TextBox 6"/>
          <p:cNvSpPr txBox="1"/>
          <p:nvPr/>
        </p:nvSpPr>
        <p:spPr>
          <a:xfrm>
            <a:off x="731519" y="323697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Langkah seterusnya selepas kursus</a:t>
            </a:r>
          </a:p>
        </p:txBody>
      </p:sp>
      <p:sp>
        <p:nvSpPr>
          <p:cNvPr id="8" name="TextBox 7"/>
          <p:cNvSpPr txBox="1"/>
          <p:nvPr/>
        </p:nvSpPr>
        <p:spPr>
          <a:xfrm>
            <a:off x="731519" y="3511295"/>
            <a:ext cx="10911535" cy="274320"/>
          </a:xfrm>
          <a:prstGeom prst="rect">
            <a:avLst/>
          </a:prstGeom>
          <a:noFill/>
        </p:spPr>
        <p:txBody>
          <a:bodyPr wrap="square" anchor="t" lIns="38100" rIns="38100" tIns="25400" bIns="25400">
            <a:spAutoFit/>
          </a:bodyPr>
          <a:lstStyle/>
          <a:p>
            <a:pPr algn="l">
              <a:lnSpc>
                <a:spcPct val="105000"/>
              </a:lnSpc>
            </a:pPr>
            <a:r>
              <a:rPr sz="1300" b="0">
                <a:solidFill>
                  <a:srgbClr val="D3D9E6"/>
                </a:solidFill>
                <a:latin typeface="Segoe UI"/>
              </a:rPr>
              <a:t>•  Sumber pembelajaran lanjutan</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Ringkasan 5 Hari</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3637178"/>
                <a:gridCol w="3637178"/>
                <a:gridCol w="3637179"/>
              </a:tblGrid>
              <a:tr h="274319">
                <a:tc>
                  <a:txBody>
                    <a:bodyPr/>
                    <a:lstStyle/>
                    <a:p>
                      <a:r>
                        <a:rPr sz="1100" b="1">
                          <a:solidFill>
                            <a:srgbClr val="FFFFFF"/>
                          </a:solidFill>
                          <a:latin typeface="Segoe UI"/>
                        </a:rPr>
                        <a:t>Hari</a:t>
                      </a:r>
                    </a:p>
                  </a:txBody>
                  <a:tcPr marL="63500" marR="63500" marT="25400" marB="25400">
                    <a:solidFill>
                      <a:srgbClr val="1A2B5C"/>
                    </a:solidFill>
                  </a:tcPr>
                </a:tc>
                <a:tc>
                  <a:txBody>
                    <a:bodyPr/>
                    <a:lstStyle/>
                    <a:p>
                      <a:r>
                        <a:rPr sz="1100" b="1">
                          <a:solidFill>
                            <a:srgbClr val="FFFFFF"/>
                          </a:solidFill>
                          <a:latin typeface="Segoe UI"/>
                        </a:rPr>
                        <a:t>Sesi</a:t>
                      </a:r>
                    </a:p>
                  </a:txBody>
                  <a:tcPr marL="63500" marR="63500" marT="25400" marB="25400">
                    <a:solidFill>
                      <a:srgbClr val="1A2B5C"/>
                    </a:solidFill>
                  </a:tcPr>
                </a:tc>
                <a:tc>
                  <a:txBody>
                    <a:bodyPr/>
                    <a:lstStyle/>
                    <a:p>
                      <a:r>
                        <a:rPr sz="1100" b="1">
                          <a:solidFill>
                            <a:srgbClr val="FFFFFF"/>
                          </a:solidFill>
                          <a:latin typeface="Segoe UI"/>
                        </a:rPr>
                        <a:t>Anda kini boleh…</a:t>
                      </a:r>
                    </a:p>
                  </a:txBody>
                  <a:tcPr marL="63500" marR="63500" marT="25400" marB="25400">
                    <a:solidFill>
                      <a:srgbClr val="1A2B5C"/>
                    </a:solidFill>
                  </a:tcPr>
                </a:tc>
              </a:tr>
              <a:tr h="274319">
                <a:tc>
                  <a:txBody>
                    <a:bodyPr/>
                    <a:lstStyle/>
                    <a:p>
                      <a:r>
                        <a:rPr sz="1100" b="0">
                          <a:solidFill>
                            <a:srgbClr val="566371"/>
                          </a:solidFill>
                          <a:latin typeface="Segoe UI"/>
                        </a:rPr>
                        <a:t>Hari 1</a:t>
                      </a:r>
                    </a:p>
                  </a:txBody>
                  <a:tcPr marL="63500" marR="63500" marT="25400" marB="25400">
                    <a:solidFill>
                      <a:srgbClr val="FFFFFF"/>
                    </a:solidFill>
                  </a:tcPr>
                </a:tc>
                <a:tc>
                  <a:txBody>
                    <a:bodyPr/>
                    <a:lstStyle/>
                    <a:p>
                      <a:r>
                        <a:rPr sz="1100" b="0">
                          <a:solidFill>
                            <a:srgbClr val="566371"/>
                          </a:solidFill>
                          <a:latin typeface="Segoe UI"/>
                        </a:rPr>
                        <a:t>SESI 1</a:t>
                      </a:r>
                    </a:p>
                  </a:txBody>
                  <a:tcPr marL="63500" marR="63500" marT="25400" marB="25400">
                    <a:solidFill>
                      <a:srgbClr val="FFFFFF"/>
                    </a:solidFill>
                  </a:tcPr>
                </a:tc>
                <a:tc>
                  <a:txBody>
                    <a:bodyPr/>
                    <a:lstStyle/>
                    <a:p>
                      <a:r>
                        <a:rPr sz="1100" b="0">
                          <a:solidFill>
                            <a:srgbClr val="566371"/>
                          </a:solidFill>
                          <a:latin typeface="Segoe UI"/>
                        </a:rPr>
                        <a:t>Tulis Dart asas (operator, kawalan, loop, function); bina widget asas; beza Stateless vs Stateful</a:t>
                      </a:r>
                    </a:p>
                  </a:txBody>
                  <a:tcPr marL="63500" marR="63500" marT="25400" marB="25400">
                    <a:solidFill>
                      <a:srgbClr val="FFFFFF"/>
                    </a:solidFill>
                  </a:tcPr>
                </a:tc>
              </a:tr>
              <a:tr h="274319">
                <a:tc>
                  <a:txBody>
                    <a:bodyPr/>
                    <a:lstStyle/>
                    <a:p>
                      <a:r>
                        <a:rPr sz="1100" b="0">
                          <a:solidFill>
                            <a:srgbClr val="566371"/>
                          </a:solidFill>
                          <a:latin typeface="Segoe UI"/>
                        </a:rPr>
                        <a:t>Hari 2</a:t>
                      </a:r>
                    </a:p>
                  </a:txBody>
                  <a:tcPr marL="63500" marR="63500" marT="25400" marB="25400">
                    <a:solidFill>
                      <a:srgbClr val="FFFFFF"/>
                    </a:solidFill>
                  </a:tcPr>
                </a:tc>
                <a:tc>
                  <a:txBody>
                    <a:bodyPr/>
                    <a:lstStyle/>
                    <a:p>
                      <a:r>
                        <a:rPr sz="1100" b="0">
                          <a:solidFill>
                            <a:srgbClr val="566371"/>
                          </a:solidFill>
                          <a:latin typeface="Segoe UI"/>
                        </a:rPr>
                        <a:t>SESI 2–3</a:t>
                      </a:r>
                    </a:p>
                  </a:txBody>
                  <a:tcPr marL="63500" marR="63500" marT="25400" marB="25400">
                    <a:solidFill>
                      <a:srgbClr val="FFFFFF"/>
                    </a:solidFill>
                  </a:tcPr>
                </a:tc>
                <a:tc>
                  <a:txBody>
                    <a:bodyPr/>
                    <a:lstStyle/>
                    <a:p>
                      <a:r>
                        <a:rPr sz="1100" b="0">
                          <a:solidFill>
                            <a:srgbClr val="566371"/>
                          </a:solidFill>
                          <a:latin typeface="Segoe UI"/>
                        </a:rPr>
                        <a:t>Susun layout (Row/Column/Stack); Scaffold/AppBar; senarai dinamik; kemasan ThemeData</a:t>
                      </a:r>
                    </a:p>
                  </a:txBody>
                  <a:tcPr marL="63500" marR="63500" marT="25400" marB="25400">
                    <a:solidFill>
                      <a:srgbClr val="FFFFFF"/>
                    </a:solidFill>
                  </a:tcPr>
                </a:tc>
              </a:tr>
              <a:tr h="274319">
                <a:tc>
                  <a:txBody>
                    <a:bodyPr/>
                    <a:lstStyle/>
                    <a:p>
                      <a:r>
                        <a:rPr sz="1100" b="0">
                          <a:solidFill>
                            <a:srgbClr val="566371"/>
                          </a:solidFill>
                          <a:latin typeface="Segoe UI"/>
                        </a:rPr>
                        <a:t>Hari 3</a:t>
                      </a:r>
                    </a:p>
                  </a:txBody>
                  <a:tcPr marL="63500" marR="63500" marT="25400" marB="25400">
                    <a:solidFill>
                      <a:srgbClr val="FFFFFF"/>
                    </a:solidFill>
                  </a:tcPr>
                </a:tc>
                <a:tc>
                  <a:txBody>
                    <a:bodyPr/>
                    <a:lstStyle/>
                    <a:p>
                      <a:r>
                        <a:rPr sz="1100" b="0">
                          <a:solidFill>
                            <a:srgbClr val="566371"/>
                          </a:solidFill>
                          <a:latin typeface="Segoe UI"/>
                        </a:rPr>
                        <a:t>SESI 4–5</a:t>
                      </a:r>
                    </a:p>
                  </a:txBody>
                  <a:tcPr marL="63500" marR="63500" marT="25400" marB="25400">
                    <a:solidFill>
                      <a:srgbClr val="FFFFFF"/>
                    </a:solidFill>
                  </a:tcPr>
                </a:tc>
                <a:tc>
                  <a:txBody>
                    <a:bodyPr/>
                    <a:lstStyle/>
                    <a:p>
                      <a:r>
                        <a:rPr sz="1100" b="0">
                          <a:solidFill>
                            <a:srgbClr val="566371"/>
                          </a:solidFill>
                          <a:latin typeface="Segoe UI"/>
                        </a:rPr>
                        <a:t>Navigasi berbilang skrin + hantar data; borang dengan validation; urus state dengan setState()</a:t>
                      </a:r>
                    </a:p>
                  </a:txBody>
                  <a:tcPr marL="63500" marR="63500" marT="25400" marB="25400">
                    <a:solidFill>
                      <a:srgbClr val="FFFFFF"/>
                    </a:solidFill>
                  </a:tcPr>
                </a:tc>
              </a:tr>
              <a:tr h="274319">
                <a:tc>
                  <a:txBody>
                    <a:bodyPr/>
                    <a:lstStyle/>
                    <a:p>
                      <a:r>
                        <a:rPr sz="1100" b="0">
                          <a:solidFill>
                            <a:srgbClr val="566371"/>
                          </a:solidFill>
                          <a:latin typeface="Segoe UI"/>
                        </a:rPr>
                        <a:t>Hari 4</a:t>
                      </a:r>
                    </a:p>
                  </a:txBody>
                  <a:tcPr marL="63500" marR="63500" marT="25400" marB="25400">
                    <a:solidFill>
                      <a:srgbClr val="FFFFFF"/>
                    </a:solidFill>
                  </a:tcPr>
                </a:tc>
                <a:tc>
                  <a:txBody>
                    <a:bodyPr/>
                    <a:lstStyle/>
                    <a:p>
                      <a:r>
                        <a:rPr sz="1100" b="0">
                          <a:solidFill>
                            <a:srgbClr val="566371"/>
                          </a:solidFill>
                          <a:latin typeface="Segoe UI"/>
                        </a:rPr>
                        <a:t>SESI 6–7</a:t>
                      </a:r>
                    </a:p>
                  </a:txBody>
                  <a:tcPr marL="63500" marR="63500" marT="25400" marB="25400">
                    <a:solidFill>
                      <a:srgbClr val="FFFFFF"/>
                    </a:solidFill>
                  </a:tcPr>
                </a:tc>
                <a:tc>
                  <a:txBody>
                    <a:bodyPr/>
                    <a:lstStyle/>
                    <a:p>
                      <a:r>
                        <a:rPr sz="1100" b="0">
                          <a:solidFill>
                            <a:srgbClr val="566371"/>
                          </a:solidFill>
                          <a:latin typeface="Segoe UI"/>
                        </a:rPr>
                        <a:t>Sambung REST API (http, async/await); JSON → model; kendalikan ralat &amp; loading</a:t>
                      </a:r>
                    </a:p>
                  </a:txBody>
                  <a:tcPr marL="63500" marR="63500" marT="25400" marB="25400">
                    <a:solidFill>
                      <a:srgbClr val="FFFFFF"/>
                    </a:solidFill>
                  </a:tcPr>
                </a:tc>
              </a:tr>
              <a:tr h="274324">
                <a:tc>
                  <a:txBody>
                    <a:bodyPr/>
                    <a:lstStyle/>
                    <a:p>
                      <a:r>
                        <a:rPr sz="1100" b="0">
                          <a:solidFill>
                            <a:srgbClr val="566371"/>
                          </a:solidFill>
                          <a:latin typeface="Segoe UI"/>
                        </a:rPr>
                        <a:t>Hari 5</a:t>
                      </a:r>
                    </a:p>
                  </a:txBody>
                  <a:tcPr marL="63500" marR="63500" marT="25400" marB="25400">
                    <a:solidFill>
                      <a:srgbClr val="FFFFFF"/>
                    </a:solidFill>
                  </a:tcPr>
                </a:tc>
                <a:tc>
                  <a:txBody>
                    <a:bodyPr/>
                    <a:lstStyle/>
                    <a:p>
                      <a:r>
                        <a:rPr sz="1100" b="0">
                          <a:solidFill>
                            <a:srgbClr val="566371"/>
                          </a:solidFill>
                          <a:latin typeface="Segoe UI"/>
                        </a:rPr>
                        <a:t>SESI 8–9</a:t>
                      </a:r>
                    </a:p>
                  </a:txBody>
                  <a:tcPr marL="63500" marR="63500" marT="25400" marB="25400">
                    <a:solidFill>
                      <a:srgbClr val="FFFFFF"/>
                    </a:solidFill>
                  </a:tcPr>
                </a:tc>
                <a:tc>
                  <a:txBody>
                    <a:bodyPr/>
                    <a:lstStyle/>
                    <a:p>
                      <a:r>
                        <a:rPr sz="1100" b="0">
                          <a:solidFill>
                            <a:srgbClr val="566371"/>
                          </a:solidFill>
                          <a:latin typeface="Segoe UI"/>
                        </a:rPr>
                        <a:t>Gabungkan semuanya dalam projek mini eTT Mobile; tulis kod bersih; refactor; demo aplikasi anda</a:t>
                      </a:r>
                    </a:p>
                  </a:txBody>
                  <a:tcPr marL="63500" marR="63500" marT="25400" marB="25400">
                    <a:solidFill>
                      <a:srgbClr val="FFFFFF"/>
                    </a:solidFill>
                  </a:tcPr>
                </a:tc>
              </a:tr>
            </a:tbl>
          </a:graphicData>
        </a:graphic>
      </p:graphicFrame>
      <p:sp>
        <p:nvSpPr>
          <p:cNvPr id="4" name="TextBox 3"/>
          <p:cNvSpPr txBox="1"/>
          <p:nvPr/>
        </p:nvSpPr>
        <p:spPr>
          <a:xfrm>
            <a:off x="640080" y="2825496"/>
            <a:ext cx="10911535" cy="246888"/>
          </a:xfrm>
          <a:prstGeom prst="rect">
            <a:avLst/>
          </a:prstGeom>
          <a:noFill/>
        </p:spPr>
        <p:txBody>
          <a:bodyPr wrap="square" anchor="t" lIns="38100" rIns="38100" tIns="25400" bIns="25400">
            <a:spAutoFit/>
          </a:bodyPr>
          <a:lstStyle/>
          <a:p>
            <a:pPr algn="l">
              <a:lnSpc>
                <a:spcPct val="105000"/>
              </a:lnSpc>
            </a:pPr>
            <a:r>
              <a:rPr sz="1700" b="1">
                <a:solidFill>
                  <a:srgbClr val="1A1A2E"/>
                </a:solidFill>
                <a:latin typeface="Segoe UI"/>
              </a:rPr>
              <a:t>Dari kosong → aplikasi mudah alih berfungsi penuh. 👏</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AI Membantu, Anda Memandu</a:t>
            </a:r>
          </a:p>
        </p:txBody>
      </p:sp>
      <p:sp>
        <p:nvSpPr>
          <p:cNvPr id="3" name="TextBox 2"/>
          <p:cNvSpPr txBox="1"/>
          <p:nvPr/>
        </p:nvSpPr>
        <p:spPr>
          <a:xfrm>
            <a:off x="640080" y="1051560"/>
            <a:ext cx="10911535" cy="493776"/>
          </a:xfrm>
          <a:prstGeom prst="rect">
            <a:avLst/>
          </a:prstGeom>
          <a:noFill/>
        </p:spPr>
        <p:txBody>
          <a:bodyPr wrap="square" anchor="t" lIns="38100" rIns="38100" tIns="25400" bIns="25400">
            <a:spAutoFit/>
          </a:bodyPr>
          <a:lstStyle/>
          <a:p>
            <a:pPr algn="l">
              <a:lnSpc>
                <a:spcPct val="105000"/>
              </a:lnSpc>
            </a:pPr>
            <a:r>
              <a:rPr sz="1400" b="0">
                <a:solidFill>
                  <a:srgbClr val="566371"/>
                </a:solidFill>
                <a:latin typeface="Segoe UI"/>
              </a:rPr>
              <a:t>Sepanjang minggu, AI muncul tepat di tempat ia paling berguna — menjana layout yang leceh, menulis validator, menukar JSON kepada model, dan mencari punca ralat. Tabiat yang mengiringinya:</a:t>
            </a:r>
          </a:p>
        </p:txBody>
      </p:sp>
      <p:sp>
        <p:nvSpPr>
          <p:cNvPr id="4" name="TextBox 3"/>
          <p:cNvSpPr txBox="1"/>
          <p:nvPr/>
        </p:nvSpPr>
        <p:spPr>
          <a:xfrm>
            <a:off x="804671" y="16184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Review setiap kod yang dijana — baca dahulu, terima kemudian</a:t>
            </a:r>
          </a:p>
        </p:txBody>
      </p:sp>
      <p:sp>
        <p:nvSpPr>
          <p:cNvPr id="5" name="TextBox 4"/>
          <p:cNvSpPr txBox="1"/>
          <p:nvPr/>
        </p:nvSpPr>
        <p:spPr>
          <a:xfrm>
            <a:off x="804671" y="18425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Jalankan flutter analyze selepas setiap perubahan — tangkap ralat awal</a:t>
            </a:r>
          </a:p>
        </p:txBody>
      </p:sp>
      <p:sp>
        <p:nvSpPr>
          <p:cNvPr id="6" name="TextBox 5"/>
          <p:cNvSpPr txBox="1"/>
          <p:nvPr/>
        </p:nvSpPr>
        <p:spPr>
          <a:xfrm>
            <a:off x="804671" y="20665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Faham sebelum terima — minta AI terangkan bahagian yang kabur</a:t>
            </a:r>
          </a:p>
        </p:txBody>
      </p:sp>
      <p:sp>
        <p:nvSpPr>
          <p:cNvPr id="7" name="TextBox 6"/>
          <p:cNvSpPr txBox="1"/>
          <p:nvPr/>
        </p:nvSpPr>
        <p:spPr>
          <a:xfrm>
            <a:off x="804671" y="22905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Commit kerap — supaya boleh patah balik bila satu cadangan merosakkan sesuatu</a:t>
            </a:r>
          </a:p>
        </p:txBody>
      </p:sp>
      <p:sp>
        <p:nvSpPr>
          <p:cNvPr id="8" name="TextBox 7"/>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Prinsip Prompt yang Baik</a:t>
            </a:r>
          </a:p>
        </p:txBody>
      </p:sp>
      <p:graphicFrame>
        <p:nvGraphicFramePr>
          <p:cNvPr id="3" name="Table 2"/>
          <p:cNvGraphicFramePr>
            <a:graphicFrameLocks noGrp="1"/>
          </p:cNvGraphicFramePr>
          <p:nvPr/>
        </p:nvGraphicFramePr>
        <p:xfrm>
          <a:off x="640080" y="1051560"/>
          <a:ext cx="10911535" cy="1645919"/>
        </p:xfrm>
        <a:graphic>
          <a:graphicData uri="http://schemas.openxmlformats.org/drawingml/2006/table">
            <a:tbl>
              <a:tblPr firstRow="1" bandRow="1">
                <a:tableStyleId>{5C22544A-7EE6-4342-B048-85BDC9FD1C3A}</a:tableStyleId>
              </a:tblPr>
              <a:tblGrid>
                <a:gridCol w="3637178"/>
                <a:gridCol w="3637178"/>
                <a:gridCol w="3637179"/>
              </a:tblGrid>
              <a:tr h="274319">
                <a:tc>
                  <a:txBody>
                    <a:bodyPr/>
                    <a:lstStyle/>
                    <a:p>
                      <a:r>
                        <a:rPr sz="1100" b="1">
                          <a:solidFill>
                            <a:srgbClr val="FFFFFF"/>
                          </a:solidFill>
                          <a:latin typeface="Segoe UI"/>
                        </a:rPr>
                        <a:t>Prinsip</a:t>
                      </a:r>
                    </a:p>
                  </a:txBody>
                  <a:tcPr marL="63500" marR="63500" marT="25400" marB="25400">
                    <a:solidFill>
                      <a:srgbClr val="1A2B5C"/>
                    </a:solidFill>
                  </a:tcPr>
                </a:tc>
                <a:tc>
                  <a:txBody>
                    <a:bodyPr/>
                    <a:lstStyle/>
                    <a:p>
                      <a:r>
                        <a:rPr sz="1100" b="1">
                          <a:solidFill>
                            <a:srgbClr val="FFFFFF"/>
                          </a:solidFill>
                          <a:latin typeface="Segoe UI"/>
                        </a:rPr>
                        <a:t>❌ Lemah</a:t>
                      </a:r>
                    </a:p>
                  </a:txBody>
                  <a:tcPr marL="63500" marR="63500" marT="25400" marB="25400">
                    <a:solidFill>
                      <a:srgbClr val="1A2B5C"/>
                    </a:solidFill>
                  </a:tcPr>
                </a:tc>
                <a:tc>
                  <a:txBody>
                    <a:bodyPr/>
                    <a:lstStyle/>
                    <a:p>
                      <a:r>
                        <a:rPr sz="1100" b="1">
                          <a:solidFill>
                            <a:srgbClr val="FFFFFF"/>
                          </a:solidFill>
                          <a:latin typeface="Segoe UI"/>
                        </a:rPr>
                        <a:t>✅ Baik</a:t>
                      </a:r>
                    </a:p>
                  </a:txBody>
                  <a:tcPr marL="63500" marR="63500" marT="25400" marB="25400">
                    <a:solidFill>
                      <a:srgbClr val="1A2B5C"/>
                    </a:solidFill>
                  </a:tcPr>
                </a:tc>
              </a:tr>
              <a:tr h="274319">
                <a:tc>
                  <a:txBody>
                    <a:bodyPr/>
                    <a:lstStyle/>
                    <a:p>
                      <a:r>
                        <a:rPr sz="1100" b="0">
                          <a:solidFill>
                            <a:srgbClr val="566371"/>
                          </a:solidFill>
                          <a:latin typeface="Segoe UI"/>
                        </a:rPr>
                        <a:t>Khusus</a:t>
                      </a:r>
                    </a:p>
                  </a:txBody>
                  <a:tcPr marL="63500" marR="63500" marT="25400" marB="25400">
                    <a:solidFill>
                      <a:srgbClr val="FFFFFF"/>
                    </a:solidFill>
                  </a:tcPr>
                </a:tc>
                <a:tc>
                  <a:txBody>
                    <a:bodyPr/>
                    <a:lstStyle/>
                    <a:p>
                      <a:r>
                        <a:rPr sz="1100" b="0">
                          <a:solidFill>
                            <a:srgbClr val="566371"/>
                          </a:solidFill>
                          <a:latin typeface="Segoe UI"/>
                        </a:rPr>
                        <a:t>"tambah carian"</a:t>
                      </a:r>
                    </a:p>
                  </a:txBody>
                  <a:tcPr marL="63500" marR="63500" marT="25400" marB="25400">
                    <a:solidFill>
                      <a:srgbClr val="FFFFFF"/>
                    </a:solidFill>
                  </a:tcPr>
                </a:tc>
                <a:tc>
                  <a:txBody>
                    <a:bodyPr/>
                    <a:lstStyle/>
                    <a:p>
                      <a:r>
                        <a:rPr sz="1100" b="0">
                          <a:solidFill>
                            <a:srgbClr val="566371"/>
                          </a:solidFill>
                          <a:latin typeface="Segoe UI"/>
                        </a:rPr>
                        <a:t>"Tambah TextField carian di atas ListView dalam programme_list_screen.dart yang menapis mengikut universityName guna setState()"</a:t>
                      </a:r>
                    </a:p>
                  </a:txBody>
                  <a:tcPr marL="63500" marR="63500" marT="25400" marB="25400">
                    <a:solidFill>
                      <a:srgbClr val="FFFFFF"/>
                    </a:solidFill>
                  </a:tcPr>
                </a:tc>
              </a:tr>
              <a:tr h="274319">
                <a:tc>
                  <a:txBody>
                    <a:bodyPr/>
                    <a:lstStyle/>
                    <a:p>
                      <a:r>
                        <a:rPr sz="1100" b="0">
                          <a:solidFill>
                            <a:srgbClr val="566371"/>
                          </a:solidFill>
                          <a:latin typeface="Segoe UI"/>
                        </a:rPr>
                        <a:t>Beri konteks</a:t>
                      </a:r>
                    </a:p>
                  </a:txBody>
                  <a:tcPr marL="63500" marR="63500" marT="25400" marB="25400">
                    <a:solidFill>
                      <a:srgbClr val="FFFFFF"/>
                    </a:solidFill>
                  </a:tcPr>
                </a:tc>
                <a:tc>
                  <a:txBody>
                    <a:bodyPr/>
                    <a:lstStyle/>
                    <a:p>
                      <a:r>
                        <a:rPr sz="1100" b="0">
                          <a:solidFill>
                            <a:srgbClr val="566371"/>
                          </a:solidFill>
                          <a:latin typeface="Segoe UI"/>
                        </a:rPr>
                        <a:t>"ada ralat"</a:t>
                      </a:r>
                    </a:p>
                  </a:txBody>
                  <a:tcPr marL="63500" marR="63500" marT="25400" marB="25400">
                    <a:solidFill>
                      <a:srgbClr val="FFFFFF"/>
                    </a:solidFill>
                  </a:tcPr>
                </a:tc>
                <a:tc>
                  <a:txBody>
                    <a:bodyPr/>
                    <a:lstStyle/>
                    <a:p>
                      <a:r>
                        <a:rPr sz="1100" b="0">
                          <a:solidFill>
                            <a:srgbClr val="566371"/>
                          </a:solidFill>
                          <a:latin typeface="Segoe UI"/>
                        </a:rPr>
                        <a:t>"Ralat setState() called after dispose() bila keluar ApplicationFormScreen. Lihat method _submit"</a:t>
                      </a:r>
                    </a:p>
                  </a:txBody>
                  <a:tcPr marL="63500" marR="63500" marT="25400" marB="25400">
                    <a:solidFill>
                      <a:srgbClr val="FFFFFF"/>
                    </a:solidFill>
                  </a:tcPr>
                </a:tc>
              </a:tr>
              <a:tr h="274319">
                <a:tc>
                  <a:txBody>
                    <a:bodyPr/>
                    <a:lstStyle/>
                    <a:p>
                      <a:r>
                        <a:rPr sz="1100" b="0">
                          <a:solidFill>
                            <a:srgbClr val="566371"/>
                          </a:solidFill>
                          <a:latin typeface="Segoe UI"/>
                        </a:rPr>
                        <a:t>Rujuk fail</a:t>
                      </a:r>
                    </a:p>
                  </a:txBody>
                  <a:tcPr marL="63500" marR="63500" marT="25400" marB="25400">
                    <a:solidFill>
                      <a:srgbClr val="FFFFFF"/>
                    </a:solidFill>
                  </a:tcPr>
                </a:tc>
                <a:tc>
                  <a:txBody>
                    <a:bodyPr/>
                    <a:lstStyle/>
                    <a:p>
                      <a:r>
                        <a:rPr sz="1100" b="0">
                          <a:solidFill>
                            <a:srgbClr val="566371"/>
                          </a:solidFill>
                          <a:latin typeface="Segoe UI"/>
                        </a:rPr>
                        <a:t>"ubah model"</a:t>
                      </a:r>
                    </a:p>
                  </a:txBody>
                  <a:tcPr marL="63500" marR="63500" marT="25400" marB="25400">
                    <a:solidFill>
                      <a:srgbClr val="FFFFFF"/>
                    </a:solidFill>
                  </a:tcPr>
                </a:tc>
                <a:tc>
                  <a:txBody>
                    <a:bodyPr/>
                    <a:lstStyle/>
                    <a:p>
                      <a:r>
                        <a:rPr sz="1100" b="0">
                          <a:solidFill>
                            <a:srgbClr val="566371"/>
                          </a:solidFill>
                          <a:latin typeface="Segoe UI"/>
                        </a:rPr>
                        <a:t>"Dalam models/programme.dart, tambah medan X dan kemas kini fromJson/toJson"</a:t>
                      </a:r>
                    </a:p>
                  </a:txBody>
                  <a:tcPr marL="63500" marR="63500" marT="25400" marB="25400">
                    <a:solidFill>
                      <a:srgbClr val="FFFFFF"/>
                    </a:solidFill>
                  </a:tcPr>
                </a:tc>
              </a:tr>
              <a:tr h="274319">
                <a:tc>
                  <a:txBody>
                    <a:bodyPr/>
                    <a:lstStyle/>
                    <a:p>
                      <a:r>
                        <a:rPr sz="1100" b="0">
                          <a:solidFill>
                            <a:srgbClr val="566371"/>
                          </a:solidFill>
                          <a:latin typeface="Segoe UI"/>
                        </a:rPr>
                        <a:t>Satu langkah</a:t>
                      </a:r>
                    </a:p>
                  </a:txBody>
                  <a:tcPr marL="63500" marR="63500" marT="25400" marB="25400">
                    <a:solidFill>
                      <a:srgbClr val="FFFFFF"/>
                    </a:solidFill>
                  </a:tcPr>
                </a:tc>
                <a:tc>
                  <a:txBody>
                    <a:bodyPr/>
                    <a:lstStyle/>
                    <a:p>
                      <a:r>
                        <a:rPr sz="1100" b="0">
                          <a:solidFill>
                            <a:srgbClr val="566371"/>
                          </a:solidFill>
                          <a:latin typeface="Segoe UI"/>
                        </a:rPr>
                        <a:t>"bina borang + validation + simpan + API"</a:t>
                      </a:r>
                    </a:p>
                  </a:txBody>
                  <a:tcPr marL="63500" marR="63500" marT="25400" marB="25400">
                    <a:solidFill>
                      <a:srgbClr val="FFFFFF"/>
                    </a:solidFill>
                  </a:tcPr>
                </a:tc>
                <a:tc>
                  <a:txBody>
                    <a:bodyPr/>
                    <a:lstStyle/>
                    <a:p>
                      <a:r>
                        <a:rPr sz="1100" b="0">
                          <a:solidFill>
                            <a:srgbClr val="566371"/>
                          </a:solidFill>
                          <a:latin typeface="Segoe UI"/>
                        </a:rPr>
                        <a:t>Pecahkan kepada beberapa prompt kecil</a:t>
                      </a:r>
                    </a:p>
                  </a:txBody>
                  <a:tcPr marL="63500" marR="63500" marT="25400" marB="25400">
                    <a:solidFill>
                      <a:srgbClr val="FFFFFF"/>
                    </a:solidFill>
                  </a:tcPr>
                </a:tc>
              </a:tr>
              <a:tr h="274324">
                <a:tc>
                  <a:txBody>
                    <a:bodyPr/>
                    <a:lstStyle/>
                    <a:p>
                      <a:r>
                        <a:rPr sz="1100" b="0">
                          <a:solidFill>
                            <a:srgbClr val="566371"/>
                          </a:solidFill>
                          <a:latin typeface="Segoe UI"/>
                        </a:rPr>
                        <a:t>Nyatakan hasil</a:t>
                      </a:r>
                    </a:p>
                  </a:txBody>
                  <a:tcPr marL="63500" marR="63500" marT="25400" marB="25400">
                    <a:solidFill>
                      <a:srgbClr val="FFFFFF"/>
                    </a:solidFill>
                  </a:tcPr>
                </a:tc>
                <a:tc>
                  <a:txBody>
                    <a:bodyPr/>
                    <a:lstStyle/>
                    <a:p>
                      <a:r>
                        <a:rPr sz="1100" b="0">
                          <a:solidFill>
                            <a:srgbClr val="566371"/>
                          </a:solidFill>
                          <a:latin typeface="Segoe UI"/>
                        </a:rPr>
                        <a:t>"buat ia elok"</a:t>
                      </a:r>
                    </a:p>
                  </a:txBody>
                  <a:tcPr marL="63500" marR="63500" marT="25400" marB="25400">
                    <a:solidFill>
                      <a:srgbClr val="FFFFFF"/>
                    </a:solidFill>
                  </a:tcPr>
                </a:tc>
                <a:tc>
                  <a:txBody>
                    <a:bodyPr/>
                    <a:lstStyle/>
                    <a:p>
                      <a:r>
                        <a:rPr sz="1100" b="0">
                          <a:solidFill>
                            <a:srgbClr val="566371"/>
                          </a:solidFill>
                          <a:latin typeface="Segoe UI"/>
                        </a:rPr>
                        <a:t>"Papar mesej ralat merah di bawah TextFormField bila No. KP bukan 12 digit"</a:t>
                      </a:r>
                    </a:p>
                  </a:txBody>
                  <a:tcPr marL="63500" marR="63500" marT="25400" marB="25400">
                    <a:solidFill>
                      <a:srgbClr val="FFFFFF"/>
                    </a:solidFill>
                  </a:tcPr>
                </a:tc>
              </a:tr>
            </a:tbl>
          </a:graphicData>
        </a:graphic>
      </p:graphicFrame>
      <p:sp>
        <p:nvSpPr>
          <p:cNvPr id="4" name="TextBox 3"/>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Templat Prompt Boleh Guna Semula</a:t>
            </a:r>
          </a:p>
        </p:txBody>
      </p:sp>
      <p:sp>
        <p:nvSpPr>
          <p:cNvPr id="3" name="Rounded Rectangle 2"/>
          <p:cNvSpPr/>
          <p:nvPr/>
        </p:nvSpPr>
        <p:spPr>
          <a:xfrm>
            <a:off x="640080" y="1051560"/>
            <a:ext cx="10911535" cy="2263140"/>
          </a:xfrm>
          <a:prstGeom prst="roundRect">
            <a:avLst>
              <a:gd name="adj" fmla="val 6000"/>
            </a:avLst>
          </a:prstGeom>
          <a:solidFill>
            <a:srgbClr val="1E22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10655503" cy="2080260"/>
          </a:xfrm>
          <a:prstGeom prst="rect">
            <a:avLst/>
          </a:prstGeom>
          <a:noFill/>
        </p:spPr>
        <p:txBody>
          <a:bodyPr wrap="none">
            <a:spAutoFit/>
          </a:bodyPr>
          <a:lstStyle/>
          <a:p>
            <a:pPr>
              <a:lnSpc>
                <a:spcPct val="100000"/>
              </a:lnSpc>
            </a:pPr>
            <a:r>
              <a:rPr sz="1100">
                <a:solidFill>
                  <a:srgbClr val="E6E8EE"/>
                </a:solidFill>
                <a:latin typeface="Consolas"/>
              </a:rPr>
              <a:t>Konteks: Projek Flutter "eTT Mobile" — companion sistem</a:t>
            </a:r>
          </a:p>
          <a:p>
            <a:pPr>
              <a:lnSpc>
                <a:spcPct val="100000"/>
              </a:lnSpc>
            </a:pPr>
            <a:r>
              <a:rPr sz="1100">
                <a:solidFill>
                  <a:srgbClr val="E6E8EE"/>
                </a:solidFill>
                <a:latin typeface="Consolas"/>
              </a:rPr>
              <a:t>e-Timur Tengah (KPT), permohonan pelajar ke universiti</a:t>
            </a:r>
          </a:p>
          <a:p>
            <a:pPr>
              <a:lnSpc>
                <a:spcPct val="100000"/>
              </a:lnSpc>
            </a:pPr>
            <a:r>
              <a:rPr sz="1100">
                <a:solidFill>
                  <a:srgbClr val="E6E8EE"/>
                </a:solidFill>
                <a:latin typeface="Consolas"/>
              </a:rPr>
              <a:t>Mesir &amp; Maghribi.</a:t>
            </a:r>
          </a:p>
          <a:p>
            <a:pPr>
              <a:lnSpc>
                <a:spcPct val="100000"/>
              </a:lnSpc>
            </a:pPr>
            <a:r>
              <a:rPr sz="1100">
                <a:solidFill>
                  <a:srgbClr val="E6E8EE"/>
                </a:solidFill>
                <a:latin typeface="Consolas"/>
              </a:rPr>
              <a:t>State: setState() (StatefulWidget).</a:t>
            </a:r>
          </a:p>
          <a:p>
            <a:pPr>
              <a:lnSpc>
                <a:spcPct val="100000"/>
              </a:lnSpc>
            </a:pPr>
            <a:r>
              <a:rPr sz="1100">
                <a:solidFill>
                  <a:srgbClr val="E6E8EE"/>
                </a:solidFill>
                <a:latin typeface="Consolas"/>
              </a:rPr>
              <a:t>Struktur: lib/{models,data,services,widgets,screens}.</a:t>
            </a:r>
          </a:p>
          <a:p>
            <a:pPr>
              <a:lnSpc>
                <a:spcPct val="100000"/>
              </a:lnSpc>
            </a:pPr>
            <a:r>
              <a:rPr sz="1100">
                <a:solidFill>
                  <a:srgbClr val="E6E8EE"/>
                </a:solidFill>
                <a:latin typeface="Consolas"/>
              </a:rPr>
              <a:t/>
            </a:r>
          </a:p>
          <a:p>
            <a:pPr>
              <a:lnSpc>
                <a:spcPct val="100000"/>
              </a:lnSpc>
            </a:pPr>
            <a:r>
              <a:rPr sz="1100">
                <a:solidFill>
                  <a:srgbClr val="E6E8EE"/>
                </a:solidFill>
                <a:latin typeface="Consolas"/>
              </a:rPr>
              <a:t>Tugas: &lt;apa yang anda mahu&gt;</a:t>
            </a:r>
          </a:p>
          <a:p>
            <a:pPr>
              <a:lnSpc>
                <a:spcPct val="100000"/>
              </a:lnSpc>
            </a:pPr>
            <a:r>
              <a:rPr sz="1100">
                <a:solidFill>
                  <a:srgbClr val="E6E8EE"/>
                </a:solidFill>
                <a:latin typeface="Consolas"/>
              </a:rPr>
              <a:t>Fail terlibat: &lt;lib/...&gt;</a:t>
            </a:r>
          </a:p>
          <a:p>
            <a:pPr>
              <a:lnSpc>
                <a:spcPct val="100000"/>
              </a:lnSpc>
            </a:pPr>
            <a:r>
              <a:rPr sz="1100">
                <a:solidFill>
                  <a:srgbClr val="E6E8EE"/>
                </a:solidFill>
                <a:latin typeface="Consolas"/>
              </a:rPr>
              <a:t>Hasil dijangka: &lt;kelakuan akhir yang anda mahu lihat&gt;</a:t>
            </a:r>
          </a:p>
          <a:p>
            <a:pPr>
              <a:lnSpc>
                <a:spcPct val="100000"/>
              </a:lnSpc>
            </a:pPr>
            <a:r>
              <a:rPr sz="1100">
                <a:solidFill>
                  <a:srgbClr val="E6E8EE"/>
                </a:solidFill>
                <a:latin typeface="Consolas"/>
              </a:rPr>
              <a:t>Kekangan: kekalkan gaya sedia ada; teks UI dalam</a:t>
            </a:r>
          </a:p>
          <a:p>
            <a:pPr>
              <a:lnSpc>
                <a:spcPct val="100000"/>
              </a:lnSpc>
            </a:pPr>
            <a:r>
              <a:rPr sz="1100">
                <a:solidFill>
                  <a:srgbClr val="E6E8EE"/>
                </a:solidFill>
                <a:latin typeface="Consolas"/>
              </a:rPr>
              <a:t>Bahasa Melayu; nama kod dalam Bahasa Inggeris.</a:t>
            </a:r>
          </a:p>
        </p:txBody>
      </p:sp>
      <p:sp>
        <p:nvSpPr>
          <p:cNvPr id="5" name="TextBox 4"/>
          <p:cNvSpPr txBox="1"/>
          <p:nvPr/>
        </p:nvSpPr>
        <p:spPr>
          <a:xfrm>
            <a:off x="640080" y="3424428"/>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Simpan templat ini — tukar bahagian Konteks/State/Struktur mengikut projek anda yang seterusnya.</a:t>
            </a:r>
          </a:p>
        </p:txBody>
      </p:sp>
      <p:sp>
        <p:nvSpPr>
          <p:cNvPr id="6" name="TextBox 5"/>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Langkah Seterusnya</a:t>
            </a:r>
          </a:p>
        </p:txBody>
      </p:sp>
      <p:sp>
        <p:nvSpPr>
          <p:cNvPr id="3" name="Rounded Rectangle 2"/>
          <p:cNvSpPr/>
          <p:nvPr/>
        </p:nvSpPr>
        <p:spPr>
          <a:xfrm>
            <a:off x="640080" y="1051560"/>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8096"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State berskala</a:t>
            </a:r>
          </a:p>
        </p:txBody>
      </p:sp>
      <p:sp>
        <p:nvSpPr>
          <p:cNvPr id="5" name="TextBox 4"/>
          <p:cNvSpPr txBox="1"/>
          <p:nvPr/>
        </p:nvSpPr>
        <p:spPr>
          <a:xfrm>
            <a:off x="768096"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provider (lihat projek/ett_mobile/lib/providers/) atau Riverpod — bila state perlu dikongsi antara banyak skrin</a:t>
            </a:r>
          </a:p>
        </p:txBody>
      </p:sp>
      <p:sp>
        <p:nvSpPr>
          <p:cNvPr id="6" name="Rounded Rectangle 5"/>
          <p:cNvSpPr/>
          <p:nvPr/>
        </p:nvSpPr>
        <p:spPr>
          <a:xfrm>
            <a:off x="4338218" y="1051560"/>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466234"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Navigasi deklaratif</a:t>
            </a:r>
          </a:p>
        </p:txBody>
      </p:sp>
      <p:sp>
        <p:nvSpPr>
          <p:cNvPr id="8" name="TextBox 7"/>
          <p:cNvSpPr txBox="1"/>
          <p:nvPr/>
        </p:nvSpPr>
        <p:spPr>
          <a:xfrm>
            <a:off x="4466234"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go_router — route berasaskan URL, deep linking</a:t>
            </a:r>
          </a:p>
        </p:txBody>
      </p:sp>
      <p:sp>
        <p:nvSpPr>
          <p:cNvPr id="9" name="Rounded Rectangle 8"/>
          <p:cNvSpPr/>
          <p:nvPr/>
        </p:nvSpPr>
        <p:spPr>
          <a:xfrm>
            <a:off x="8036356" y="1051560"/>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164372" y="1143000"/>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Backend &amp; auth</a:t>
            </a:r>
          </a:p>
        </p:txBody>
      </p:sp>
      <p:sp>
        <p:nvSpPr>
          <p:cNvPr id="11" name="TextBox 10"/>
          <p:cNvSpPr txBox="1"/>
          <p:nvPr/>
        </p:nvSpPr>
        <p:spPr>
          <a:xfrm>
            <a:off x="8164372" y="1435608"/>
            <a:ext cx="3259226" cy="475487"/>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Firebase (Firestore, Authentication, FCM) atau Supabase</a:t>
            </a:r>
          </a:p>
        </p:txBody>
      </p:sp>
      <p:sp>
        <p:nvSpPr>
          <p:cNvPr id="12" name="Rounded Rectangle 11"/>
          <p:cNvSpPr/>
          <p:nvPr/>
        </p:nvSpPr>
        <p:spPr>
          <a:xfrm>
            <a:off x="640080" y="2167128"/>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8096" y="2258568"/>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Ujian</a:t>
            </a:r>
          </a:p>
        </p:txBody>
      </p:sp>
      <p:sp>
        <p:nvSpPr>
          <p:cNvPr id="14" name="TextBox 13"/>
          <p:cNvSpPr txBox="1"/>
          <p:nvPr/>
        </p:nvSpPr>
        <p:spPr>
          <a:xfrm>
            <a:off x="768096" y="2551176"/>
            <a:ext cx="3259226"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flutter test — widget &amp; unit test supaya perubahan tidak merosakkan ciri sedia ada</a:t>
            </a:r>
          </a:p>
        </p:txBody>
      </p:sp>
      <p:sp>
        <p:nvSpPr>
          <p:cNvPr id="15" name="Rounded Rectangle 14"/>
          <p:cNvSpPr/>
          <p:nvPr/>
        </p:nvSpPr>
        <p:spPr>
          <a:xfrm>
            <a:off x="4338218" y="2167128"/>
            <a:ext cx="3515258" cy="932688"/>
          </a:xfrm>
          <a:prstGeom prst="roundRect">
            <a:avLst>
              <a:gd name="adj" fmla="val 10000"/>
            </a:avLst>
          </a:prstGeom>
          <a:solidFill>
            <a:srgbClr val="FFFFFF"/>
          </a:solidFill>
          <a:ln w="12700">
            <a:solidFill>
              <a:srgbClr val="E2E5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466234" y="2258568"/>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CI/CD</a:t>
            </a:r>
          </a:p>
        </p:txBody>
      </p:sp>
      <p:sp>
        <p:nvSpPr>
          <p:cNvPr id="17" name="TextBox 16"/>
          <p:cNvSpPr txBox="1"/>
          <p:nvPr/>
        </p:nvSpPr>
        <p:spPr>
          <a:xfrm>
            <a:off x="4466234" y="2551176"/>
            <a:ext cx="3259226"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Codemagic / GitHub Actions — bina &amp; uji automatik setiap kali kod ditolak</a:t>
            </a:r>
          </a:p>
        </p:txBody>
      </p:sp>
      <p:sp>
        <p:nvSpPr>
          <p:cNvPr id="18" name="Rounded Rectangle 17"/>
          <p:cNvSpPr/>
          <p:nvPr/>
        </p:nvSpPr>
        <p:spPr>
          <a:xfrm>
            <a:off x="8036356" y="2167128"/>
            <a:ext cx="3515258" cy="932688"/>
          </a:xfrm>
          <a:prstGeom prst="roundRect">
            <a:avLst>
              <a:gd name="adj" fmla="val 10000"/>
            </a:avLst>
          </a:prstGeom>
          <a:solidFill>
            <a:srgbClr val="FFFFFF"/>
          </a:solidFill>
          <a:ln w="1270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164372" y="2258568"/>
            <a:ext cx="3259226" cy="274320"/>
          </a:xfrm>
          <a:prstGeom prst="rect">
            <a:avLst/>
          </a:prstGeom>
          <a:noFill/>
        </p:spPr>
        <p:txBody>
          <a:bodyPr wrap="square" anchor="t" lIns="38100" rIns="38100" tIns="25400" bIns="25400">
            <a:spAutoFit/>
          </a:bodyPr>
          <a:lstStyle/>
          <a:p>
            <a:pPr algn="l">
              <a:lnSpc>
                <a:spcPct val="105000"/>
              </a:lnSpc>
            </a:pPr>
            <a:r>
              <a:rPr sz="1300" b="1">
                <a:solidFill>
                  <a:srgbClr val="1A2B5C"/>
                </a:solidFill>
                <a:latin typeface="Segoe UI"/>
              </a:rPr>
              <a:t>Terbit aplikasi</a:t>
            </a:r>
          </a:p>
        </p:txBody>
      </p:sp>
      <p:sp>
        <p:nvSpPr>
          <p:cNvPr id="20" name="TextBox 19"/>
          <p:cNvSpPr txBox="1"/>
          <p:nvPr/>
        </p:nvSpPr>
        <p:spPr>
          <a:xfrm>
            <a:off x="8164372" y="2551176"/>
            <a:ext cx="3259226" cy="4754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flutter build appbundle, signing &amp; terbit ke Google Play Store — panduan: nota/07-deployment.md</a:t>
            </a:r>
          </a:p>
        </p:txBody>
      </p:sp>
      <p:sp>
        <p:nvSpPr>
          <p:cNvPr id="21" name="TextBox 20"/>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420624"/>
          </a:xfrm>
          <a:prstGeom prst="rect">
            <a:avLst/>
          </a:prstGeom>
          <a:noFill/>
        </p:spPr>
        <p:txBody>
          <a:bodyPr wrap="square" anchor="t" lIns="38100" rIns="38100" tIns="25400" bIns="25400">
            <a:spAutoFit/>
          </a:bodyPr>
          <a:lstStyle/>
          <a:p>
            <a:pPr algn="l">
              <a:lnSpc>
                <a:spcPct val="105000"/>
              </a:lnSpc>
            </a:pPr>
            <a:r>
              <a:rPr sz="2400" b="1">
                <a:solidFill>
                  <a:srgbClr val="1A2B5C"/>
                </a:solidFill>
                <a:latin typeface="Segoe UI"/>
              </a:rPr>
              <a:t>Sumber Pembelajaran Lanjutan</a:t>
            </a:r>
          </a:p>
        </p:txBody>
      </p:sp>
      <p:sp>
        <p:nvSpPr>
          <p:cNvPr id="3" name="TextBox 2"/>
          <p:cNvSpPr txBox="1"/>
          <p:nvPr/>
        </p:nvSpPr>
        <p:spPr>
          <a:xfrm>
            <a:off x="804671" y="1051560"/>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docs.flutter.dev — dokumentasi rasmi Flutter (termasuk cookbook)</a:t>
            </a:r>
          </a:p>
        </p:txBody>
      </p:sp>
      <p:sp>
        <p:nvSpPr>
          <p:cNvPr id="4" name="TextBox 3"/>
          <p:cNvSpPr txBox="1"/>
          <p:nvPr/>
        </p:nvSpPr>
        <p:spPr>
          <a:xfrm>
            <a:off x="804671" y="1275588"/>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dart.dev — dokumentasi Dart &amp; panduan gaya Effective Dart</a:t>
            </a:r>
          </a:p>
        </p:txBody>
      </p:sp>
      <p:sp>
        <p:nvSpPr>
          <p:cNvPr id="5" name="TextBox 4"/>
          <p:cNvSpPr txBox="1"/>
          <p:nvPr/>
        </p:nvSpPr>
        <p:spPr>
          <a:xfrm>
            <a:off x="804671" y="1499616"/>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pub.dev — direktori pakej rasmi Flutter/Dart</a:t>
            </a:r>
          </a:p>
        </p:txBody>
      </p:sp>
      <p:sp>
        <p:nvSpPr>
          <p:cNvPr id="6" name="TextBox 5"/>
          <p:cNvSpPr txBox="1"/>
          <p:nvPr/>
        </p:nvSpPr>
        <p:spPr>
          <a:xfrm>
            <a:off x="804671" y="1723644"/>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DartPad (dartpad.dev) — cuba kod Dart/Flutter terus dalam pelayar</a:t>
            </a:r>
          </a:p>
        </p:txBody>
      </p:sp>
      <p:sp>
        <p:nvSpPr>
          <p:cNvPr id="7" name="TextBox 6"/>
          <p:cNvSpPr txBox="1"/>
          <p:nvPr/>
        </p:nvSpPr>
        <p:spPr>
          <a:xfrm>
            <a:off x="804671" y="1947672"/>
            <a:ext cx="10746943" cy="224028"/>
          </a:xfrm>
          <a:prstGeom prst="rect">
            <a:avLst/>
          </a:prstGeom>
          <a:noFill/>
        </p:spPr>
        <p:txBody>
          <a:bodyPr wrap="square" anchor="t" lIns="38100" rIns="38100" tIns="25400" bIns="25400">
            <a:spAutoFit/>
          </a:bodyPr>
          <a:lstStyle/>
          <a:p>
            <a:pPr algn="l">
              <a:lnSpc>
                <a:spcPct val="105000"/>
              </a:lnSpc>
            </a:pPr>
            <a:r>
              <a:rPr sz="1500" b="0">
                <a:solidFill>
                  <a:srgbClr val="566371"/>
                </a:solidFill>
                <a:latin typeface="Segoe UI"/>
              </a:rPr>
              <a:t>•  ▶️ Flutter YouTube — siri Widget of the Week</a:t>
            </a:r>
          </a:p>
        </p:txBody>
      </p:sp>
      <p:sp>
        <p:nvSpPr>
          <p:cNvPr id="8" name="TextBox 7"/>
          <p:cNvSpPr txBox="1"/>
          <p:nvPr/>
        </p:nvSpPr>
        <p:spPr>
          <a:xfrm>
            <a:off x="640080" y="2244852"/>
            <a:ext cx="10911535" cy="246888"/>
          </a:xfrm>
          <a:prstGeom prst="rect">
            <a:avLst/>
          </a:prstGeom>
          <a:noFill/>
        </p:spPr>
        <p:txBody>
          <a:bodyPr wrap="square" anchor="t" lIns="38100" rIns="38100" tIns="25400" bIns="25400">
            <a:spAutoFit/>
          </a:bodyPr>
          <a:lstStyle/>
          <a:p>
            <a:pPr algn="l">
              <a:lnSpc>
                <a:spcPct val="105000"/>
              </a:lnSpc>
            </a:pPr>
            <a:r>
              <a:rPr sz="1100" b="0">
                <a:solidFill>
                  <a:srgbClr val="566371"/>
                </a:solidFill>
                <a:latin typeface="Segoe UI"/>
              </a:rPr>
              <a:t>Teruskan eTT Mobile anda sendiri, atau mulakan projek baharu — baca dokumentasi bila tersekat, guna AI dengan bijak, dan teruskan membina.</a:t>
            </a:r>
          </a:p>
        </p:txBody>
      </p:sp>
      <p:sp>
        <p:nvSpPr>
          <p:cNvPr id="9" name="TextBox 8"/>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1A2B5C"/>
        </a:solidFill>
        <a:effectLst/>
      </p:bgPr>
    </p:bg>
    <p:spTree>
      <p:nvGrpSpPr>
        <p:cNvPr id="1" name=""/>
        <p:cNvGrpSpPr/>
        <p:nvPr/>
      </p:nvGrpSpPr>
      <p:grpSpPr/>
      <p:sp>
        <p:nvSpPr>
          <p:cNvPr id="2" name="TextBox 1"/>
          <p:cNvSpPr txBox="1"/>
          <p:nvPr/>
        </p:nvSpPr>
        <p:spPr>
          <a:xfrm>
            <a:off x="640080" y="1051560"/>
            <a:ext cx="10911535" cy="310896"/>
          </a:xfrm>
          <a:prstGeom prst="rect">
            <a:avLst/>
          </a:prstGeom>
          <a:noFill/>
        </p:spPr>
        <p:txBody>
          <a:bodyPr wrap="square" anchor="t" lIns="38100" rIns="38100" tIns="25400" bIns="25400">
            <a:spAutoFit/>
          </a:bodyPr>
          <a:lstStyle/>
          <a:p>
            <a:pPr algn="l">
              <a:lnSpc>
                <a:spcPct val="105000"/>
              </a:lnSpc>
            </a:pPr>
            <a:r>
              <a:rPr sz="1300" b="1">
                <a:solidFill>
                  <a:srgbClr val="D4A017"/>
                </a:solidFill>
                <a:latin typeface="Segoe UI"/>
              </a:rPr>
              <a:t>TAMAT KURSUS</a:t>
            </a:r>
          </a:p>
        </p:txBody>
      </p:sp>
      <p:sp>
        <p:nvSpPr>
          <p:cNvPr id="3" name="TextBox 2"/>
          <p:cNvSpPr txBox="1"/>
          <p:nvPr/>
        </p:nvSpPr>
        <p:spPr>
          <a:xfrm>
            <a:off x="640080" y="1554480"/>
            <a:ext cx="10911535" cy="566928"/>
          </a:xfrm>
          <a:prstGeom prst="rect">
            <a:avLst/>
          </a:prstGeom>
          <a:noFill/>
        </p:spPr>
        <p:txBody>
          <a:bodyPr wrap="square" anchor="t" lIns="38100" rIns="38100" tIns="25400" bIns="25400">
            <a:spAutoFit/>
          </a:bodyPr>
          <a:lstStyle/>
          <a:p>
            <a:pPr algn="l">
              <a:lnSpc>
                <a:spcPct val="105000"/>
              </a:lnSpc>
            </a:pPr>
            <a:r>
              <a:rPr sz="3400" b="1">
                <a:solidFill>
                  <a:srgbClr val="FFFFFF"/>
                </a:solidFill>
                <a:latin typeface="Segoe UI"/>
              </a:rPr>
              <a:t>Terima Kasih 🎓</a:t>
            </a:r>
          </a:p>
        </p:txBody>
      </p:sp>
      <p:sp>
        <p:nvSpPr>
          <p:cNvPr id="4" name="TextBox 3"/>
          <p:cNvSpPr txBox="1"/>
          <p:nvPr/>
        </p:nvSpPr>
        <p:spPr>
          <a:xfrm>
            <a:off x="640080" y="2231136"/>
            <a:ext cx="10911535" cy="384048"/>
          </a:xfrm>
          <a:prstGeom prst="rect">
            <a:avLst/>
          </a:prstGeom>
          <a:noFill/>
        </p:spPr>
        <p:txBody>
          <a:bodyPr wrap="square" anchor="t" lIns="38100" rIns="38100" tIns="25400" bIns="25400">
            <a:spAutoFit/>
          </a:bodyPr>
          <a:lstStyle/>
          <a:p>
            <a:pPr algn="l">
              <a:lnSpc>
                <a:spcPct val="105000"/>
              </a:lnSpc>
            </a:pPr>
            <a:r>
              <a:rPr sz="1800" b="1">
                <a:solidFill>
                  <a:srgbClr val="D4A017"/>
                </a:solidFill>
                <a:latin typeface="Segoe UI"/>
              </a:rPr>
              <a:t>Kelas Flutter 5 Hari — eTT Mobile</a:t>
            </a:r>
          </a:p>
        </p:txBody>
      </p:sp>
      <p:sp>
        <p:nvSpPr>
          <p:cNvPr id="5" name="TextBox 4"/>
          <p:cNvSpPr txBox="1"/>
          <p:nvPr/>
        </p:nvSpPr>
        <p:spPr>
          <a:xfrm>
            <a:off x="11140135" y="6473952"/>
            <a:ext cx="685800" cy="237744"/>
          </a:xfrm>
          <a:prstGeom prst="rect">
            <a:avLst/>
          </a:prstGeom>
          <a:noFill/>
        </p:spPr>
        <p:txBody>
          <a:bodyPr wrap="square" anchor="t" lIns="38100" rIns="38100" tIns="25400" bIns="25400">
            <a:spAutoFit/>
          </a:bodyPr>
          <a:lstStyle/>
          <a:p>
            <a:pPr algn="r">
              <a:lnSpc>
                <a:spcPct val="105000"/>
              </a:lnSpc>
            </a:pPr>
            <a:r>
              <a:rPr sz="1000" b="0">
                <a:solidFill>
                  <a:srgbClr val="9AA3B2"/>
                </a:solidFill>
                <a:latin typeface="Segoe UI"/>
              </a:rPr>
              <a:t>188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